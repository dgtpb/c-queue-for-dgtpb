
<file path=[Content_Types].xml><?xml version="1.0" encoding="utf-8"?>
<Types xmlns="http://schemas.openxmlformats.org/package/2006/content-types">
  <Default Extension="fntdata" ContentType="application/x-fontdata"/>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0" r:id="rId2"/>
  </p:sldMasterIdLst>
  <p:notesMasterIdLst>
    <p:notesMasterId r:id="rId19"/>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Lst>
  <p:sldSz cx="12192000" cy="6858000"/>
  <p:notesSz cx="6858000" cy="9144000"/>
  <p:embeddedFontLst>
    <p:embeddedFont>
      <p:font typeface="BlueakaBeta2GBK" panose="02000700000000000000" pitchFamily="2" charset="-122"/>
      <p:bold r:id="rId20"/>
    </p:embeddedFont>
  </p:embeddedFontLst>
  <p:defaultTex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457200"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914400"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371600"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1828800"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286000"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2743200"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200400"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3657600"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560" userDrawn="1">
          <p15:clr>
            <a:srgbClr val="747775"/>
          </p15:clr>
        </p15:guide>
        <p15:guide id="2" pos="284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EE2E2"/>
    <a:srgbClr val="D1FAE5"/>
    <a:srgbClr val="E5E7E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varScale="1">
        <p:scale>
          <a:sx n="99" d="100"/>
          <a:sy n="99" d="100"/>
        </p:scale>
        <p:origin x="93" y="54"/>
      </p:cViewPr>
      <p:guideLst>
        <p:guide orient="horz" pos="1560"/>
        <p:guide pos="2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atin typeface="BlueakaBeta2GBK" panose="02000700000000000000" pitchFamily="2" charset="-122"/>
                <a:ea typeface="BlueakaBeta2GBK" panose="02000700000000000000" pitchFamily="2" charset="-122"/>
              </a:defRPr>
            </a:lvl1pPr>
          </a:lstStyle>
          <a:p>
            <a:endParaRPr lang="cs-CZ" dirty="0"/>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atin typeface="BlueakaBeta2GBK" panose="02000700000000000000" pitchFamily="2" charset="-122"/>
                <a:ea typeface="BlueakaBeta2GBK" panose="02000700000000000000" pitchFamily="2" charset="-122"/>
              </a:defRPr>
            </a:lvl1pPr>
          </a:lstStyle>
          <a:p>
            <a:fld id="{B7268E1E-0E44-426D-905E-8AD9B19D2182}" type="datetimeFigureOut">
              <a:rPr lang="cs-CZ" smtClean="0"/>
              <a:t>23.07.2026</a:t>
            </a:fld>
            <a:endParaRPr lang="cs-CZ" dirty="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dirty="0"/>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atin typeface="BlueakaBeta2GBK" panose="02000700000000000000" pitchFamily="2" charset="-122"/>
                <a:ea typeface="BlueakaBeta2GBK" panose="02000700000000000000" pitchFamily="2" charset="-122"/>
              </a:defRPr>
            </a:lvl1pPr>
          </a:lstStyle>
          <a:p>
            <a:endParaRPr lang="cs-CZ" dirty="0"/>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atin typeface="BlueakaBeta2GBK" panose="02000700000000000000" pitchFamily="2" charset="-122"/>
                <a:ea typeface="BlueakaBeta2GBK" panose="02000700000000000000" pitchFamily="2" charset="-122"/>
              </a:defRPr>
            </a:lvl1pPr>
          </a:lstStyle>
          <a:p>
            <a:fld id="{871B2431-D351-4C6E-A3CF-9DFAC0E3E050}" type="slidenum">
              <a:rPr lang="cs-CZ" smtClean="0"/>
              <a:t>‹#›</a:t>
            </a:fld>
            <a:endParaRPr lang="cs-CZ"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BlueakaBeta2GBK" panose="02000700000000000000" pitchFamily="2" charset="-122"/>
        <a:ea typeface="+mn-ea"/>
        <a:cs typeface="+mn-cs"/>
      </a:defRPr>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dirty="0"/>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dirty="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dirty="0" err="1">
                <a:solidFill>
                  <a:srgbClr val="000000"/>
                </a:solidFill>
              </a:rPr>
              <a:t>老师好。我</a:t>
            </a:r>
            <a:r>
              <a:rPr lang="zh-CN" altLang="en-US" sz="1400" b="0" i="0" u="none" strike="noStrike" dirty="0" err="1">
                <a:solidFill>
                  <a:srgbClr val="000000"/>
                </a:solidFill>
              </a:rPr>
              <a:t>是软工</a:t>
            </a:r>
            <a:r>
              <a:rPr lang="en-US" sz="1400" b="0" i="0" u="none" strike="noStrike" dirty="0" err="1">
                <a:solidFill>
                  <a:srgbClr val="000000"/>
                </a:solidFill>
              </a:rPr>
              <a:t>专业的</a:t>
            </a:r>
            <a:r>
              <a:rPr lang="zh-CN" altLang="en-US" sz="1400" b="0" i="0" u="none" strike="noStrike" dirty="0" err="1">
                <a:solidFill>
                  <a:srgbClr val="000000"/>
                </a:solidFill>
              </a:rPr>
              <a:t>天童爱丽丝</a:t>
            </a:r>
            <a:r>
              <a:rPr lang="en-US" sz="1400" b="0" i="0" u="none" strike="noStrike" dirty="0">
                <a:solidFill>
                  <a:srgbClr val="000000"/>
                </a:solidFill>
              </a:rPr>
              <a:t>。</a:t>
            </a:r>
            <a:r>
              <a:rPr lang="en-US" sz="1400" b="0" i="0" u="none" strike="noStrike" dirty="0" err="1">
                <a:solidFill>
                  <a:srgbClr val="000000"/>
                </a:solidFill>
              </a:rPr>
              <a:t>今天我答辩的题目是《云山湖景区地图导航系统</a:t>
            </a:r>
            <a:r>
              <a:rPr lang="en-US" sz="1400" b="0" i="0" u="none" strike="noStrike" dirty="0">
                <a:solidFill>
                  <a:srgbClr val="000000"/>
                </a:solidFill>
              </a:rPr>
              <a:t>——</a:t>
            </a:r>
            <a:r>
              <a:rPr lang="en-US" sz="1400" b="0" i="0" u="none" strike="noStrike" dirty="0" err="1">
                <a:solidFill>
                  <a:srgbClr val="000000"/>
                </a:solidFill>
              </a:rPr>
              <a:t>基于Dijkstra算法的景区导航寻路系统</a:t>
            </a:r>
            <a:r>
              <a:rPr lang="en-US" sz="1400" b="0" i="0" u="none" strike="noStrike" dirty="0">
                <a:solidFill>
                  <a:srgbClr val="000000"/>
                </a:solidFill>
              </a:rPr>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dirty="0"/>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dirty="0"/>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dirty="0"/>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dirty="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这一页是我们的目录概览，今天的汇报将分为九个部分进行。</a:t>
            </a:r>
          </a:p>
          <a:p>
            <a:pPr marL="0" indent="0" algn="l">
              <a:lnSpc>
                <a:spcPct val="100000"/>
              </a:lnSpc>
            </a:pPr>
            <a:r>
              <a:rPr lang="en-US" sz="1400" b="0" i="0" u="none" strike="noStrike">
                <a:solidFill>
                  <a:srgbClr val="000000"/>
                </a:solidFill>
              </a:rPr>
              <a:t>首先，我们将从需求背景出发，探讨为什么要做这个系统；接着介绍系统的核心功能和设计步骤。</a:t>
            </a:r>
          </a:p>
          <a:p>
            <a:pPr marL="0" indent="0" algn="l">
              <a:lnSpc>
                <a:spcPct val="100000"/>
              </a:lnSpc>
            </a:pPr>
            <a:r>
              <a:rPr lang="en-US" sz="1400" b="0" i="0" u="none" strike="noStrike">
                <a:solidFill>
                  <a:srgbClr val="000000"/>
                </a:solidFill>
              </a:rPr>
              <a:t>随后，我们会深入到技术层面，包括数据结构、核心算法以及技术亮点的分享。</a:t>
            </a:r>
          </a:p>
          <a:p>
            <a:pPr marL="0" indent="0" algn="l">
              <a:lnSpc>
                <a:spcPct val="100000"/>
              </a:lnSpc>
            </a:pPr>
            <a:r>
              <a:rPr lang="en-US" sz="1400" b="0" i="0" u="none" strike="noStrike">
                <a:solidFill>
                  <a:srgbClr val="000000"/>
                </a:solidFill>
              </a:rPr>
              <a:t>最后，我们将展示项目成果，进行系统演示，并对项目进行总结与展望。</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dirty="0"/>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dirty="0"/>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dirty="0"/>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dirty="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一页我们来深入探讨一下项目的需求背景。目前，游客在景区游览时主要面临三大核心痛点：首先是寻路困难，复杂的路网让游客很难找到最优路线；其次是信息不对称，无法对整体布局和耗时有清晰的预判；最后是由此导致的游览效率低下，走回头路的情况时有发生。</a:t>
            </a:r>
          </a:p>
          <a:p>
            <a:pPr marL="0" indent="0" algn="l">
              <a:lnSpc>
                <a:spcPct val="100000"/>
              </a:lnSpc>
            </a:pPr>
            <a:r>
              <a:rPr lang="en-US" sz="1400" b="0" i="0" u="none" strike="noStrike">
                <a:solidFill>
                  <a:srgbClr val="000000"/>
                </a:solidFill>
              </a:rPr>
              <a:t>而传统的纸质地图或简单的电子地图，存在信息滞后、无法反映实时拥堵以及缺乏个性化的问题。因此，我们提出了基于Dijkstra最短路径算法的智能导航寻路系统，旨在解决这些问题，为游客提供更高效、更智能的游览体验。</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dirty="0"/>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dirty="0"/>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dirty="0"/>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dirty="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各位好，这一页我们来详细了解一下系统的五大核心功能。</a:t>
            </a:r>
          </a:p>
          <a:p>
            <a:pPr marL="0" indent="0" algn="l">
              <a:lnSpc>
                <a:spcPct val="100000"/>
              </a:lnSpc>
            </a:pPr>
            <a:r>
              <a:rPr lang="en-US" sz="1400" b="0" i="0" u="none" strike="noStrike">
                <a:solidFill>
                  <a:srgbClr val="000000"/>
                </a:solidFill>
              </a:rPr>
              <a:t>首先是景区地图可视化，我们利用ASCII字符画技术，清晰地展示了景区的地形地貌和路网结构，并且能实时高亮显示用户的路径。</a:t>
            </a:r>
          </a:p>
          <a:p>
            <a:pPr marL="0" indent="0" algn="l">
              <a:lnSpc>
                <a:spcPct val="100000"/>
              </a:lnSpc>
            </a:pPr>
            <a:r>
              <a:rPr lang="en-US" sz="1400" b="0" i="0" u="none" strike="noStrike">
                <a:solidFill>
                  <a:srgbClr val="000000"/>
                </a:solidFill>
              </a:rPr>
              <a:t>第二个功能是景点列表与详情，它能让游客快速查询到所有景点的信息，支持按编号检索，非常便捷。</a:t>
            </a:r>
          </a:p>
          <a:p>
            <a:pPr marL="0" indent="0" algn="l">
              <a:lnSpc>
                <a:spcPct val="100000"/>
              </a:lnSpc>
            </a:pPr>
            <a:r>
              <a:rPr lang="en-US" sz="1400" b="0" i="0" u="none" strike="noStrike">
                <a:solidFill>
                  <a:srgbClr val="000000"/>
                </a:solidFill>
              </a:rPr>
              <a:t>第三个是最短路径导航，这是基于经典的Dijkstra算法实现的，能精准计算两点间的最短路径，并预估步行时间，解决游客“怎么走”的问题。</a:t>
            </a:r>
          </a:p>
          <a:p>
            <a:pPr marL="0" indent="0" algn="l">
              <a:lnSpc>
                <a:spcPct val="100000"/>
              </a:lnSpc>
            </a:pPr>
            <a:r>
              <a:rPr lang="en-US" sz="1400" b="0" i="0" u="none" strike="noStrike">
                <a:solidFill>
                  <a:srgbClr val="000000"/>
                </a:solidFill>
              </a:rPr>
              <a:t>第四个是推荐游览路线，我们采用最近邻启发式算法，为游客规划最优的多景点游览顺序，减少折返，让游览更高效。</a:t>
            </a:r>
          </a:p>
          <a:p>
            <a:pPr marL="0" indent="0" algn="l">
              <a:lnSpc>
                <a:spcPct val="100000"/>
              </a:lnSpc>
            </a:pPr>
            <a:r>
              <a:rPr lang="en-US" sz="1400" b="0" i="0" u="none" strike="noStrike">
                <a:solidFill>
                  <a:srgbClr val="000000"/>
                </a:solidFill>
              </a:rPr>
              <a:t>最后是数据热重载，这是系统的一个技术亮点，它允许在程序运行时直接更新数据，不需要重启，保证了系统的实时性和稳定性。</a:t>
            </a:r>
          </a:p>
          <a:p>
            <a:pPr marL="0" indent="0" algn="l">
              <a:lnSpc>
                <a:spcPct val="100000"/>
              </a:lnSpc>
            </a:pPr>
            <a:r>
              <a:rPr lang="en-US" sz="1400" b="0" i="0" u="none" strike="noStrike">
                <a:solidFill>
                  <a:srgbClr val="000000"/>
                </a:solidFill>
              </a:rPr>
              <a:t>这五个功能共同构成了一个完整的、智能的景区导览系统。</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dirty="0"/>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dirty="0"/>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dirty="0"/>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dirty="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这一页展示了系统的核心数据流向设计。</a:t>
            </a:r>
          </a:p>
          <a:p>
            <a:pPr marL="0" indent="0" algn="l">
              <a:lnSpc>
                <a:spcPct val="100000"/>
              </a:lnSpc>
            </a:pPr>
            <a:r>
              <a:rPr lang="en-US" sz="1400" b="0" i="0" u="none" strike="noStrike">
                <a:solidFill>
                  <a:srgbClr val="000000"/>
                </a:solidFill>
              </a:rPr>
              <a:t>首先，系统从底层的文本文件（spots.txt和paths.txt）读取原始数据，这是系统的输入基础。</a:t>
            </a:r>
          </a:p>
          <a:p>
            <a:pPr marL="0" indent="0" algn="l">
              <a:lnSpc>
                <a:spcPct val="100000"/>
              </a:lnSpc>
            </a:pPr>
            <a:r>
              <a:rPr lang="en-US" sz="1400" b="0" i="0" u="none" strike="noStrike">
                <a:solidFill>
                  <a:srgbClr val="000000"/>
                </a:solidFill>
              </a:rPr>
              <a:t>然后，通过data_load()函数对这些原始数据进行解析和清洗，构建出内存中的数据结构。</a:t>
            </a:r>
          </a:p>
          <a:p>
            <a:pPr marL="0" indent="0" algn="l">
              <a:lnSpc>
                <a:spcPct val="100000"/>
              </a:lnSpc>
            </a:pPr>
            <a:r>
              <a:rPr lang="en-US" sz="1400" b="0" i="0" u="none" strike="noStrike">
                <a:solidFill>
                  <a:srgbClr val="000000"/>
                </a:solidFill>
              </a:rPr>
              <a:t>这一步的核心产物是Graph结构体，它封装了所有的景点节点、路径边集以及用于快速计算的邻接矩阵。这是整个系统的心脏，承载了所有的拓扑信息。</a:t>
            </a:r>
          </a:p>
          <a:p>
            <a:pPr marL="0" indent="0" algn="l">
              <a:lnSpc>
                <a:spcPct val="100000"/>
              </a:lnSpc>
            </a:pPr>
            <a:r>
              <a:rPr lang="en-US" sz="1400" b="0" i="0" u="none" strike="noStrike">
                <a:solidFill>
                  <a:srgbClr val="000000"/>
                </a:solidFill>
              </a:rPr>
              <a:t>基于这个核心的Graph结构，系统延伸出四个关键的功能模块：</a:t>
            </a:r>
          </a:p>
          <a:p>
            <a:pPr marL="0" indent="0" algn="l">
              <a:lnSpc>
                <a:spcPct val="100000"/>
              </a:lnSpc>
            </a:pPr>
            <a:r>
              <a:rPr lang="en-US" sz="1400" b="0" i="0" u="none" strike="noStrike">
                <a:solidFill>
                  <a:srgbClr val="000000"/>
                </a:solidFill>
              </a:rPr>
              <a:t>1. 使用Dijkstra算法进行最短路径的通用计算；</a:t>
            </a:r>
          </a:p>
          <a:p>
            <a:pPr marL="0" indent="0" algn="l">
              <a:lnSpc>
                <a:spcPct val="100000"/>
              </a:lnSpc>
            </a:pPr>
            <a:r>
              <a:rPr lang="en-US" sz="1400" b="0" i="0" u="none" strike="noStrike">
                <a:solidFill>
                  <a:srgbClr val="000000"/>
                </a:solidFill>
              </a:rPr>
              <a:t>2. 针对特定的起点和终点进行精准的路径规划；</a:t>
            </a:r>
          </a:p>
          <a:p>
            <a:pPr marL="0" indent="0" algn="l">
              <a:lnSpc>
                <a:spcPct val="100000"/>
              </a:lnSpc>
            </a:pPr>
            <a:r>
              <a:rPr lang="en-US" sz="1400" b="0" i="0" u="none" strike="noStrike">
                <a:solidFill>
                  <a:srgbClr val="000000"/>
                </a:solidFill>
              </a:rPr>
              <a:t>3. 结合用户偏好和景点权重进行智能的游览路线推荐；</a:t>
            </a:r>
          </a:p>
          <a:p>
            <a:pPr marL="0" indent="0" algn="l">
              <a:lnSpc>
                <a:spcPct val="100000"/>
              </a:lnSpc>
            </a:pPr>
            <a:r>
              <a:rPr lang="en-US" sz="1400" b="0" i="0" u="none" strike="noStrike">
                <a:solidFill>
                  <a:srgbClr val="000000"/>
                </a:solidFill>
              </a:rPr>
              <a:t>4. 最终将这些抽象的数据转化为可视化的地图渲染，呈现给用户。</a:t>
            </a:r>
          </a:p>
          <a:p>
            <a:pPr marL="0" indent="0" algn="l">
              <a:lnSpc>
                <a:spcPct val="100000"/>
              </a:lnSpc>
            </a:pPr>
            <a:r>
              <a:rPr lang="en-US" sz="1400" b="0" i="0" u="none" strike="noStrike">
                <a:solidFill>
                  <a:srgbClr val="000000"/>
                </a:solidFill>
              </a:rPr>
              <a:t>这种数据流设计保证了数据处理的高效性和模块的解耦，便于后续的维护和扩展。</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dirty="0"/>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dirty="0"/>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dirty="0"/>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dirty="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这一页我们深入到代码层面，来看看如何定义支撑地图导航的核心数据结构。</a:t>
            </a:r>
          </a:p>
          <a:p>
            <a:pPr marL="0" indent="0" algn="l">
              <a:lnSpc>
                <a:spcPct val="100000"/>
              </a:lnSpc>
            </a:pPr>
            <a:r>
              <a:rPr lang="en-US" sz="1400" b="0" i="0" u="none" strike="noStrike">
                <a:solidFill>
                  <a:srgbClr val="000000"/>
                </a:solidFill>
              </a:rPr>
              <a:t>首先是最基础的Spot结构体，它代表地图上的一个点，也就是景点。我们定义了它的ID、名称、分类以及最重要的坐标信息。这是我们整个地图的原子单元。</a:t>
            </a:r>
          </a:p>
          <a:p>
            <a:pPr marL="0" indent="0" algn="l">
              <a:lnSpc>
                <a:spcPct val="100000"/>
              </a:lnSpc>
            </a:pPr>
            <a:r>
              <a:rPr lang="en-US" sz="1400" b="0" i="0" u="none" strike="noStrike">
                <a:solidFill>
                  <a:srgbClr val="000000"/>
                </a:solidFill>
              </a:rPr>
              <a:t>中间的Path结构体，它代表连接两个点的边，也就是路径。它记录了起点和终点的ID，以及路径的长度和类型。这是计算路线的关键。</a:t>
            </a:r>
          </a:p>
          <a:p>
            <a:pPr marL="0" indent="0" algn="l">
              <a:lnSpc>
                <a:spcPct val="100000"/>
              </a:lnSpc>
            </a:pPr>
            <a:r>
              <a:rPr lang="en-US" sz="1400" b="0" i="0" u="none" strike="noStrike">
                <a:solidFill>
                  <a:srgbClr val="000000"/>
                </a:solidFill>
              </a:rPr>
              <a:t>最后是Graph结构体，它是整个地图的顶层容器，包含了所有的景点数组、路径数组，以及一个邻接矩阵。邻接矩阵的引入是为了在算法中能够以最快的速度判断两个点是否相连。</a:t>
            </a:r>
          </a:p>
          <a:p>
            <a:pPr marL="0" indent="0" algn="l">
              <a:lnSpc>
                <a:spcPct val="100000"/>
              </a:lnSpc>
            </a:pPr>
            <a:r>
              <a:rPr lang="en-US" sz="1400" b="0" i="0" u="none" strike="noStrike">
                <a:solidFill>
                  <a:srgbClr val="000000"/>
                </a:solidFill>
              </a:rPr>
              <a:t>这三个结构体层层递进，构成了我们地图导航系统的数据骨架。</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dirty="0"/>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dirty="0"/>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dirty="0"/>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dirty="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各位好，这一页我们来深入探讨邻接矩阵的设计。</a:t>
            </a:r>
          </a:p>
          <a:p>
            <a:pPr marL="0" indent="0" algn="l">
              <a:lnSpc>
                <a:spcPct val="100000"/>
              </a:lnSpc>
            </a:pPr>
            <a:r>
              <a:rPr lang="en-US" sz="1400" b="0" i="0" u="none" strike="noStrike">
                <a:solidFill>
                  <a:srgbClr val="000000"/>
                </a:solidFill>
              </a:rPr>
              <a:t>首先，我们明确一下邻接矩阵中元素的定义：对角线元素为0，代表节点到自身；如果值为-1，说明两个节点之间没有直接的路径相连；如果是正数，则代表这两个节点之间的实际物理距离，单位通常为米。</a:t>
            </a:r>
          </a:p>
          <a:p>
            <a:pPr marL="0" indent="0" algn="l">
              <a:lnSpc>
                <a:spcPct val="100000"/>
              </a:lnSpc>
            </a:pPr>
            <a:r>
              <a:rPr lang="en-US" sz="1400" b="0" i="0" u="none" strike="noStrike">
                <a:solidFill>
                  <a:srgbClr val="000000"/>
                </a:solidFill>
              </a:rPr>
              <a:t>为什么我们在这个项目中选择邻接矩阵呢？主要有三个原因：</a:t>
            </a:r>
          </a:p>
          <a:p>
            <a:pPr marL="0" indent="0" algn="l">
              <a:lnSpc>
                <a:spcPct val="100000"/>
              </a:lnSpc>
            </a:pPr>
            <a:r>
              <a:rPr lang="en-US" sz="1400" b="0" i="0" u="none" strike="noStrike">
                <a:solidFill>
                  <a:srgbClr val="000000"/>
                </a:solidFill>
              </a:rPr>
              <a:t>第一，规模适配。景区的景点数量通常不会太多，一般在64个以内，这使得邻接矩阵的空间开销非常小，完全在系统承受范围内。</a:t>
            </a:r>
          </a:p>
          <a:p>
            <a:pPr marL="0" indent="0" algn="l">
              <a:lnSpc>
                <a:spcPct val="100000"/>
              </a:lnSpc>
            </a:pPr>
            <a:r>
              <a:rPr lang="en-US" sz="1400" b="0" i="0" u="none" strike="noStrike">
                <a:solidFill>
                  <a:srgbClr val="000000"/>
                </a:solidFill>
              </a:rPr>
              <a:t>第二，性能极高。邻接矩阵最大的优势在于O(1)的随机访问速度。无论是判断两点是否连通，还是获取边的权值，都能一步到位。这对于我们后续要讲到的Dijkstra算法来说，能极大地加速松弛操作。</a:t>
            </a:r>
          </a:p>
          <a:p>
            <a:pPr marL="0" indent="0" algn="l">
              <a:lnSpc>
                <a:spcPct val="100000"/>
              </a:lnSpc>
            </a:pPr>
            <a:r>
              <a:rPr lang="en-US" sz="1400" b="0" i="0" u="none" strike="noStrike">
                <a:solidFill>
                  <a:srgbClr val="000000"/>
                </a:solidFill>
              </a:rPr>
              <a:t>第三，实现简单。它的二维数组结构非常直观，代码编写简单，易于理解和维护，非常适合我们的教学和演示场景。</a:t>
            </a:r>
          </a:p>
          <a:p>
            <a:pPr marL="0" indent="0" algn="l">
              <a:lnSpc>
                <a:spcPct val="100000"/>
              </a:lnSpc>
            </a:pPr>
            <a:r>
              <a:rPr lang="en-US" sz="1400" b="0" i="0" u="none" strike="noStrike">
                <a:solidFill>
                  <a:srgbClr val="000000"/>
                </a:solidFill>
              </a:rPr>
              <a:t>大家看右边的这个矩阵示例，它清晰地展示了5个景点之间的连通关系和距离，这种可视化的结构能帮助我们快速理解图的拓扑结构。</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dirty="0"/>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dirty="0"/>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dirty="0"/>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dirty="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这一页我们深入探讨Dijkstra算法的核心机制。</a:t>
            </a:r>
          </a:p>
          <a:p>
            <a:pPr marL="0" indent="0" algn="l">
              <a:lnSpc>
                <a:spcPct val="100000"/>
              </a:lnSpc>
            </a:pPr>
            <a:r>
              <a:rPr lang="en-US" sz="1400" b="0" i="0" u="none" strike="noStrike">
                <a:solidFill>
                  <a:srgbClr val="000000"/>
                </a:solidFill>
              </a:rPr>
              <a:t>左侧展示了算法的三个关键步骤：首先是初始化，我们将起点距离设为0，其他设为无穷大。接着是核心的贪心循环，每一步都选择当前距离最近的节点，并利用它去松弛邻居节点的距离。最后，我们得到了从起点到所有节点的最短距离数组。</a:t>
            </a:r>
          </a:p>
          <a:p>
            <a:pPr marL="0" indent="0" algn="l">
              <a:lnSpc>
                <a:spcPct val="100000"/>
              </a:lnSpc>
            </a:pPr>
            <a:r>
              <a:rPr lang="en-US" sz="1400" b="0" i="0" u="none" strike="noStrike">
                <a:solidFill>
                  <a:srgbClr val="000000"/>
                </a:solidFill>
              </a:rPr>
              <a:t>右侧重点讲解了如何还原具体的路径。算法不仅计算了距离，还通过prev数组记录了路径的前驱关系。我们只需要从终点开始，沿着prev数组反向追踪，最后利用栈的特性将路径反转，就能得到从起点到终点的正序最短路径。</a:t>
            </a:r>
          </a:p>
          <a:p>
            <a:pPr marL="0" indent="0" algn="l">
              <a:lnSpc>
                <a:spcPct val="100000"/>
              </a:lnSpc>
            </a:pPr>
            <a:r>
              <a:rPr lang="en-US" sz="1400" b="0" i="0" u="none" strike="noStrike">
                <a:solidFill>
                  <a:srgbClr val="000000"/>
                </a:solidFill>
              </a:rPr>
              <a:t>这个算法的时间复杂度在朴素实现下是O(V²)，如果使用优先队列优化可以达到O((V+E)logV)，非常适合解决无负权边的单源最短路径问题。</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dirty="0"/>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dirty="0"/>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dirty="0"/>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dirty="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这一页我们来深入了解一下系统的核心算法——游览路线推荐。</a:t>
            </a:r>
          </a:p>
          <a:p>
            <a:pPr marL="0" indent="0" algn="l">
              <a:lnSpc>
                <a:spcPct val="100000"/>
              </a:lnSpc>
            </a:pPr>
            <a:r>
              <a:rPr lang="en-US" sz="1400" b="0" i="0" u="none" strike="noStrike">
                <a:solidFill>
                  <a:srgbClr val="000000"/>
                </a:solidFill>
              </a:rPr>
              <a:t>这本质上是一个经典的旅行商问题（TSP）的近似求解。我们没有采用计算复杂度极高的精确解法，而是选择了“最近邻启发式算法”，这是一种贪心策略。</a:t>
            </a:r>
          </a:p>
          <a:p>
            <a:pPr marL="0" indent="0" algn="l">
              <a:lnSpc>
                <a:spcPct val="100000"/>
              </a:lnSpc>
            </a:pPr>
            <a:r>
              <a:rPr lang="en-US" sz="1400" b="0" i="0" u="none" strike="noStrike">
                <a:solidFill>
                  <a:srgbClr val="000000"/>
                </a:solidFill>
              </a:rPr>
              <a:t>大家看中间的四个步骤，算法的逻辑非常直观：首先确定起点，然后利用Dijkstra算法计算当前点到周边未去景点的距离，接着选择最近的那个作为下一站，如此循环，直到走完所有景点。</a:t>
            </a:r>
          </a:p>
          <a:p>
            <a:pPr marL="0" indent="0" algn="l">
              <a:lnSpc>
                <a:spcPct val="100000"/>
              </a:lnSpc>
            </a:pPr>
            <a:r>
              <a:rPr lang="en-US" sz="1400" b="0" i="0" u="none" strike="noStrike">
                <a:solidFill>
                  <a:srgbClr val="000000"/>
                </a:solidFill>
              </a:rPr>
              <a:t>这种算法的优势非常明显：首先是快，计算速度极快，能实时响应用户的请求；其次它符合人的直觉，从近到远玩，不容易累；最后，虽然它不是数学上的绝对最优解，但在景区这种道路比较规整的环境下，算出来的路线和最优解几乎没差，完全够用。</a:t>
            </a:r>
          </a:p>
          <a:p>
            <a:pPr marL="0" indent="0" algn="l">
              <a:lnSpc>
                <a:spcPct val="100000"/>
              </a:lnSpc>
            </a:pPr>
            <a:r>
              <a:rPr lang="en-US" sz="1400" b="0" i="0" u="none" strike="noStrike">
                <a:solidFill>
                  <a:srgbClr val="000000"/>
                </a:solidFill>
              </a:rPr>
              <a:t>右下角的示意图简单展示了这个逻辑：从起点S出发，虽然有B点可选，但因为A点更近，所以算法会优先规划前往A点的路径。</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dirty="0"/>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dirty="0"/>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dirty="0"/>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dirty="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各位好，这一页我们来深入了解字符地图渲染的核心——Bresenham线段算法。</a:t>
            </a:r>
          </a:p>
          <a:p>
            <a:pPr marL="0" indent="0" algn="l">
              <a:lnSpc>
                <a:spcPct val="100000"/>
              </a:lnSpc>
            </a:pPr>
            <a:r>
              <a:rPr lang="en-US" sz="1400" b="0" i="0" u="none" strike="noStrike">
                <a:solidFill>
                  <a:srgbClr val="000000"/>
                </a:solidFill>
              </a:rPr>
              <a:t>大家知道，在我们的字符网格地图中，所有的元素都是由一个个字符组成的。如何在两个离散的景点坐标之间，画出一条平滑的道路连接？这就需要用到Bresenham算法。它的核心优势在于仅使用整数运算，计算速度非常快，非常适合轻量级的地图渲染。</a:t>
            </a:r>
          </a:p>
          <a:p>
            <a:pPr marL="0" indent="0" algn="l">
              <a:lnSpc>
                <a:spcPct val="100000"/>
              </a:lnSpc>
            </a:pPr>
            <a:r>
              <a:rPr lang="en-US" sz="1400" b="0" i="0" u="none" strike="noStrike">
                <a:solidFill>
                  <a:srgbClr val="000000"/>
                </a:solidFill>
              </a:rPr>
              <a:t>我们利用这个算法实现了两个关键功能：</a:t>
            </a:r>
          </a:p>
          <a:p>
            <a:pPr marL="0" indent="0" algn="l">
              <a:lnSpc>
                <a:spcPct val="100000"/>
              </a:lnSpc>
            </a:pPr>
            <a:r>
              <a:rPr lang="en-US" sz="1400" b="0" i="0" u="none" strike="noStrike">
                <a:solidFill>
                  <a:srgbClr val="000000"/>
                </a:solidFill>
              </a:rPr>
              <a:t>首先是道路的分级渲染。我们用不同的字符来区分道路类型，比如用点号表示休闲的步道，用冒号表示宽阔的公路，这样在视觉上就能直观地感受到路网的疏密和等级。</a:t>
            </a:r>
          </a:p>
          <a:p>
            <a:pPr marL="0" indent="0" algn="l">
              <a:lnSpc>
                <a:spcPct val="100000"/>
              </a:lnSpc>
            </a:pPr>
            <a:r>
              <a:rPr lang="en-US" sz="1400" b="0" i="0" u="none" strike="noStrike">
                <a:solidFill>
                  <a:srgbClr val="000000"/>
                </a:solidFill>
              </a:rPr>
              <a:t>其次是智能的路径高亮。当用户进行导航时，算法会计算出最优路径，并使用星号进行高亮标记。特别的是，这个算法在渲染时会自动避开地图的边框和已经被占用的景点格子，确保路径不会遮挡重要信息。</a:t>
            </a:r>
          </a:p>
          <a:p>
            <a:pPr marL="0" indent="0" algn="l">
              <a:lnSpc>
                <a:spcPct val="100000"/>
              </a:lnSpc>
            </a:pPr>
            <a:r>
              <a:rPr lang="en-US" sz="1400" b="0" i="0" u="none" strike="noStrike">
                <a:solidFill>
                  <a:srgbClr val="000000"/>
                </a:solidFill>
              </a:rPr>
              <a:t>大家看右下角的模拟图，这就是算法实际运行后的效果。你可以清晰地看到从景点9到景点10的高亮路径，以及与普通道路和边界的自然融合。这种渲染方式虽然简单，但信息传达非常高效。</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dirty="0"/>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dirty="0"/>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dirty="0"/>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dirty="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接下来我们继续看系统的技术亮点。</a:t>
            </a:r>
          </a:p>
          <a:p>
            <a:pPr marL="0" indent="0" algn="l">
              <a:lnSpc>
                <a:spcPct val="100000"/>
              </a:lnSpc>
            </a:pPr>
            <a:r>
              <a:rPr lang="en-US" sz="1400" b="0" i="0" u="none" strike="noStrike">
                <a:solidFill>
                  <a:srgbClr val="000000"/>
                </a:solidFill>
              </a:rPr>
              <a:t>首先是第</a:t>
            </a:r>
            <a:r>
              <a:rPr lang="zh-CN" altLang="en-US" sz="1400" b="0" i="0" u="none" strike="noStrike">
                <a:solidFill>
                  <a:srgbClr val="000000"/>
                </a:solidFill>
              </a:rPr>
              <a:t>一</a:t>
            </a:r>
            <a:r>
              <a:rPr lang="en-US" sz="1400" b="0" i="0" u="none" strike="noStrike">
                <a:solidFill>
                  <a:srgbClr val="000000"/>
                </a:solidFill>
              </a:rPr>
              <a:t>点，ASCII字符地图可视化。我们没有使用复杂的图形渲染库，而是直接利用终端字符来构建景区地图。这种方式不仅轻量，而且能非常直观地在命令行界面展示导航路径的高亮，效果清晰且运行高效。</a:t>
            </a:r>
          </a:p>
          <a:p>
            <a:pPr marL="0" indent="0" algn="l">
              <a:lnSpc>
                <a:spcPct val="100000"/>
              </a:lnSpc>
            </a:pPr>
            <a:r>
              <a:rPr lang="en-US" sz="1400" b="0" i="0" u="none" strike="noStrike">
                <a:solidFill>
                  <a:srgbClr val="000000"/>
                </a:solidFill>
              </a:rPr>
              <a:t>第</a:t>
            </a:r>
            <a:r>
              <a:rPr lang="zh-CN" altLang="en-US" sz="1400" b="0" i="0" u="none" strike="noStrike">
                <a:solidFill>
                  <a:srgbClr val="000000"/>
                </a:solidFill>
              </a:rPr>
              <a:t>二</a:t>
            </a:r>
            <a:r>
              <a:rPr lang="en-US" sz="1400" b="0" i="0" u="none" strike="noStrike">
                <a:solidFill>
                  <a:srgbClr val="000000"/>
                </a:solidFill>
              </a:rPr>
              <a:t>点是数据与逻辑的分离。我们将所有的景点信息和道路数据都存储在外部的文本文件中，这意味着当景区数据发生变化时，我们不需要重新编译程序，只需要修改配置文件并进行热重载即可，大大提高了系统的维护性和灵活性。</a:t>
            </a:r>
          </a:p>
          <a:p>
            <a:pPr marL="0" indent="0" algn="l">
              <a:lnSpc>
                <a:spcPct val="100000"/>
              </a:lnSpc>
            </a:pPr>
            <a:r>
              <a:rPr lang="en-US" sz="1400" b="0" i="0" u="none" strike="noStrike">
                <a:solidFill>
                  <a:srgbClr val="000000"/>
                </a:solidFill>
              </a:rPr>
              <a:t>最后是第</a:t>
            </a:r>
            <a:r>
              <a:rPr lang="zh-CN" altLang="en-US" sz="1400" b="0" i="0" u="none" strike="noStrike">
                <a:solidFill>
                  <a:srgbClr val="000000"/>
                </a:solidFill>
              </a:rPr>
              <a:t>三</a:t>
            </a:r>
            <a:r>
              <a:rPr lang="en-US" sz="1400" b="0" i="0" u="none" strike="noStrike">
                <a:solidFill>
                  <a:srgbClr val="000000"/>
                </a:solidFill>
              </a:rPr>
              <a:t>点，重边的自动处理。在构建图的邻接矩阵时，如果两个景点之间存在多条道路，系统会自动比较它们的权重，只保留距离最短的那一条，这样可以保证后续路径规划算法的计算效率和结果的最优性。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dirty="0"/>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dirty="0"/>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dirty="0"/>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dirty="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各位领导、专家，大家看大屏幕。</a:t>
            </a:r>
          </a:p>
          <a:p>
            <a:pPr marL="0" indent="0" algn="l">
              <a:lnSpc>
                <a:spcPct val="100000"/>
              </a:lnSpc>
            </a:pPr>
            <a:r>
              <a:rPr lang="en-US" sz="1400" b="0" i="0" u="none" strike="noStrike">
                <a:solidFill>
                  <a:srgbClr val="000000"/>
                </a:solidFill>
              </a:rPr>
              <a:t>这一页我们来展示项目在数据规模上的成果。我们构建了一个高密度、全覆盖的数字化底座，主要体现在三个方面：</a:t>
            </a:r>
          </a:p>
          <a:p>
            <a:pPr marL="0" indent="0" algn="l">
              <a:lnSpc>
                <a:spcPct val="100000"/>
              </a:lnSpc>
            </a:pPr>
            <a:r>
              <a:rPr lang="en-US" sz="1400" b="0" i="0" u="none" strike="noStrike">
                <a:solidFill>
                  <a:srgbClr val="000000"/>
                </a:solidFill>
              </a:rPr>
              <a:t>首先是核心景点的全覆盖，我们对景区内10个关键节点进行了精细化的数据采集和建模，包括游客中心、樱花径、听涛亭等标志性景点，确保了景区核心资源的数字化建档。</a:t>
            </a:r>
          </a:p>
          <a:p>
            <a:pPr marL="0" indent="0" algn="l">
              <a:lnSpc>
                <a:spcPct val="100000"/>
              </a:lnSpc>
            </a:pPr>
            <a:r>
              <a:rPr lang="en-US" sz="1400" b="0" i="0" u="none" strike="noStrike">
                <a:solidFill>
                  <a:srgbClr val="000000"/>
                </a:solidFill>
              </a:rPr>
              <a:t>其次是路网体系的数字化，我们梳理并建模了13条道路，涵盖了景区内的生态步道和盘山公路，这为我们后续的智能导航和客流疏导提供了基础数据。</a:t>
            </a:r>
          </a:p>
          <a:p>
            <a:pPr marL="0" indent="0" algn="l">
              <a:lnSpc>
                <a:spcPct val="100000"/>
              </a:lnSpc>
            </a:pPr>
            <a:r>
              <a:rPr lang="en-US" sz="1400" b="0" i="0" u="none" strike="noStrike">
                <a:solidFill>
                  <a:srgbClr val="000000"/>
                </a:solidFill>
              </a:rPr>
              <a:t>最后，在渲染精度上，我们采用了60乘18的高精度字符网格进行地形与景观的渲染，这种高密度的网格能够还原出非常细腻的场景细节，为游客提供沉浸式的虚拟游览体验。</a:t>
            </a:r>
          </a:p>
          <a:p>
            <a:pPr marL="0" indent="0" algn="l">
              <a:lnSpc>
                <a:spcPct val="100000"/>
              </a:lnSpc>
            </a:pPr>
            <a:r>
              <a:rPr lang="en-US" sz="1400" b="0" i="0" u="none" strike="noStrike">
                <a:solidFill>
                  <a:srgbClr val="000000"/>
                </a:solidFill>
              </a:rPr>
              <a:t>这些数据共同构成了我们智慧景区的坚实底座。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dirty="0"/>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dirty="0"/>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dirty="0"/>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dirty="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各位领导、专家，接下来我们看到的是系统功能的实测成果。</a:t>
            </a:r>
          </a:p>
          <a:p>
            <a:pPr marL="0" indent="0" algn="l">
              <a:lnSpc>
                <a:spcPct val="100000"/>
              </a:lnSpc>
            </a:pPr>
            <a:r>
              <a:rPr lang="en-US" sz="1400" b="0" i="0" u="none" strike="noStrike">
                <a:solidFill>
                  <a:srgbClr val="000000"/>
                </a:solidFill>
              </a:rPr>
              <a:t>首先是最短路径导航的验证。我们选取了三条具有代表性的热门路线进行实地测试：从游客中心到主峰的登山路线，全长3000米；到露营地的休闲路线，全长2200米；以及从古寺到观景台的核心景观路线，也是2200米。所有的路径规划都经过了我们团队的实地步行验证，确保了导航的准确性和实用性。</a:t>
            </a:r>
          </a:p>
          <a:p>
            <a:pPr marL="0" indent="0" algn="l">
              <a:lnSpc>
                <a:spcPct val="100000"/>
              </a:lnSpc>
            </a:pPr>
            <a:r>
              <a:rPr lang="en-US" sz="1400" b="0" i="0" u="none" strike="noStrike">
                <a:solidFill>
                  <a:srgbClr val="000000"/>
                </a:solidFill>
              </a:rPr>
              <a:t>在全景游览路线方面，我们为游客规划了一条不走回头路的经典环线。这条路线串联了樱花径、明镜湖、露营地、观景台等核心景点，总距离5.2公里，全程路况良好，非常适合全家出游。根据实测，正常游览速度下，包括拍照和休息，大约需要75分钟，既不会太赶，也能充分体验景区的美景。</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dirty="0"/>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dirty="0"/>
              <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dirty="0"/>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dirty="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接下来我们进入系统演示环节，我将通过五个关键步骤来展示系统的核心功能。</a:t>
            </a:r>
          </a:p>
          <a:p>
            <a:pPr marL="0" indent="0" algn="l">
              <a:lnSpc>
                <a:spcPct val="100000"/>
              </a:lnSpc>
            </a:pPr>
            <a:r>
              <a:rPr lang="en-US" sz="1400" b="0" i="0" u="none" strike="noStrike">
                <a:solidFill>
                  <a:srgbClr val="000000"/>
                </a:solidFill>
              </a:rPr>
              <a:t>第一步，地图全景概览。我们可以看到景区的整体布局，清晰的图例帮助大家快速了解各个区域的分布。</a:t>
            </a:r>
          </a:p>
          <a:p>
            <a:pPr marL="0" indent="0" algn="l">
              <a:lnSpc>
                <a:spcPct val="100000"/>
              </a:lnSpc>
            </a:pPr>
            <a:r>
              <a:rPr lang="en-US" sz="1400" b="0" i="0" u="none" strike="noStrike">
                <a:solidFill>
                  <a:srgbClr val="000000"/>
                </a:solidFill>
              </a:rPr>
              <a:t>第二步，精准景点查询。输入编号3，系统即刻展示听涛亭的详细信息，包括介绍、图片等。</a:t>
            </a:r>
          </a:p>
          <a:p>
            <a:pPr marL="0" indent="0" algn="l">
              <a:lnSpc>
                <a:spcPct val="100000"/>
              </a:lnSpc>
            </a:pPr>
            <a:r>
              <a:rPr lang="en-US" sz="1400" b="0" i="0" u="none" strike="noStrike">
                <a:solidFill>
                  <a:srgbClr val="000000"/>
                </a:solidFill>
              </a:rPr>
              <a:t>第三步，最短路径规划。输入起点1和终点8，系统能迅速计算出全长3000米的最短路径并高亮显示。</a:t>
            </a:r>
          </a:p>
          <a:p>
            <a:pPr marL="0" indent="0" algn="l">
              <a:lnSpc>
                <a:spcPct val="100000"/>
              </a:lnSpc>
            </a:pPr>
            <a:r>
              <a:rPr lang="en-US" sz="1400" b="0" i="0" u="none" strike="noStrike">
                <a:solidFill>
                  <a:srgbClr val="000000"/>
                </a:solidFill>
              </a:rPr>
              <a:t>第四步，智能游览路线推荐。系统能为您规划出一条5200米的最优游览动线，串联起所有核心景点。</a:t>
            </a:r>
          </a:p>
          <a:p>
            <a:pPr marL="0" indent="0" algn="l">
              <a:lnSpc>
                <a:spcPct val="100000"/>
              </a:lnSpc>
            </a:pPr>
            <a:r>
              <a:rPr lang="en-US" sz="1400" b="0" i="0" u="none" strike="noStrike">
                <a:solidFill>
                  <a:srgbClr val="000000"/>
                </a:solidFill>
              </a:rPr>
              <a:t>最后，我们展示系统的稳定性——数据热重载功能，它支持在不重启系统的情况下实时更新数据，保证信息的时效性。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dirty="0"/>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dirty="0"/>
              <a: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dirty="0"/>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dirty="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各位老师、同学，最后我们来对本系统做一个总结。</a:t>
            </a:r>
          </a:p>
          <a:p>
            <a:pPr marL="0" indent="0" algn="l">
              <a:lnSpc>
                <a:spcPct val="100000"/>
              </a:lnSpc>
            </a:pPr>
            <a:r>
              <a:rPr lang="en-US" sz="1400" b="0" i="0" u="none" strike="noStrike">
                <a:solidFill>
                  <a:srgbClr val="000000"/>
                </a:solidFill>
              </a:rPr>
              <a:t>首先，系统紧扣“景区导航寻路”这一核心需求，我们选择了C语言作为开发语言，利用Dijkstra算法解决了最短路径规划的核心问题，同时结合最近邻启发式算法，为用户提供了更符合游览习惯的路线推荐。</a:t>
            </a:r>
          </a:p>
          <a:p>
            <a:pPr marL="0" indent="0" algn="l">
              <a:lnSpc>
                <a:spcPct val="100000"/>
              </a:lnSpc>
            </a:pPr>
            <a:r>
              <a:rPr lang="en-US" sz="1400" b="0" i="0" u="none" strike="noStrike">
                <a:solidFill>
                  <a:srgbClr val="000000"/>
                </a:solidFill>
              </a:rPr>
              <a:t>在系统特性方面，我们采用了清晰的模块化设计，保证了代码的可维护性；底层数据结构的合理选择确保了算法的高效运行；同时，直观的地图可视化效果也让系统具备了很好的实用性。</a:t>
            </a:r>
          </a:p>
          <a:p>
            <a:pPr marL="0" indent="0" algn="l">
              <a:lnSpc>
                <a:spcPct val="100000"/>
              </a:lnSpc>
            </a:pPr>
            <a:r>
              <a:rPr lang="en-US" sz="1400" b="0" i="0" u="none" strike="noStrike">
                <a:solidFill>
                  <a:srgbClr val="000000"/>
                </a:solidFill>
              </a:rPr>
              <a:t>展望未来，我们可以在此基础上进行更多的扩展：比如开发更友好的图形界面，引入GPS实现实时定位，以及支持多用户同时进行路径规划等功能。这不仅是一个课程设计，更是未来智慧景区建设的一个缩影。</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dirty="0"/>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dirty="0"/>
              <a: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dirty="0"/>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dirty="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各位老师，我的汇报到此结束。</a:t>
            </a:r>
          </a:p>
          <a:p>
            <a:pPr marL="0" indent="0" algn="l">
              <a:lnSpc>
                <a:spcPct val="100000"/>
              </a:lnSpc>
            </a:pPr>
            <a:r>
              <a:rPr lang="en-US" sz="1400" b="0" i="0" u="none" strike="noStrike">
                <a:solidFill>
                  <a:srgbClr val="000000"/>
                </a:solidFill>
              </a:rPr>
              <a:t>非常感谢各位老师的耐心聆听，也恳请各位老师对我的研究和汇报提出宝贵的批评和建议，这将对我后续的学习和研究有极大的帮助。</a:t>
            </a:r>
          </a:p>
          <a:p>
            <a:pPr marL="0" indent="0" algn="l">
              <a:lnSpc>
                <a:spcPct val="100000"/>
              </a:lnSpc>
            </a:pPr>
            <a:r>
              <a:rPr lang="en-US" sz="1400" b="0" i="0" u="none" strike="noStrike">
                <a:solidFill>
                  <a:srgbClr val="000000"/>
                </a:solidFill>
              </a:rPr>
              <a:t>谢谢大家！</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dirty="0"/>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dirty="0"/>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标题幻灯片" type="title">
  <p:cSld name="TITLE">
    <p:spTree>
      <p:nvGrpSpPr>
        <p:cNvPr id="1" name="Shape 11"/>
        <p:cNvGrpSpPr/>
        <p:nvPr/>
      </p:nvGrpSpPr>
      <p:grpSpPr>
        <a:xfrm>
          <a:off x="0" y="0"/>
          <a:ext cx="0" cy="0"/>
          <a:chOff x="0" y="0"/>
          <a:chExt cx="0" cy="0"/>
        </a:xfrm>
      </p:grpSpPr>
      <p:sp>
        <p:nvSpPr>
          <p:cNvPr id="12" name="Shape 30"/>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a:buNone/>
              <a:defRPr sz="4500">
                <a:latin typeface="BlueakaBeta2GBK" panose="02000700000000000000" pitchFamily="2" charset="-122"/>
                <a:ea typeface="BlueakaBeta2GBK" panose="02000700000000000000" pitchFamily="2" charset="-122"/>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dirty="0"/>
          </a:p>
        </p:txBody>
      </p:sp>
      <p:sp>
        <p:nvSpPr>
          <p:cNvPr id="13" name="Shape 31"/>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atin typeface="BlueakaBeta2GBK" panose="02000700000000000000" pitchFamily="2" charset="-122"/>
                <a:ea typeface="BlueakaBeta2GBK" panose="02000700000000000000" pitchFamily="2" charset="-122"/>
              </a:defRPr>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dirty="0"/>
          </a:p>
        </p:txBody>
      </p:sp>
      <p:sp>
        <p:nvSpPr>
          <p:cNvPr id="14" name="Shape 3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lang="zh-CN" altLang="en-US" dirty="0"/>
          </a:p>
        </p:txBody>
      </p:sp>
      <p:sp>
        <p:nvSpPr>
          <p:cNvPr id="15" name="Shape 3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lang="zh-CN" altLang="en-US" dirty="0"/>
          </a:p>
        </p:txBody>
      </p:sp>
      <p:sp>
        <p:nvSpPr>
          <p:cNvPr id="16" name="Shape 3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altLang="zh-CN" smtClean="0"/>
              <a:t>‹#›</a:t>
            </a:fld>
            <a:endParaRPr lang="zh-CN"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标题和内容" type="obj">
  <p:cSld name="OBJECT">
    <p:spTree>
      <p:nvGrpSpPr>
        <p:cNvPr id="1" name="Shape 17"/>
        <p:cNvGrpSpPr/>
        <p:nvPr/>
      </p:nvGrpSpPr>
      <p:grpSpPr>
        <a:xfrm>
          <a:off x="0" y="0"/>
          <a:ext cx="0" cy="0"/>
          <a:chOff x="0" y="0"/>
          <a:chExt cx="0" cy="0"/>
        </a:xfrm>
      </p:grpSpPr>
      <p:sp>
        <p:nvSpPr>
          <p:cNvPr id="18" name="Shape 5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atin typeface="BlueakaBeta2GBK" panose="02000700000000000000" pitchFamily="2" charset="-122"/>
                <a:ea typeface="BlueakaBeta2GBK" panose="02000700000000000000" pitchFamily="2" charset="-122"/>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dirty="0"/>
          </a:p>
        </p:txBody>
      </p:sp>
      <p:sp>
        <p:nvSpPr>
          <p:cNvPr id="19" name="Shape 55"/>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atin typeface="BlueakaBeta2GBK" panose="02000700000000000000" pitchFamily="2" charset="-122"/>
                <a:ea typeface="BlueakaBeta2GBK" panose="02000700000000000000" pitchFamily="2" charset="-122"/>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dirty="0"/>
          </a:p>
        </p:txBody>
      </p:sp>
      <p:sp>
        <p:nvSpPr>
          <p:cNvPr id="20" name="Shape 5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lang="zh-CN" altLang="en-US" dirty="0"/>
          </a:p>
        </p:txBody>
      </p:sp>
      <p:sp>
        <p:nvSpPr>
          <p:cNvPr id="21" name="Shape 5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lang="zh-CN" altLang="en-US" dirty="0"/>
          </a:p>
        </p:txBody>
      </p:sp>
      <p:sp>
        <p:nvSpPr>
          <p:cNvPr id="22" name="Shape 5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altLang="zh-CN" smtClean="0"/>
              <a:t>‹#›</a:t>
            </a:fld>
            <a:endParaRPr lang="zh-CN"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节标题" type="secHead">
  <p:cSld name="SECTION_HEADER">
    <p:spTree>
      <p:nvGrpSpPr>
        <p:cNvPr id="1" name="Shape 23"/>
        <p:cNvGrpSpPr/>
        <p:nvPr/>
      </p:nvGrpSpPr>
      <p:grpSpPr>
        <a:xfrm>
          <a:off x="0" y="0"/>
          <a:ext cx="0" cy="0"/>
          <a:chOff x="0" y="0"/>
          <a:chExt cx="0" cy="0"/>
        </a:xfrm>
      </p:grpSpPr>
      <p:sp>
        <p:nvSpPr>
          <p:cNvPr id="24" name="Shape 59"/>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a:buNone/>
              <a:defRPr sz="4500">
                <a:latin typeface="BlueakaBeta2GBK" panose="02000700000000000000" pitchFamily="2" charset="-122"/>
                <a:ea typeface="BlueakaBeta2GBK" panose="02000700000000000000" pitchFamily="2" charset="-122"/>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dirty="0"/>
          </a:p>
        </p:txBody>
      </p:sp>
      <p:sp>
        <p:nvSpPr>
          <p:cNvPr id="25" name="Shape 60"/>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latin typeface="BlueakaBeta2GBK" panose="02000700000000000000" pitchFamily="2" charset="-122"/>
                <a:ea typeface="BlueakaBeta2GBK" panose="02000700000000000000" pitchFamily="2" charset="-122"/>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dirty="0"/>
          </a:p>
        </p:txBody>
      </p:sp>
      <p:sp>
        <p:nvSpPr>
          <p:cNvPr id="26" name="Shape 6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lang="zh-CN" altLang="en-US" dirty="0"/>
          </a:p>
        </p:txBody>
      </p:sp>
      <p:sp>
        <p:nvSpPr>
          <p:cNvPr id="27" name="Shape 6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lang="zh-CN" altLang="en-US" dirty="0"/>
          </a:p>
        </p:txBody>
      </p:sp>
      <p:sp>
        <p:nvSpPr>
          <p:cNvPr id="28" name="Shape 6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altLang="zh-CN" smtClean="0"/>
              <a:t>‹#›</a:t>
            </a:fld>
            <a:endParaRPr lang="zh-CN"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两栏内容" type="twoObj">
  <p:cSld name="TWO_OBJECTS">
    <p:spTree>
      <p:nvGrpSpPr>
        <p:cNvPr id="1" name="Shape 29"/>
        <p:cNvGrpSpPr/>
        <p:nvPr/>
      </p:nvGrpSpPr>
      <p:grpSpPr>
        <a:xfrm>
          <a:off x="0" y="0"/>
          <a:ext cx="0" cy="0"/>
          <a:chOff x="0" y="0"/>
          <a:chExt cx="0" cy="0"/>
        </a:xfrm>
      </p:grpSpPr>
      <p:sp>
        <p:nvSpPr>
          <p:cNvPr id="30" name="Shape 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atin typeface="BlueakaBeta2GBK" panose="02000700000000000000" pitchFamily="2" charset="-122"/>
                <a:ea typeface="BlueakaBeta2GBK" panose="02000700000000000000" pitchFamily="2" charset="-122"/>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dirty="0"/>
          </a:p>
        </p:txBody>
      </p:sp>
      <p:sp>
        <p:nvSpPr>
          <p:cNvPr id="31" name="Shape 10"/>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atin typeface="BlueakaBeta2GBK" panose="02000700000000000000" pitchFamily="2" charset="-122"/>
                <a:ea typeface="BlueakaBeta2GBK" panose="02000700000000000000" pitchFamily="2" charset="-122"/>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dirty="0"/>
          </a:p>
        </p:txBody>
      </p:sp>
      <p:sp>
        <p:nvSpPr>
          <p:cNvPr id="32" name="Shape 11"/>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atin typeface="BlueakaBeta2GBK" panose="02000700000000000000" pitchFamily="2" charset="-122"/>
                <a:ea typeface="BlueakaBeta2GBK" panose="02000700000000000000" pitchFamily="2" charset="-122"/>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dirty="0"/>
          </a:p>
        </p:txBody>
      </p:sp>
      <p:sp>
        <p:nvSpPr>
          <p:cNvPr id="33" name="Shape 1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lang="zh-CN" altLang="en-US" dirty="0"/>
          </a:p>
        </p:txBody>
      </p:sp>
      <p:sp>
        <p:nvSpPr>
          <p:cNvPr id="34" name="Shape 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lang="zh-CN" altLang="en-US" dirty="0"/>
          </a:p>
        </p:txBody>
      </p:sp>
      <p:sp>
        <p:nvSpPr>
          <p:cNvPr id="35" name="Shape 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altLang="zh-CN" smtClean="0"/>
              <a:t>‹#›</a:t>
            </a:fld>
            <a:endParaRPr lang="zh-CN"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比较" type="twoTxTwoObj">
  <p:cSld name="TWO_OBJECTS_WITH_TEXT">
    <p:spTree>
      <p:nvGrpSpPr>
        <p:cNvPr id="1" name="Shape 36"/>
        <p:cNvGrpSpPr/>
        <p:nvPr/>
      </p:nvGrpSpPr>
      <p:grpSpPr>
        <a:xfrm>
          <a:off x="0" y="0"/>
          <a:ext cx="0" cy="0"/>
          <a:chOff x="0" y="0"/>
          <a:chExt cx="0" cy="0"/>
        </a:xfrm>
      </p:grpSpPr>
      <p:sp>
        <p:nvSpPr>
          <p:cNvPr id="37" name="Shape 35"/>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atin typeface="BlueakaBeta2GBK" panose="02000700000000000000" pitchFamily="2" charset="-122"/>
                <a:ea typeface="BlueakaBeta2GBK" panose="02000700000000000000" pitchFamily="2" charset="-122"/>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dirty="0"/>
          </a:p>
        </p:txBody>
      </p:sp>
      <p:sp>
        <p:nvSpPr>
          <p:cNvPr id="38" name="Shape 36"/>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atin typeface="BlueakaBeta2GBK" panose="02000700000000000000" pitchFamily="2" charset="-122"/>
                <a:ea typeface="BlueakaBeta2GBK" panose="02000700000000000000" pitchFamily="2" charset="-122"/>
              </a:defRPr>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dirty="0"/>
          </a:p>
        </p:txBody>
      </p:sp>
      <p:sp>
        <p:nvSpPr>
          <p:cNvPr id="39" name="Shape 37"/>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atin typeface="BlueakaBeta2GBK" panose="02000700000000000000" pitchFamily="2" charset="-122"/>
                <a:ea typeface="BlueakaBeta2GBK" panose="02000700000000000000" pitchFamily="2" charset="-122"/>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dirty="0"/>
          </a:p>
        </p:txBody>
      </p:sp>
      <p:sp>
        <p:nvSpPr>
          <p:cNvPr id="40" name="Shape 38"/>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atin typeface="BlueakaBeta2GBK" panose="02000700000000000000" pitchFamily="2" charset="-122"/>
                <a:ea typeface="BlueakaBeta2GBK" panose="02000700000000000000" pitchFamily="2" charset="-122"/>
              </a:defRPr>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dirty="0"/>
          </a:p>
        </p:txBody>
      </p:sp>
      <p:sp>
        <p:nvSpPr>
          <p:cNvPr id="41" name="Shape 39"/>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atin typeface="BlueakaBeta2GBK" panose="02000700000000000000" pitchFamily="2" charset="-122"/>
                <a:ea typeface="BlueakaBeta2GBK" panose="02000700000000000000" pitchFamily="2" charset="-122"/>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dirty="0"/>
          </a:p>
        </p:txBody>
      </p:sp>
      <p:sp>
        <p:nvSpPr>
          <p:cNvPr id="42" name="Shape 4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lang="zh-CN" altLang="en-US" dirty="0"/>
          </a:p>
        </p:txBody>
      </p:sp>
      <p:sp>
        <p:nvSpPr>
          <p:cNvPr id="43" name="Shape 4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lang="zh-CN" altLang="en-US" dirty="0"/>
          </a:p>
        </p:txBody>
      </p:sp>
      <p:sp>
        <p:nvSpPr>
          <p:cNvPr id="44" name="Shape 4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altLang="zh-CN" smtClean="0"/>
              <a:t>‹#›</a:t>
            </a:fld>
            <a:endParaRPr lang="zh-CN"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仅标题" type="titleOnly">
  <p:cSld name="TITLE_ONLY">
    <p:spTree>
      <p:nvGrpSpPr>
        <p:cNvPr id="1" name="Shape 45"/>
        <p:cNvGrpSpPr/>
        <p:nvPr/>
      </p:nvGrpSpPr>
      <p:grpSpPr>
        <a:xfrm>
          <a:off x="0" y="0"/>
          <a:ext cx="0" cy="0"/>
          <a:chOff x="0" y="0"/>
          <a:chExt cx="0" cy="0"/>
        </a:xfrm>
      </p:grpSpPr>
      <p:sp>
        <p:nvSpPr>
          <p:cNvPr id="46" name="Shape 20"/>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atin typeface="BlueakaBeta2GBK" panose="02000700000000000000" pitchFamily="2" charset="-122"/>
                <a:ea typeface="BlueakaBeta2GBK" panose="02000700000000000000" pitchFamily="2" charset="-122"/>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dirty="0"/>
          </a:p>
        </p:txBody>
      </p:sp>
      <p:sp>
        <p:nvSpPr>
          <p:cNvPr id="47" name="Shape 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lang="zh-CN" altLang="en-US" dirty="0"/>
          </a:p>
        </p:txBody>
      </p:sp>
      <p:sp>
        <p:nvSpPr>
          <p:cNvPr id="48" name="Shape 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lang="zh-CN" altLang="en-US" dirty="0"/>
          </a:p>
        </p:txBody>
      </p:sp>
      <p:sp>
        <p:nvSpPr>
          <p:cNvPr id="49" name="Shape 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altLang="zh-CN" smtClean="0"/>
              <a:t>‹#›</a:t>
            </a:fld>
            <a:endParaRPr lang="zh-CN"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空白" type="blank">
  <p:cSld name="BLANK">
    <p:spTree>
      <p:nvGrpSpPr>
        <p:cNvPr id="1" name="Shape 50"/>
        <p:cNvGrpSpPr/>
        <p:nvPr/>
      </p:nvGrpSpPr>
      <p:grpSpPr>
        <a:xfrm>
          <a:off x="0" y="0"/>
          <a:ext cx="0" cy="0"/>
          <a:chOff x="0" y="0"/>
          <a:chExt cx="0" cy="0"/>
        </a:xfrm>
      </p:grpSpPr>
      <p:sp>
        <p:nvSpPr>
          <p:cNvPr id="51" name="Shape 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lang="zh-CN" altLang="en-US" dirty="0"/>
          </a:p>
        </p:txBody>
      </p:sp>
      <p:sp>
        <p:nvSpPr>
          <p:cNvPr id="52" name="Shape 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lang="zh-CN" altLang="en-US" dirty="0"/>
          </a:p>
        </p:txBody>
      </p:sp>
      <p:sp>
        <p:nvSpPr>
          <p:cNvPr id="53" name="Shape 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altLang="zh-CN" smtClean="0"/>
              <a:t>‹#›</a:t>
            </a:fld>
            <a:endParaRPr lang="zh-CN"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内容与标题" type="objTx">
  <p:cSld name="OBJECT_WITH_CAPTION_TEXT">
    <p:spTree>
      <p:nvGrpSpPr>
        <p:cNvPr id="1" name="Shape 54"/>
        <p:cNvGrpSpPr/>
        <p:nvPr/>
      </p:nvGrpSpPr>
      <p:grpSpPr>
        <a:xfrm>
          <a:off x="0" y="0"/>
          <a:ext cx="0" cy="0"/>
          <a:chOff x="0" y="0"/>
          <a:chExt cx="0" cy="0"/>
        </a:xfrm>
      </p:grpSpPr>
      <p:sp>
        <p:nvSpPr>
          <p:cNvPr id="55" name="Shape 43"/>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atin typeface="BlueakaBeta2GBK" panose="02000700000000000000" pitchFamily="2" charset="-122"/>
                <a:ea typeface="BlueakaBeta2GBK" panose="02000700000000000000" pitchFamily="2" charset="-122"/>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dirty="0"/>
          </a:p>
        </p:txBody>
      </p:sp>
      <p:sp>
        <p:nvSpPr>
          <p:cNvPr id="56" name="Shape 44"/>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atin typeface="BlueakaBeta2GBK" panose="02000700000000000000" pitchFamily="2" charset="-122"/>
                <a:ea typeface="BlueakaBeta2GBK" panose="02000700000000000000" pitchFamily="2" charset="-122"/>
              </a:defRPr>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dirty="0"/>
          </a:p>
        </p:txBody>
      </p:sp>
      <p:sp>
        <p:nvSpPr>
          <p:cNvPr id="57" name="Shape 45"/>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atin typeface="BlueakaBeta2GBK" panose="02000700000000000000" pitchFamily="2" charset="-122"/>
                <a:ea typeface="BlueakaBeta2GBK" panose="02000700000000000000" pitchFamily="2" charset="-122"/>
              </a:defRPr>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dirty="0"/>
          </a:p>
        </p:txBody>
      </p:sp>
      <p:sp>
        <p:nvSpPr>
          <p:cNvPr id="58" name="Shape 4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lang="zh-CN" altLang="en-US" dirty="0"/>
          </a:p>
        </p:txBody>
      </p:sp>
      <p:sp>
        <p:nvSpPr>
          <p:cNvPr id="59" name="Shape 4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lang="zh-CN" altLang="en-US" dirty="0"/>
          </a:p>
        </p:txBody>
      </p:sp>
      <p:sp>
        <p:nvSpPr>
          <p:cNvPr id="60" name="Shape 4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altLang="zh-CN" smtClean="0"/>
              <a:t>‹#›</a:t>
            </a:fld>
            <a:endParaRPr lang="zh-CN"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图片与标题" type="picTx">
  <p:cSld name="PICTURE_WITH_CAPTION_TEXT">
    <p:spTree>
      <p:nvGrpSpPr>
        <p:cNvPr id="1" name="Shape 61"/>
        <p:cNvGrpSpPr/>
        <p:nvPr/>
      </p:nvGrpSpPr>
      <p:grpSpPr>
        <a:xfrm>
          <a:off x="0" y="0"/>
          <a:ext cx="0" cy="0"/>
          <a:chOff x="0" y="0"/>
          <a:chExt cx="0" cy="0"/>
        </a:xfrm>
      </p:grpSpPr>
      <p:sp>
        <p:nvSpPr>
          <p:cNvPr id="62" name="Shape 24"/>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atin typeface="BlueakaBeta2GBK" panose="02000700000000000000" pitchFamily="2" charset="-122"/>
                <a:ea typeface="BlueakaBeta2GBK" panose="02000700000000000000" pitchFamily="2" charset="-122"/>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dirty="0"/>
          </a:p>
        </p:txBody>
      </p:sp>
      <p:sp>
        <p:nvSpPr>
          <p:cNvPr id="63" name="Shape 25"/>
          <p:cNvSpPr>
            <a:spLocks noGrp="1"/>
          </p:cNvSpPr>
          <p:nvPr>
            <p:ph type="pic" idx="2"/>
          </p:nvPr>
        </p:nvSpPr>
        <p:spPr>
          <a:xfrm>
            <a:off x="3887391" y="740569"/>
            <a:ext cx="4629150" cy="3655219"/>
          </a:xfrm>
          <a:prstGeom prst="rect">
            <a:avLst/>
          </a:prstGeom>
          <a:noFill/>
          <a:ln>
            <a:noFill/>
          </a:ln>
        </p:spPr>
      </p:sp>
      <p:sp>
        <p:nvSpPr>
          <p:cNvPr id="64" name="Shape 26"/>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atin typeface="BlueakaBeta2GBK" panose="02000700000000000000" pitchFamily="2" charset="-122"/>
                <a:ea typeface="BlueakaBeta2GBK" panose="02000700000000000000" pitchFamily="2" charset="-122"/>
              </a:defRPr>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dirty="0"/>
          </a:p>
        </p:txBody>
      </p:sp>
      <p:sp>
        <p:nvSpPr>
          <p:cNvPr id="65" name="Shape 2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lang="zh-CN" altLang="en-US" dirty="0"/>
          </a:p>
        </p:txBody>
      </p:sp>
      <p:sp>
        <p:nvSpPr>
          <p:cNvPr id="66" name="Shape 2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lang="zh-CN" altLang="en-US" dirty="0"/>
          </a:p>
        </p:txBody>
      </p:sp>
      <p:sp>
        <p:nvSpPr>
          <p:cNvPr id="67" name="Shape 2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altLang="zh-CN" smtClean="0"/>
              <a:t>‹#›</a:t>
            </a:fld>
            <a:endParaRPr lang="zh-CN"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标题和竖排文字" type="vertTx">
  <p:cSld name="VERTICAL_TEXT">
    <p:spTree>
      <p:nvGrpSpPr>
        <p:cNvPr id="1" name="Shape 68"/>
        <p:cNvGrpSpPr/>
        <p:nvPr/>
      </p:nvGrpSpPr>
      <p:grpSpPr>
        <a:xfrm>
          <a:off x="0" y="0"/>
          <a:ext cx="0" cy="0"/>
          <a:chOff x="0" y="0"/>
          <a:chExt cx="0" cy="0"/>
        </a:xfrm>
      </p:grpSpPr>
      <p:sp>
        <p:nvSpPr>
          <p:cNvPr id="69" name="Shape 4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atin typeface="BlueakaBeta2GBK" panose="02000700000000000000" pitchFamily="2" charset="-122"/>
                <a:ea typeface="BlueakaBeta2GBK" panose="02000700000000000000" pitchFamily="2" charset="-122"/>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dirty="0"/>
          </a:p>
        </p:txBody>
      </p:sp>
      <p:sp>
        <p:nvSpPr>
          <p:cNvPr id="70" name="Shape 50"/>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atin typeface="BlueakaBeta2GBK" panose="02000700000000000000" pitchFamily="2" charset="-122"/>
                <a:ea typeface="BlueakaBeta2GBK" panose="02000700000000000000" pitchFamily="2" charset="-122"/>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dirty="0"/>
          </a:p>
        </p:txBody>
      </p:sp>
      <p:sp>
        <p:nvSpPr>
          <p:cNvPr id="71" name="Shape 5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lang="zh-CN" altLang="en-US" dirty="0"/>
          </a:p>
        </p:txBody>
      </p:sp>
      <p:sp>
        <p:nvSpPr>
          <p:cNvPr id="72" name="Shape 5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lang="zh-CN" altLang="en-US" dirty="0"/>
          </a:p>
        </p:txBody>
      </p:sp>
      <p:sp>
        <p:nvSpPr>
          <p:cNvPr id="73" name="Shape 5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altLang="zh-CN" smtClean="0"/>
              <a:t>‹#›</a:t>
            </a:fld>
            <a:endParaRPr lang="zh-CN"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竖排标题与文本" type="vertTitleAndTx">
  <p:cSld name="VERTICAL_TITLE_AND_VERTICAL_TEXT">
    <p:spTree>
      <p:nvGrpSpPr>
        <p:cNvPr id="1" name="Shape 74"/>
        <p:cNvGrpSpPr/>
        <p:nvPr/>
      </p:nvGrpSpPr>
      <p:grpSpPr>
        <a:xfrm>
          <a:off x="0" y="0"/>
          <a:ext cx="0" cy="0"/>
          <a:chOff x="0" y="0"/>
          <a:chExt cx="0" cy="0"/>
        </a:xfrm>
      </p:grpSpPr>
      <p:sp>
        <p:nvSpPr>
          <p:cNvPr id="75" name="Shape 15"/>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atin typeface="BlueakaBeta2GBK" panose="02000700000000000000" pitchFamily="2" charset="-122"/>
                <a:ea typeface="BlueakaBeta2GBK" panose="02000700000000000000" pitchFamily="2" charset="-122"/>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dirty="0"/>
          </a:p>
        </p:txBody>
      </p:sp>
      <p:sp>
        <p:nvSpPr>
          <p:cNvPr id="76" name="Shape 16"/>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atin typeface="BlueakaBeta2GBK" panose="02000700000000000000" pitchFamily="2" charset="-122"/>
                <a:ea typeface="BlueakaBeta2GBK" panose="02000700000000000000" pitchFamily="2" charset="-122"/>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dirty="0"/>
          </a:p>
        </p:txBody>
      </p:sp>
      <p:sp>
        <p:nvSpPr>
          <p:cNvPr id="77" name="Shape 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lang="zh-CN" altLang="en-US" dirty="0"/>
          </a:p>
        </p:txBody>
      </p:sp>
      <p:sp>
        <p:nvSpPr>
          <p:cNvPr id="78" name="Shape 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lang="zh-CN" altLang="en-US" dirty="0"/>
          </a:p>
        </p:txBody>
      </p:sp>
      <p:sp>
        <p:nvSpPr>
          <p:cNvPr id="79" name="Shape 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altLang="zh-CN" smtClean="0"/>
              <a:t>‹#›</a:t>
            </a:fld>
            <a:endParaRPr lang="zh-CN"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Shape 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dirty="0"/>
          </a:p>
        </p:txBody>
      </p:sp>
      <p:sp>
        <p:nvSpPr>
          <p:cNvPr id="7" name="Shape 2"/>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23850" algn="l" rtl="0">
              <a:lnSpc>
                <a:spcPct val="90000"/>
              </a:lnSpc>
              <a:spcBef>
                <a:spcPts val="400"/>
              </a:spcBef>
              <a:spcAft>
                <a:spcPts val="0"/>
              </a:spcAft>
              <a:buClr>
                <a:schemeClr val="dk1"/>
              </a:buClr>
              <a:buSzPts val="1500"/>
              <a:buFont typeface="Arial" panose="020B0604020202020204"/>
              <a:buChar char="•"/>
              <a:defRPr sz="15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dirty="0"/>
          </a:p>
        </p:txBody>
      </p:sp>
      <p:sp>
        <p:nvSpPr>
          <p:cNvPr id="8" name="Shape 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BlueakaBeta2GBK" panose="02000700000000000000" pitchFamily="2" charset="-122"/>
                <a:ea typeface="BlueakaBeta2GBK" panose="02000700000000000000" pitchFamily="2" charset="-122"/>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lang="zh-CN" altLang="en-US" dirty="0"/>
          </a:p>
        </p:txBody>
      </p:sp>
      <p:sp>
        <p:nvSpPr>
          <p:cNvPr id="9" name="Shape 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BlueakaBeta2GBK" panose="02000700000000000000" pitchFamily="2" charset="-122"/>
                <a:ea typeface="BlueakaBeta2GBK" panose="02000700000000000000" pitchFamily="2" charset="-122"/>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lang="zh-CN" altLang="en-US" dirty="0"/>
          </a:p>
        </p:txBody>
      </p:sp>
      <p:sp>
        <p:nvSpPr>
          <p:cNvPr id="10" name="Shape 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BlueakaBeta2GBK" panose="02000700000000000000" pitchFamily="2" charset="-122"/>
                <a:ea typeface="BlueakaBeta2GBK" panose="02000700000000000000" pitchFamily="2" charset="-122"/>
                <a:cs typeface="Arial" panose="020B0604020202020204"/>
                <a:sym typeface="Arial" panose="020B0604020202020204"/>
              </a:defRPr>
            </a:lvl1pPr>
            <a:lvl2pPr marL="0" marR="0" lvl="1"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fld id="{00000000-1234-1234-1234-123412341234}" type="slidenum">
              <a:rPr lang="en-US" altLang="zh-CN" smtClean="0"/>
              <a:t>‹#›</a:t>
            </a:fld>
            <a:endParaRPr lang="zh-CN" dirty="0"/>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BlueakaBeta2GBK" panose="02000700000000000000" pitchFamily="2" charset="-122"/>
          <a:ea typeface="BlueakaBeta2GBK" panose="02000700000000000000" pitchFamily="2" charset="-122"/>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BlueakaBeta2GBK" panose="02000700000000000000" pitchFamily="2" charset="-122"/>
          <a:ea typeface="BlueakaBeta2GBK" panose="02000700000000000000" pitchFamily="2" charset="-122"/>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tags" Target="../tags/tag8.xml"/><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image" Target="../media/image2.svg"/><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image" Target="../media/image1.svg"/><Relationship Id="rId5" Type="http://schemas.openxmlformats.org/officeDocument/2006/relationships/tags" Target="../tags/tag5.xml"/><Relationship Id="rId10" Type="http://schemas.openxmlformats.org/officeDocument/2006/relationships/notesSlide" Target="../notesSlides/notesSlide1.xml"/><Relationship Id="rId4" Type="http://schemas.openxmlformats.org/officeDocument/2006/relationships/tags" Target="../tags/tag4.xml"/><Relationship Id="rId9"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image" Target="../media/image6.svg"/><Relationship Id="rId5" Type="http://schemas.openxmlformats.org/officeDocument/2006/relationships/image" Target="../media/image5.svg"/><Relationship Id="rId4" Type="http://schemas.openxmlformats.org/officeDocument/2006/relationships/image" Target="../media/image4.svg"/></Relationships>
</file>

<file path=ppt/slides/_rels/slide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8.svg"/><Relationship Id="rId7" Type="http://schemas.openxmlformats.org/officeDocument/2006/relationships/image" Target="../media/image12.svg"/><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image" Target="../media/image11.svg"/><Relationship Id="rId5" Type="http://schemas.openxmlformats.org/officeDocument/2006/relationships/image" Target="../media/image10.svg"/><Relationship Id="rId4" Type="http://schemas.openxmlformats.org/officeDocument/2006/relationships/image" Target="../media/image9.svg"/><Relationship Id="rId9" Type="http://schemas.openxmlformats.org/officeDocument/2006/relationships/image" Target="../media/image14.svg"/></Relationships>
</file>

<file path=ppt/slides/_rels/slide6.xml.rels><?xml version="1.0" encoding="UTF-8" standalone="yes"?>
<Relationships xmlns="http://schemas.openxmlformats.org/package/2006/relationships"><Relationship Id="rId8" Type="http://schemas.openxmlformats.org/officeDocument/2006/relationships/tags" Target="../tags/tag16.xml"/><Relationship Id="rId13" Type="http://schemas.openxmlformats.org/officeDocument/2006/relationships/tags" Target="../tags/tag21.xml"/><Relationship Id="rId3" Type="http://schemas.openxmlformats.org/officeDocument/2006/relationships/tags" Target="../tags/tag11.xml"/><Relationship Id="rId7" Type="http://schemas.openxmlformats.org/officeDocument/2006/relationships/tags" Target="../tags/tag15.xml"/><Relationship Id="rId12" Type="http://schemas.openxmlformats.org/officeDocument/2006/relationships/tags" Target="../tags/tag20.xml"/><Relationship Id="rId17" Type="http://schemas.openxmlformats.org/officeDocument/2006/relationships/notesSlide" Target="../notesSlides/notesSlide6.xml"/><Relationship Id="rId2" Type="http://schemas.openxmlformats.org/officeDocument/2006/relationships/tags" Target="../tags/tag10.xml"/><Relationship Id="rId16" Type="http://schemas.openxmlformats.org/officeDocument/2006/relationships/slideLayout" Target="../slideLayouts/slideLayout12.xml"/><Relationship Id="rId1" Type="http://schemas.openxmlformats.org/officeDocument/2006/relationships/tags" Target="../tags/tag9.xml"/><Relationship Id="rId6" Type="http://schemas.openxmlformats.org/officeDocument/2006/relationships/tags" Target="../tags/tag14.xml"/><Relationship Id="rId11" Type="http://schemas.openxmlformats.org/officeDocument/2006/relationships/tags" Target="../tags/tag19.xml"/><Relationship Id="rId5" Type="http://schemas.openxmlformats.org/officeDocument/2006/relationships/tags" Target="../tags/tag13.xml"/><Relationship Id="rId15" Type="http://schemas.openxmlformats.org/officeDocument/2006/relationships/tags" Target="../tags/tag23.xml"/><Relationship Id="rId10" Type="http://schemas.openxmlformats.org/officeDocument/2006/relationships/tags" Target="../tags/tag18.xml"/><Relationship Id="rId4" Type="http://schemas.openxmlformats.org/officeDocument/2006/relationships/tags" Target="../tags/tag12.xml"/><Relationship Id="rId9" Type="http://schemas.openxmlformats.org/officeDocument/2006/relationships/tags" Target="../tags/tag17.xml"/><Relationship Id="rId14" Type="http://schemas.openxmlformats.org/officeDocument/2006/relationships/tags" Target="../tags/tag22.xml"/></Relationships>
</file>

<file path=ppt/slides/_rels/slide7.xml.rels><?xml version="1.0" encoding="UTF-8" standalone="yes"?>
<Relationships xmlns="http://schemas.openxmlformats.org/package/2006/relationships"><Relationship Id="rId8" Type="http://schemas.openxmlformats.org/officeDocument/2006/relationships/image" Target="../media/image20.svg"/><Relationship Id="rId3" Type="http://schemas.openxmlformats.org/officeDocument/2006/relationships/image" Target="../media/image15.svg"/><Relationship Id="rId7" Type="http://schemas.openxmlformats.org/officeDocument/2006/relationships/image" Target="../media/image19.svg"/><Relationship Id="rId2" Type="http://schemas.openxmlformats.org/officeDocument/2006/relationships/notesSlide" Target="../notesSlides/notesSlide7.xml"/><Relationship Id="rId1" Type="http://schemas.openxmlformats.org/officeDocument/2006/relationships/slideLayout" Target="../slideLayouts/slideLayout12.xml"/><Relationship Id="rId6" Type="http://schemas.openxmlformats.org/officeDocument/2006/relationships/image" Target="../media/image18.svg"/><Relationship Id="rId5" Type="http://schemas.openxmlformats.org/officeDocument/2006/relationships/image" Target="../media/image17.svg"/><Relationship Id="rId4" Type="http://schemas.openxmlformats.org/officeDocument/2006/relationships/image" Target="../media/image16.svg"/></Relationships>
</file>

<file path=ppt/slides/_rels/slide8.xml.rels><?xml version="1.0" encoding="UTF-8" standalone="yes"?>
<Relationships xmlns="http://schemas.openxmlformats.org/package/2006/relationships"><Relationship Id="rId8" Type="http://schemas.openxmlformats.org/officeDocument/2006/relationships/image" Target="../media/image26.svg"/><Relationship Id="rId3" Type="http://schemas.openxmlformats.org/officeDocument/2006/relationships/image" Target="../media/image21.svg"/><Relationship Id="rId7" Type="http://schemas.openxmlformats.org/officeDocument/2006/relationships/image" Target="../media/image25.svg"/><Relationship Id="rId2" Type="http://schemas.openxmlformats.org/officeDocument/2006/relationships/notesSlide" Target="../notesSlides/notesSlide8.xml"/><Relationship Id="rId1" Type="http://schemas.openxmlformats.org/officeDocument/2006/relationships/slideLayout" Target="../slideLayouts/slideLayout12.xml"/><Relationship Id="rId6" Type="http://schemas.openxmlformats.org/officeDocument/2006/relationships/image" Target="../media/image24.svg"/><Relationship Id="rId5" Type="http://schemas.openxmlformats.org/officeDocument/2006/relationships/image" Target="../media/image23.svg"/><Relationship Id="rId4" Type="http://schemas.openxmlformats.org/officeDocument/2006/relationships/image" Target="../media/image22.svg"/></Relationships>
</file>

<file path=ppt/slides/_rels/slide9.xml.rels><?xml version="1.0" encoding="UTF-8" standalone="yes"?>
<Relationships xmlns="http://schemas.openxmlformats.org/package/2006/relationships"><Relationship Id="rId8" Type="http://schemas.openxmlformats.org/officeDocument/2006/relationships/image" Target="../media/image30.svg"/><Relationship Id="rId3" Type="http://schemas.openxmlformats.org/officeDocument/2006/relationships/image" Target="../media/image27.svg"/><Relationship Id="rId7" Type="http://schemas.openxmlformats.org/officeDocument/2006/relationships/image" Target="../media/image24.svg"/><Relationship Id="rId2" Type="http://schemas.openxmlformats.org/officeDocument/2006/relationships/notesSlide" Target="../notesSlides/notesSlide9.xml"/><Relationship Id="rId1" Type="http://schemas.openxmlformats.org/officeDocument/2006/relationships/slideLayout" Target="../slideLayouts/slideLayout12.xml"/><Relationship Id="rId6" Type="http://schemas.openxmlformats.org/officeDocument/2006/relationships/image" Target="../media/image29.svg"/><Relationship Id="rId5" Type="http://schemas.openxmlformats.org/officeDocument/2006/relationships/image" Target="../media/image12.svg"/><Relationship Id="rId4" Type="http://schemas.openxmlformats.org/officeDocument/2006/relationships/image" Target="../media/image28.svg"/><Relationship Id="rId9" Type="http://schemas.openxmlformats.org/officeDocument/2006/relationships/image" Target="../media/image31.svg"/></Relationships>
</file>

<file path=ppt/slides/_rels/slide10.xml.rels><?xml version="1.0" encoding="UTF-8" standalone="yes"?>
<Relationships xmlns="http://schemas.openxmlformats.org/package/2006/relationships"><Relationship Id="rId3" Type="http://schemas.openxmlformats.org/officeDocument/2006/relationships/image" Target="../media/image32.svg"/><Relationship Id="rId2" Type="http://schemas.openxmlformats.org/officeDocument/2006/relationships/notesSlide" Target="../notesSlides/notesSlide10.xml"/><Relationship Id="rId1" Type="http://schemas.openxmlformats.org/officeDocument/2006/relationships/slideLayout" Target="../slideLayouts/slideLayout12.xml"/><Relationship Id="rId4" Type="http://schemas.openxmlformats.org/officeDocument/2006/relationships/image" Target="../media/image33.svg"/></Relationships>
</file>

<file path=ppt/slides/_rels/slide11.xml.rels><?xml version="1.0" encoding="UTF-8" standalone="yes"?>
<Relationships xmlns="http://schemas.openxmlformats.org/package/2006/relationships"><Relationship Id="rId8" Type="http://schemas.openxmlformats.org/officeDocument/2006/relationships/tags" Target="../tags/tag31.xml"/><Relationship Id="rId13" Type="http://schemas.openxmlformats.org/officeDocument/2006/relationships/tags" Target="../tags/tag36.xml"/><Relationship Id="rId18" Type="http://schemas.openxmlformats.org/officeDocument/2006/relationships/tags" Target="../tags/tag41.xml"/><Relationship Id="rId26" Type="http://schemas.openxmlformats.org/officeDocument/2006/relationships/image" Target="../media/image36.svg"/><Relationship Id="rId3" Type="http://schemas.openxmlformats.org/officeDocument/2006/relationships/tags" Target="../tags/tag26.xml"/><Relationship Id="rId21" Type="http://schemas.openxmlformats.org/officeDocument/2006/relationships/tags" Target="../tags/tag44.xml"/><Relationship Id="rId7" Type="http://schemas.openxmlformats.org/officeDocument/2006/relationships/tags" Target="../tags/tag30.xml"/><Relationship Id="rId12" Type="http://schemas.openxmlformats.org/officeDocument/2006/relationships/tags" Target="../tags/tag35.xml"/><Relationship Id="rId17" Type="http://schemas.openxmlformats.org/officeDocument/2006/relationships/tags" Target="../tags/tag40.xml"/><Relationship Id="rId25" Type="http://schemas.openxmlformats.org/officeDocument/2006/relationships/image" Target="../media/image35.svg"/><Relationship Id="rId2" Type="http://schemas.openxmlformats.org/officeDocument/2006/relationships/tags" Target="../tags/tag25.xml"/><Relationship Id="rId16" Type="http://schemas.openxmlformats.org/officeDocument/2006/relationships/tags" Target="../tags/tag39.xml"/><Relationship Id="rId20" Type="http://schemas.openxmlformats.org/officeDocument/2006/relationships/tags" Target="../tags/tag43.xml"/><Relationship Id="rId1" Type="http://schemas.openxmlformats.org/officeDocument/2006/relationships/tags" Target="../tags/tag24.xml"/><Relationship Id="rId6" Type="http://schemas.openxmlformats.org/officeDocument/2006/relationships/tags" Target="../tags/tag29.xml"/><Relationship Id="rId11" Type="http://schemas.openxmlformats.org/officeDocument/2006/relationships/tags" Target="../tags/tag34.xml"/><Relationship Id="rId24" Type="http://schemas.openxmlformats.org/officeDocument/2006/relationships/image" Target="../media/image34.svg"/><Relationship Id="rId5" Type="http://schemas.openxmlformats.org/officeDocument/2006/relationships/tags" Target="../tags/tag28.xml"/><Relationship Id="rId15" Type="http://schemas.openxmlformats.org/officeDocument/2006/relationships/tags" Target="../tags/tag38.xml"/><Relationship Id="rId23" Type="http://schemas.openxmlformats.org/officeDocument/2006/relationships/notesSlide" Target="../notesSlides/notesSlide11.xml"/><Relationship Id="rId10" Type="http://schemas.openxmlformats.org/officeDocument/2006/relationships/tags" Target="../tags/tag33.xml"/><Relationship Id="rId19" Type="http://schemas.openxmlformats.org/officeDocument/2006/relationships/tags" Target="../tags/tag42.xml"/><Relationship Id="rId4" Type="http://schemas.openxmlformats.org/officeDocument/2006/relationships/tags" Target="../tags/tag27.xml"/><Relationship Id="rId9" Type="http://schemas.openxmlformats.org/officeDocument/2006/relationships/tags" Target="../tags/tag32.xml"/><Relationship Id="rId14" Type="http://schemas.openxmlformats.org/officeDocument/2006/relationships/tags" Target="../tags/tag37.xml"/><Relationship Id="rId22"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37.svg"/><Relationship Id="rId2" Type="http://schemas.openxmlformats.org/officeDocument/2006/relationships/notesSlide" Target="../notesSlides/notesSlide12.xml"/><Relationship Id="rId1" Type="http://schemas.openxmlformats.org/officeDocument/2006/relationships/slideLayout" Target="../slideLayouts/slideLayout12.xml"/><Relationship Id="rId5" Type="http://schemas.openxmlformats.org/officeDocument/2006/relationships/image" Target="../media/image39.svg"/><Relationship Id="rId4" Type="http://schemas.openxmlformats.org/officeDocument/2006/relationships/image" Target="../media/image38.svg"/></Relationships>
</file>

<file path=ppt/slides/_rels/slide13.xml.rels><?xml version="1.0" encoding="UTF-8" standalone="yes"?>
<Relationships xmlns="http://schemas.openxmlformats.org/package/2006/relationships"><Relationship Id="rId3" Type="http://schemas.openxmlformats.org/officeDocument/2006/relationships/image" Target="../media/image40.svg"/><Relationship Id="rId2" Type="http://schemas.openxmlformats.org/officeDocument/2006/relationships/notesSlide" Target="../notesSlides/notesSlide13.xml"/><Relationship Id="rId1" Type="http://schemas.openxmlformats.org/officeDocument/2006/relationships/slideLayout" Target="../slideLayouts/slideLayout12.xml"/><Relationship Id="rId6" Type="http://schemas.openxmlformats.org/officeDocument/2006/relationships/image" Target="../media/image43.svg"/><Relationship Id="rId5" Type="http://schemas.openxmlformats.org/officeDocument/2006/relationships/image" Target="../media/image42.svg"/><Relationship Id="rId4" Type="http://schemas.openxmlformats.org/officeDocument/2006/relationships/image" Target="../media/image41.svg"/></Relationships>
</file>

<file path=ppt/slides/_rels/slide14.xml.rels><?xml version="1.0" encoding="UTF-8" standalone="yes"?>
<Relationships xmlns="http://schemas.openxmlformats.org/package/2006/relationships"><Relationship Id="rId3" Type="http://schemas.openxmlformats.org/officeDocument/2006/relationships/image" Target="../media/image34.svg"/><Relationship Id="rId7" Type="http://schemas.openxmlformats.org/officeDocument/2006/relationships/image" Target="../media/image47.svg"/><Relationship Id="rId2" Type="http://schemas.openxmlformats.org/officeDocument/2006/relationships/notesSlide" Target="../notesSlides/notesSlide14.xml"/><Relationship Id="rId1" Type="http://schemas.openxmlformats.org/officeDocument/2006/relationships/slideLayout" Target="../slideLayouts/slideLayout12.xml"/><Relationship Id="rId6" Type="http://schemas.openxmlformats.org/officeDocument/2006/relationships/image" Target="../media/image46.svg"/><Relationship Id="rId5" Type="http://schemas.openxmlformats.org/officeDocument/2006/relationships/image" Target="../media/image45.svg"/><Relationship Id="rId4" Type="http://schemas.openxmlformats.org/officeDocument/2006/relationships/image" Target="../media/image44.svg"/></Relationships>
</file>

<file path=ppt/slides/_rels/slide15.xml.rels><?xml version="1.0" encoding="UTF-8" standalone="yes"?>
<Relationships xmlns="http://schemas.openxmlformats.org/package/2006/relationships"><Relationship Id="rId3" Type="http://schemas.openxmlformats.org/officeDocument/2006/relationships/image" Target="../media/image34.svg"/><Relationship Id="rId2" Type="http://schemas.openxmlformats.org/officeDocument/2006/relationships/notesSlide" Target="../notesSlides/notesSlide15.xml"/><Relationship Id="rId1" Type="http://schemas.openxmlformats.org/officeDocument/2006/relationships/slideLayout" Target="../slideLayouts/slideLayout12.xml"/><Relationship Id="rId5" Type="http://schemas.openxmlformats.org/officeDocument/2006/relationships/image" Target="../media/image48.svg"/><Relationship Id="rId4" Type="http://schemas.openxmlformats.org/officeDocument/2006/relationships/image" Target="../media/image7.sv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rgbClr val="F0F9EB">
                <a:alpha val="100000"/>
              </a:srgbClr>
            </a:gs>
            <a:gs pos="100000">
              <a:srgbClr val="FFFFFF">
                <a:alpha val="100000"/>
              </a:srgbClr>
            </a:gs>
          </a:gsLst>
          <a:lin ang="5400000"/>
        </a:gradFill>
        <a:effectLst/>
      </p:bgPr>
    </p:bg>
    <p:spTree>
      <p:nvGrpSpPr>
        <p:cNvPr id="1" name=""/>
        <p:cNvGrpSpPr/>
        <p:nvPr/>
      </p:nvGrpSpPr>
      <p:grpSpPr>
        <a:xfrm>
          <a:off x="0" y="0"/>
          <a:ext cx="0" cy="0"/>
          <a:chOff x="0" y="0"/>
          <a:chExt cx="0" cy="0"/>
        </a:xfrm>
      </p:grpSpPr>
      <p:sp>
        <p:nvSpPr>
          <p:cNvPr id="2" name="AutoShape 2"/>
          <p:cNvSpPr/>
          <p:nvPr/>
        </p:nvSpPr>
        <p:spPr>
          <a:xfrm>
            <a:off x="-635000" y="-635000"/>
            <a:ext cx="2540000" cy="2540000"/>
          </a:xfrm>
          <a:prstGeom prst="ellipse">
            <a:avLst/>
          </a:prstGeom>
          <a:solidFill>
            <a:srgbClr val="7CB342">
              <a:alpha val="10000"/>
            </a:srgbClr>
          </a:solidFill>
          <a:ln cap="flat" cmpd="sng">
            <a:solidFill>
              <a:srgbClr val="639A29">
                <a:alpha val="10000"/>
              </a:srgbClr>
            </a:solidFill>
            <a:prstDash val="solid"/>
            <a:round/>
          </a:ln>
        </p:spPr>
        <p:txBody>
          <a:bodyPr vert="horz" wrap="square" lIns="63500" tIns="63500" rIns="63500" bIns="63500" rtlCol="0" anchor="ctr"/>
          <a:lstStyle/>
          <a:p>
            <a:pPr algn="ctr">
              <a:defRPr/>
            </a:pPr>
            <a:endParaRPr dirty="0">
              <a:latin typeface="BlueakaBeta2GBK" panose="02000700000000000000" pitchFamily="2" charset="-122"/>
              <a:ea typeface="BlueakaBeta2GBK" panose="02000700000000000000" pitchFamily="2" charset="-122"/>
            </a:endParaRPr>
          </a:p>
        </p:txBody>
      </p:sp>
      <p:sp>
        <p:nvSpPr>
          <p:cNvPr id="3" name="AutoShape 3"/>
          <p:cNvSpPr/>
          <p:nvPr/>
        </p:nvSpPr>
        <p:spPr>
          <a:xfrm>
            <a:off x="10160000" y="-1016000"/>
            <a:ext cx="3175000" cy="3175000"/>
          </a:xfrm>
          <a:prstGeom prst="ellipse">
            <a:avLst/>
          </a:prstGeom>
          <a:solidFill>
            <a:srgbClr val="2D5A27">
              <a:alpha val="6000"/>
            </a:srgbClr>
          </a:solidFill>
          <a:ln cap="flat" cmpd="sng">
            <a:solidFill>
              <a:srgbClr val="1B4116">
                <a:alpha val="6000"/>
              </a:srgbClr>
            </a:solidFill>
            <a:prstDash val="solid"/>
            <a:round/>
          </a:ln>
        </p:spPr>
        <p:txBody>
          <a:bodyPr vert="horz" wrap="square" lIns="63500" tIns="63500" rIns="63500" bIns="63500" rtlCol="0" anchor="ctr"/>
          <a:lstStyle/>
          <a:p>
            <a:pPr algn="ctr">
              <a:defRPr/>
            </a:pPr>
            <a:endParaRPr dirty="0">
              <a:latin typeface="BlueakaBeta2GBK" panose="02000700000000000000" pitchFamily="2" charset="-122"/>
              <a:ea typeface="BlueakaBeta2GBK" panose="02000700000000000000" pitchFamily="2" charset="-122"/>
            </a:endParaRPr>
          </a:p>
        </p:txBody>
      </p:sp>
      <p:sp>
        <p:nvSpPr>
          <p:cNvPr id="4" name="AutoShape 4"/>
          <p:cNvSpPr/>
          <p:nvPr/>
        </p:nvSpPr>
        <p:spPr>
          <a:xfrm>
            <a:off x="-1270000" y="5715000"/>
            <a:ext cx="5080000" cy="1524000"/>
          </a:xfrm>
          <a:prstGeom prst="ellipse">
            <a:avLst/>
          </a:prstGeom>
          <a:solidFill>
            <a:srgbClr val="7CB342">
              <a:alpha val="10000"/>
            </a:srgbClr>
          </a:solidFill>
          <a:ln cap="flat" cmpd="sng">
            <a:solidFill>
              <a:srgbClr val="639A29">
                <a:alpha val="10000"/>
              </a:srgbClr>
            </a:solidFill>
            <a:prstDash val="solid"/>
            <a:round/>
          </a:ln>
        </p:spPr>
        <p:txBody>
          <a:bodyPr vert="horz" wrap="square" lIns="63500" tIns="63500" rIns="63500" bIns="63500" rtlCol="0" anchor="ctr"/>
          <a:lstStyle/>
          <a:p>
            <a:pPr algn="ctr">
              <a:defRPr/>
            </a:pPr>
            <a:endParaRPr dirty="0">
              <a:latin typeface="BlueakaBeta2GBK" panose="02000700000000000000" pitchFamily="2" charset="-122"/>
              <a:ea typeface="BlueakaBeta2GBK" panose="02000700000000000000" pitchFamily="2" charset="-122"/>
            </a:endParaRPr>
          </a:p>
        </p:txBody>
      </p:sp>
      <p:sp>
        <p:nvSpPr>
          <p:cNvPr id="5" name="AutoShape 5"/>
          <p:cNvSpPr/>
          <p:nvPr/>
        </p:nvSpPr>
        <p:spPr>
          <a:xfrm>
            <a:off x="7620000" y="5842000"/>
            <a:ext cx="6350000" cy="1778000"/>
          </a:xfrm>
          <a:prstGeom prst="ellipse">
            <a:avLst/>
          </a:prstGeom>
          <a:solidFill>
            <a:srgbClr val="2D5A27">
              <a:alpha val="8000"/>
            </a:srgbClr>
          </a:solidFill>
          <a:ln cap="flat" cmpd="sng">
            <a:solidFill>
              <a:srgbClr val="1B4116">
                <a:alpha val="8000"/>
              </a:srgbClr>
            </a:solidFill>
            <a:prstDash val="solid"/>
            <a:round/>
          </a:ln>
        </p:spPr>
        <p:txBody>
          <a:bodyPr vert="horz" wrap="square" lIns="63500" tIns="63500" rIns="63500" bIns="63500" rtlCol="0" anchor="ctr"/>
          <a:lstStyle/>
          <a:p>
            <a:pPr algn="ctr">
              <a:defRPr/>
            </a:pPr>
            <a:endParaRPr dirty="0">
              <a:latin typeface="BlueakaBeta2GBK" panose="02000700000000000000" pitchFamily="2" charset="-122"/>
              <a:ea typeface="BlueakaBeta2GBK" panose="02000700000000000000" pitchFamily="2" charset="-122"/>
            </a:endParaRPr>
          </a:p>
        </p:txBody>
      </p:sp>
      <p:sp>
        <p:nvSpPr>
          <p:cNvPr id="6" name="AutoShape 6"/>
          <p:cNvSpPr/>
          <p:nvPr/>
        </p:nvSpPr>
        <p:spPr>
          <a:xfrm>
            <a:off x="635000" y="1778000"/>
            <a:ext cx="10922000" cy="1016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4400" b="1" i="0" u="none" strike="noStrike" dirty="0" err="1">
                <a:solidFill>
                  <a:srgbClr val="2D5A27"/>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景区</a:t>
            </a:r>
            <a:r>
              <a:rPr lang="zh-CN" altLang="en-US" sz="4400" b="1" i="0" u="none" strike="noStrike" dirty="0" err="1">
                <a:solidFill>
                  <a:srgbClr val="2D5A27"/>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景点</a:t>
            </a:r>
            <a:r>
              <a:rPr lang="en-US" sz="4400" b="1" i="0" u="none" strike="noStrike" dirty="0" err="1">
                <a:solidFill>
                  <a:srgbClr val="2D5A27"/>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地图导航系统</a:t>
            </a:r>
            <a:endParaRPr lang="en-US" sz="1100" dirty="0">
              <a:latin typeface="BlueakaBeta2GBK" panose="02000700000000000000" pitchFamily="2" charset="-122"/>
              <a:ea typeface="BlueakaBeta2GBK" panose="02000700000000000000" pitchFamily="2" charset="-122"/>
            </a:endParaRPr>
          </a:p>
        </p:txBody>
      </p:sp>
      <p:sp>
        <p:nvSpPr>
          <p:cNvPr id="7" name="AutoShape 7"/>
          <p:cNvSpPr/>
          <p:nvPr/>
        </p:nvSpPr>
        <p:spPr>
          <a:xfrm>
            <a:off x="3429000" y="2984500"/>
            <a:ext cx="5334000" cy="50800"/>
          </a:xfrm>
          <a:prstGeom prst="roundRect">
            <a:avLst>
              <a:gd name="adj" fmla="val 0"/>
            </a:avLst>
          </a:prstGeom>
          <a:gradFill rotWithShape="1">
            <a:gsLst>
              <a:gs pos="0">
                <a:srgbClr val="2D5A27">
                  <a:alpha val="100000"/>
                </a:srgbClr>
              </a:gs>
              <a:gs pos="100000">
                <a:srgbClr val="7CB342">
                  <a:alpha val="100000"/>
                </a:srgbClr>
              </a:gs>
            </a:gsLst>
            <a:lin ang="0"/>
          </a:gradFill>
          <a:ln w="25400" cap="flat" cmpd="sng">
            <a:noFill/>
            <a:prstDash val="solid"/>
            <a:round/>
          </a:ln>
        </p:spPr>
        <p:txBody>
          <a:bodyPr vert="horz" wrap="square" lIns="63500" tIns="63500" rIns="63500" bIns="63500" rtlCol="0" anchor="ctr"/>
          <a:lstStyle/>
          <a:p>
            <a:pPr algn="ctr">
              <a:defRPr/>
            </a:pPr>
            <a:endParaRPr dirty="0">
              <a:latin typeface="BlueakaBeta2GBK" panose="02000700000000000000" pitchFamily="2" charset="-122"/>
              <a:ea typeface="BlueakaBeta2GBK" panose="02000700000000000000" pitchFamily="2" charset="-122"/>
            </a:endParaRPr>
          </a:p>
        </p:txBody>
      </p:sp>
      <p:sp>
        <p:nvSpPr>
          <p:cNvPr id="8" name="AutoShape 8"/>
          <p:cNvSpPr/>
          <p:nvPr/>
        </p:nvSpPr>
        <p:spPr>
          <a:xfrm>
            <a:off x="635000" y="3365500"/>
            <a:ext cx="10922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000" b="0" i="0" u="none" strike="noStrike" dirty="0" err="1">
                <a:solidFill>
                  <a:srgbClr val="7CB342"/>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基于Dijkstra算法的景区导航寻路系统</a:t>
            </a:r>
            <a:endParaRPr lang="en-US" sz="1100" dirty="0">
              <a:latin typeface="BlueakaBeta2GBK" panose="02000700000000000000" pitchFamily="2" charset="-122"/>
              <a:ea typeface="BlueakaBeta2GBK" panose="02000700000000000000" pitchFamily="2" charset="-122"/>
            </a:endParaRPr>
          </a:p>
        </p:txBody>
      </p:sp>
      <p:sp>
        <p:nvSpPr>
          <p:cNvPr id="9" name="AutoShape 9"/>
          <p:cNvSpPr/>
          <p:nvPr>
            <p:custDataLst>
              <p:tags r:id="rId1"/>
            </p:custDataLst>
          </p:nvPr>
        </p:nvSpPr>
        <p:spPr>
          <a:xfrm>
            <a:off x="1905000" y="4826000"/>
            <a:ext cx="3378200" cy="1397000"/>
          </a:xfrm>
          <a:prstGeom prst="roundRect">
            <a:avLst>
              <a:gd name="adj" fmla="val 0"/>
            </a:avLst>
          </a:prstGeom>
          <a:solidFill>
            <a:srgbClr val="7CB342">
              <a:alpha val="8000"/>
            </a:srgbClr>
          </a:solidFill>
          <a:ln w="12700" cap="flat" cmpd="sng">
            <a:solidFill>
              <a:srgbClr val="2D5A27">
                <a:alpha val="15000"/>
              </a:srgbClr>
            </a:solidFill>
            <a:prstDash val="solid"/>
            <a:round/>
          </a:ln>
        </p:spPr>
        <p:txBody>
          <a:bodyPr vert="horz" wrap="square" lIns="63500" tIns="63500" rIns="63500" bIns="63500" rtlCol="0" anchor="ctr"/>
          <a:lstStyle/>
          <a:p>
            <a:pPr algn="ctr">
              <a:defRPr/>
            </a:pPr>
            <a:endParaRPr dirty="0">
              <a:latin typeface="BlueakaBeta2GBK" panose="02000700000000000000" pitchFamily="2" charset="-122"/>
              <a:ea typeface="BlueakaBeta2GBK" panose="02000700000000000000" pitchFamily="2" charset="-122"/>
            </a:endParaRPr>
          </a:p>
        </p:txBody>
      </p:sp>
      <p:pic>
        <p:nvPicPr>
          <p:cNvPr id="10" name="Picture 10"/>
          <p:cNvPicPr>
            <a:picLocks noChangeAspect="1"/>
          </p:cNvPicPr>
          <p:nvPr>
            <p:custDataLst>
              <p:tags r:id="rId2"/>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133600" y="5016500"/>
            <a:ext cx="304800" cy="304800"/>
          </a:xfrm>
          <a:prstGeom prst="rect">
            <a:avLst/>
          </a:prstGeom>
        </p:spPr>
      </p:pic>
      <p:sp>
        <p:nvSpPr>
          <p:cNvPr id="11" name="AutoShape 11"/>
          <p:cNvSpPr/>
          <p:nvPr>
            <p:custDataLst>
              <p:tags r:id="rId3"/>
            </p:custDataLst>
          </p:nvPr>
        </p:nvSpPr>
        <p:spPr>
          <a:xfrm>
            <a:off x="2644775" y="4940300"/>
            <a:ext cx="254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dirty="0" err="1">
                <a:solidFill>
                  <a:srgbClr val="2D5A27"/>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答辩人</a:t>
            </a:r>
            <a:endParaRPr lang="en-US" sz="1100" dirty="0">
              <a:latin typeface="BlueakaBeta2GBK" panose="02000700000000000000" pitchFamily="2" charset="-122"/>
              <a:ea typeface="BlueakaBeta2GBK" panose="02000700000000000000" pitchFamily="2" charset="-122"/>
            </a:endParaRPr>
          </a:p>
        </p:txBody>
      </p:sp>
      <p:sp>
        <p:nvSpPr>
          <p:cNvPr id="12" name="AutoShape 12"/>
          <p:cNvSpPr/>
          <p:nvPr>
            <p:custDataLst>
              <p:tags r:id="rId4"/>
            </p:custDataLst>
          </p:nvPr>
        </p:nvSpPr>
        <p:spPr>
          <a:xfrm>
            <a:off x="2133600" y="5461000"/>
            <a:ext cx="2921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1400" b="0" i="0" u="none" strike="noStrike" dirty="0">
                <a:solidFill>
                  <a:srgbClr val="525252"/>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天童爱丽丝</a:t>
            </a:r>
            <a:r>
              <a:rPr lang="en-US" sz="1400" b="0" i="0" u="none" strike="noStrike" dirty="0">
                <a:solidFill>
                  <a:srgbClr val="525252"/>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 | 25</a:t>
            </a:r>
            <a:r>
              <a:rPr lang="zh-CN" altLang="en-US" sz="1400" b="0" i="0" u="none" strike="noStrike" dirty="0">
                <a:solidFill>
                  <a:srgbClr val="525252"/>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软件工程</a:t>
            </a:r>
            <a:r>
              <a:rPr lang="en-US" altLang="zh-CN" sz="1400" b="0" i="0" u="none" strike="noStrike" dirty="0">
                <a:solidFill>
                  <a:srgbClr val="525252"/>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6</a:t>
            </a:r>
            <a:r>
              <a:rPr lang="zh-CN" altLang="en-US" sz="1400" b="0" i="0" u="none" strike="noStrike" dirty="0">
                <a:solidFill>
                  <a:srgbClr val="525252"/>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班</a:t>
            </a:r>
          </a:p>
        </p:txBody>
      </p:sp>
      <p:sp>
        <p:nvSpPr>
          <p:cNvPr id="17" name="AutoShape 17"/>
          <p:cNvSpPr/>
          <p:nvPr>
            <p:custDataLst>
              <p:tags r:id="rId5"/>
            </p:custDataLst>
          </p:nvPr>
        </p:nvSpPr>
        <p:spPr>
          <a:xfrm>
            <a:off x="6781800" y="4826000"/>
            <a:ext cx="3378200" cy="1397000"/>
          </a:xfrm>
          <a:prstGeom prst="roundRect">
            <a:avLst>
              <a:gd name="adj" fmla="val 0"/>
            </a:avLst>
          </a:prstGeom>
          <a:solidFill>
            <a:srgbClr val="7CB342">
              <a:alpha val="8000"/>
            </a:srgbClr>
          </a:solidFill>
          <a:ln w="12700" cap="flat" cmpd="sng">
            <a:solidFill>
              <a:srgbClr val="2D5A27">
                <a:alpha val="15000"/>
              </a:srgbClr>
            </a:solidFill>
            <a:prstDash val="solid"/>
            <a:round/>
          </a:ln>
        </p:spPr>
        <p:txBody>
          <a:bodyPr vert="horz" wrap="square" lIns="63500" tIns="63500" rIns="63500" bIns="63500" rtlCol="0" anchor="ctr"/>
          <a:lstStyle/>
          <a:p>
            <a:pPr algn="ctr">
              <a:defRPr/>
            </a:pPr>
            <a:endParaRPr dirty="0">
              <a:latin typeface="BlueakaBeta2GBK" panose="02000700000000000000" pitchFamily="2" charset="-122"/>
              <a:ea typeface="BlueakaBeta2GBK" panose="02000700000000000000" pitchFamily="2" charset="-122"/>
            </a:endParaRPr>
          </a:p>
        </p:txBody>
      </p:sp>
      <p:pic>
        <p:nvPicPr>
          <p:cNvPr id="18" name="Picture 18"/>
          <p:cNvPicPr>
            <a:picLocks noChangeAspect="1"/>
          </p:cNvPicPr>
          <p:nvPr>
            <p:custDataLst>
              <p:tags r:id="rId6"/>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7034530" y="5016500"/>
            <a:ext cx="304800" cy="304800"/>
          </a:xfrm>
          <a:prstGeom prst="rect">
            <a:avLst/>
          </a:prstGeom>
        </p:spPr>
      </p:pic>
      <p:sp>
        <p:nvSpPr>
          <p:cNvPr id="19" name="AutoShape 19"/>
          <p:cNvSpPr/>
          <p:nvPr>
            <p:custDataLst>
              <p:tags r:id="rId7"/>
            </p:custDataLst>
          </p:nvPr>
        </p:nvSpPr>
        <p:spPr>
          <a:xfrm>
            <a:off x="7479030" y="4978400"/>
            <a:ext cx="254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dirty="0" err="1">
                <a:solidFill>
                  <a:srgbClr val="2D5A27"/>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答辩日期</a:t>
            </a:r>
            <a:endParaRPr lang="en-US" sz="1100" dirty="0">
              <a:latin typeface="BlueakaBeta2GBK" panose="02000700000000000000" pitchFamily="2" charset="-122"/>
              <a:ea typeface="BlueakaBeta2GBK" panose="02000700000000000000" pitchFamily="2" charset="-122"/>
            </a:endParaRPr>
          </a:p>
        </p:txBody>
      </p:sp>
      <p:sp>
        <p:nvSpPr>
          <p:cNvPr id="20" name="AutoShape 20"/>
          <p:cNvSpPr/>
          <p:nvPr>
            <p:custDataLst>
              <p:tags r:id="rId8"/>
            </p:custDataLst>
          </p:nvPr>
        </p:nvSpPr>
        <p:spPr>
          <a:xfrm>
            <a:off x="7034530" y="5461000"/>
            <a:ext cx="2921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dirty="0">
                <a:solidFill>
                  <a:srgbClr val="525252"/>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2026年7月16日</a:t>
            </a:r>
            <a:endParaRPr lang="en-US" sz="1100" dirty="0">
              <a:latin typeface="BlueakaBeta2GBK" panose="02000700000000000000" pitchFamily="2" charset="-122"/>
              <a:ea typeface="BlueakaBeta2GBK" panose="02000700000000000000" pitchFamily="2"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414000" y="-1016000"/>
            <a:ext cx="2794000" cy="2794000"/>
          </a:xfrm>
          <a:prstGeom prst="ellipse">
            <a:avLst/>
          </a:prstGeom>
          <a:solidFill>
            <a:srgbClr val="22C55E">
              <a:alpha val="8000"/>
            </a:srgbClr>
          </a:solidFill>
          <a:ln cap="flat" cmpd="sng">
            <a:solidFill>
              <a:srgbClr val="0CAC47">
                <a:alpha val="8000"/>
              </a:srgbClr>
            </a:solidFill>
            <a:prstDash val="solid"/>
            <a:round/>
          </a:ln>
        </p:spPr>
        <p:txBody>
          <a:bodyPr vert="horz" wrap="square" lIns="63500" tIns="63500" rIns="63500" bIns="63500" rtlCol="0" anchor="ctr"/>
          <a:lstStyle/>
          <a:p>
            <a:pPr algn="ctr">
              <a:defRPr/>
            </a:pPr>
            <a:endParaRPr dirty="0">
              <a:latin typeface="BlueakaBeta2GBK" panose="02000700000000000000" pitchFamily="2" charset="-122"/>
              <a:ea typeface="BlueakaBeta2GBK" panose="02000700000000000000" pitchFamily="2" charset="-122"/>
            </a:endParaRPr>
          </a:p>
        </p:txBody>
      </p:sp>
      <p:sp>
        <p:nvSpPr>
          <p:cNvPr id="3" name="AutoShape 3"/>
          <p:cNvSpPr/>
          <p:nvPr/>
        </p:nvSpPr>
        <p:spPr>
          <a:xfrm>
            <a:off x="-762000" y="5207000"/>
            <a:ext cx="2286000" cy="2286000"/>
          </a:xfrm>
          <a:prstGeom prst="ellipse">
            <a:avLst/>
          </a:prstGeom>
          <a:solidFill>
            <a:srgbClr val="22C55E">
              <a:alpha val="8000"/>
            </a:srgbClr>
          </a:solidFill>
          <a:ln cap="flat" cmpd="sng">
            <a:solidFill>
              <a:srgbClr val="0CAC47">
                <a:alpha val="8000"/>
              </a:srgbClr>
            </a:solidFill>
            <a:prstDash val="solid"/>
            <a:round/>
          </a:ln>
        </p:spPr>
        <p:txBody>
          <a:bodyPr vert="horz" wrap="square" lIns="63500" tIns="63500" rIns="63500" bIns="63500" rtlCol="0" anchor="ctr"/>
          <a:lstStyle/>
          <a:p>
            <a:pPr algn="ctr">
              <a:defRPr/>
            </a:pPr>
            <a:endParaRPr dirty="0">
              <a:latin typeface="BlueakaBeta2GBK" panose="02000700000000000000" pitchFamily="2" charset="-122"/>
              <a:ea typeface="BlueakaBeta2GBK" panose="02000700000000000000" pitchFamily="2" charset="-122"/>
            </a:endParaRPr>
          </a:p>
        </p:txBody>
      </p:sp>
      <p:sp>
        <p:nvSpPr>
          <p:cNvPr id="4" name="AutoShape 4"/>
          <p:cNvSpPr/>
          <p:nvPr/>
        </p:nvSpPr>
        <p:spPr>
          <a:xfrm>
            <a:off x="0" y="508000"/>
            <a:ext cx="12192000" cy="1016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4000" b="1" i="0" u="none" strike="noStrike" dirty="0" err="1">
                <a:solidFill>
                  <a:srgbClr val="166534"/>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目录</a:t>
            </a:r>
            <a:endParaRPr lang="en-US" sz="1100" dirty="0">
              <a:latin typeface="BlueakaBeta2GBK" panose="02000700000000000000" pitchFamily="2" charset="-122"/>
              <a:ea typeface="BlueakaBeta2GBK" panose="02000700000000000000" pitchFamily="2" charset="-122"/>
            </a:endParaRPr>
          </a:p>
        </p:txBody>
      </p:sp>
      <p:sp>
        <p:nvSpPr>
          <p:cNvPr id="5" name="AutoShape 5"/>
          <p:cNvSpPr/>
          <p:nvPr/>
        </p:nvSpPr>
        <p:spPr>
          <a:xfrm>
            <a:off x="508000" y="1778000"/>
            <a:ext cx="3556000" cy="1460500"/>
          </a:xfrm>
          <a:prstGeom prst="roundRect">
            <a:avLst>
              <a:gd name="adj" fmla="val 0"/>
            </a:avLst>
          </a:prstGeom>
          <a:solidFill>
            <a:srgbClr val="F0FDF4">
              <a:alpha val="60000"/>
            </a:srgbClr>
          </a:solidFill>
          <a:ln cap="flat" cmpd="sng">
            <a:solidFill>
              <a:srgbClr val="C1E4CC">
                <a:alpha val="60000"/>
              </a:srgbClr>
            </a:solidFill>
            <a:prstDash val="solid"/>
            <a:round/>
          </a:ln>
        </p:spPr>
        <p:txBody>
          <a:bodyPr vert="horz" wrap="square" lIns="63500" tIns="63500" rIns="63500" bIns="63500" rtlCol="0" anchor="ctr"/>
          <a:lstStyle/>
          <a:p>
            <a:pPr algn="ctr">
              <a:defRPr/>
            </a:pPr>
            <a:endParaRPr dirty="0">
              <a:latin typeface="BlueakaBeta2GBK" panose="02000700000000000000" pitchFamily="2" charset="-122"/>
              <a:ea typeface="BlueakaBeta2GBK" panose="02000700000000000000" pitchFamily="2" charset="-122"/>
            </a:endParaRPr>
          </a:p>
        </p:txBody>
      </p:sp>
      <p:sp>
        <p:nvSpPr>
          <p:cNvPr id="6" name="AutoShape 6"/>
          <p:cNvSpPr/>
          <p:nvPr/>
        </p:nvSpPr>
        <p:spPr>
          <a:xfrm>
            <a:off x="635000" y="1968500"/>
            <a:ext cx="762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dirty="0">
                <a:solidFill>
                  <a:srgbClr val="22C55E"/>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01</a:t>
            </a:r>
            <a:endParaRPr lang="en-US" sz="1100" dirty="0">
              <a:latin typeface="BlueakaBeta2GBK" panose="02000700000000000000" pitchFamily="2" charset="-122"/>
              <a:ea typeface="BlueakaBeta2GBK" panose="02000700000000000000" pitchFamily="2" charset="-122"/>
            </a:endParaRPr>
          </a:p>
        </p:txBody>
      </p:sp>
      <p:sp>
        <p:nvSpPr>
          <p:cNvPr id="7" name="AutoShape 7"/>
          <p:cNvSpPr/>
          <p:nvPr/>
        </p:nvSpPr>
        <p:spPr>
          <a:xfrm>
            <a:off x="1460500" y="2057400"/>
            <a:ext cx="25400" cy="508000"/>
          </a:xfrm>
          <a:prstGeom prst="roundRect">
            <a:avLst>
              <a:gd name="adj" fmla="val 0"/>
            </a:avLst>
          </a:prstGeom>
          <a:solidFill>
            <a:srgbClr val="4ADE80">
              <a:alpha val="100000"/>
            </a:srgbClr>
          </a:solidFill>
          <a:ln w="25400" cap="flat" cmpd="sng">
            <a:noFill/>
            <a:prstDash val="solid"/>
            <a:round/>
          </a:ln>
        </p:spPr>
        <p:txBody>
          <a:bodyPr vert="horz" wrap="square" lIns="63500" tIns="63500" rIns="63500" bIns="63500" rtlCol="0" anchor="ctr"/>
          <a:lstStyle/>
          <a:p>
            <a:pPr algn="ctr">
              <a:defRPr/>
            </a:pPr>
            <a:endParaRPr dirty="0">
              <a:latin typeface="BlueakaBeta2GBK" panose="02000700000000000000" pitchFamily="2" charset="-122"/>
              <a:ea typeface="BlueakaBeta2GBK" panose="02000700000000000000" pitchFamily="2" charset="-122"/>
            </a:endParaRPr>
          </a:p>
        </p:txBody>
      </p:sp>
      <p:sp>
        <p:nvSpPr>
          <p:cNvPr id="8" name="AutoShape 8"/>
          <p:cNvSpPr/>
          <p:nvPr/>
        </p:nvSpPr>
        <p:spPr>
          <a:xfrm>
            <a:off x="1625600" y="1930400"/>
            <a:ext cx="24130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1" i="0" u="none" strike="noStrike" dirty="0" err="1">
                <a:solidFill>
                  <a:srgbClr val="374151"/>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需求背景</a:t>
            </a:r>
            <a:endParaRPr lang="en-US" sz="1100" dirty="0">
              <a:latin typeface="BlueakaBeta2GBK" panose="02000700000000000000" pitchFamily="2" charset="-122"/>
              <a:ea typeface="BlueakaBeta2GBK" panose="02000700000000000000" pitchFamily="2" charset="-122"/>
            </a:endParaRPr>
          </a:p>
          <a:p>
            <a:pPr marL="0" indent="0" algn="l">
              <a:lnSpc>
                <a:spcPct val="108000"/>
              </a:lnSpc>
            </a:pPr>
            <a:r>
              <a:rPr lang="en-US" sz="1300" b="0" i="0" u="none" strike="noStrike" dirty="0" err="1">
                <a:solidFill>
                  <a:srgbClr val="6B7280"/>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深挖业务痛点与市场契机，明确系统建设的核心目标与价值导向，奠定项目开发基石</a:t>
            </a:r>
            <a:r>
              <a:rPr lang="en-US" sz="1300" b="0" i="0" u="none" strike="noStrike" dirty="0">
                <a:solidFill>
                  <a:srgbClr val="6B7280"/>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a:t>
            </a:r>
          </a:p>
        </p:txBody>
      </p:sp>
      <p:sp>
        <p:nvSpPr>
          <p:cNvPr id="9" name="AutoShape 9"/>
          <p:cNvSpPr/>
          <p:nvPr/>
        </p:nvSpPr>
        <p:spPr>
          <a:xfrm>
            <a:off x="508000" y="3403600"/>
            <a:ext cx="3556000" cy="1460500"/>
          </a:xfrm>
          <a:prstGeom prst="roundRect">
            <a:avLst>
              <a:gd name="adj" fmla="val 0"/>
            </a:avLst>
          </a:prstGeom>
          <a:solidFill>
            <a:srgbClr val="F0FDF4">
              <a:alpha val="60000"/>
            </a:srgbClr>
          </a:solidFill>
          <a:ln cap="flat" cmpd="sng">
            <a:solidFill>
              <a:srgbClr val="C1E4CC">
                <a:alpha val="60000"/>
              </a:srgbClr>
            </a:solidFill>
            <a:prstDash val="solid"/>
            <a:round/>
          </a:ln>
        </p:spPr>
        <p:txBody>
          <a:bodyPr vert="horz" wrap="square" lIns="63500" tIns="63500" rIns="63500" bIns="63500" rtlCol="0" anchor="ctr"/>
          <a:lstStyle/>
          <a:p>
            <a:pPr algn="ctr">
              <a:defRPr/>
            </a:pPr>
            <a:endParaRPr dirty="0">
              <a:latin typeface="BlueakaBeta2GBK" panose="02000700000000000000" pitchFamily="2" charset="-122"/>
              <a:ea typeface="BlueakaBeta2GBK" panose="02000700000000000000" pitchFamily="2" charset="-122"/>
            </a:endParaRPr>
          </a:p>
        </p:txBody>
      </p:sp>
      <p:sp>
        <p:nvSpPr>
          <p:cNvPr id="10" name="AutoShape 10"/>
          <p:cNvSpPr/>
          <p:nvPr/>
        </p:nvSpPr>
        <p:spPr>
          <a:xfrm>
            <a:off x="635000" y="3594100"/>
            <a:ext cx="762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dirty="0">
                <a:solidFill>
                  <a:srgbClr val="22C55E"/>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02</a:t>
            </a:r>
            <a:endParaRPr lang="en-US" sz="1100" dirty="0">
              <a:latin typeface="BlueakaBeta2GBK" panose="02000700000000000000" pitchFamily="2" charset="-122"/>
              <a:ea typeface="BlueakaBeta2GBK" panose="02000700000000000000" pitchFamily="2" charset="-122"/>
            </a:endParaRPr>
          </a:p>
        </p:txBody>
      </p:sp>
      <p:sp>
        <p:nvSpPr>
          <p:cNvPr id="11" name="AutoShape 11"/>
          <p:cNvSpPr/>
          <p:nvPr/>
        </p:nvSpPr>
        <p:spPr>
          <a:xfrm>
            <a:off x="1460500" y="3683000"/>
            <a:ext cx="25400" cy="508000"/>
          </a:xfrm>
          <a:prstGeom prst="roundRect">
            <a:avLst>
              <a:gd name="adj" fmla="val 0"/>
            </a:avLst>
          </a:prstGeom>
          <a:solidFill>
            <a:srgbClr val="4ADE80">
              <a:alpha val="100000"/>
            </a:srgbClr>
          </a:solidFill>
          <a:ln w="25400" cap="flat" cmpd="sng">
            <a:noFill/>
            <a:prstDash val="solid"/>
            <a:round/>
          </a:ln>
        </p:spPr>
        <p:txBody>
          <a:bodyPr vert="horz" wrap="square" lIns="63500" tIns="63500" rIns="63500" bIns="63500" rtlCol="0" anchor="ctr"/>
          <a:lstStyle/>
          <a:p>
            <a:pPr algn="ctr">
              <a:defRPr/>
            </a:pPr>
            <a:endParaRPr dirty="0">
              <a:latin typeface="BlueakaBeta2GBK" panose="02000700000000000000" pitchFamily="2" charset="-122"/>
              <a:ea typeface="BlueakaBeta2GBK" panose="02000700000000000000" pitchFamily="2" charset="-122"/>
            </a:endParaRPr>
          </a:p>
        </p:txBody>
      </p:sp>
      <p:sp>
        <p:nvSpPr>
          <p:cNvPr id="12" name="AutoShape 12"/>
          <p:cNvSpPr/>
          <p:nvPr/>
        </p:nvSpPr>
        <p:spPr>
          <a:xfrm>
            <a:off x="1625600" y="3556000"/>
            <a:ext cx="24130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1" i="0" u="none" strike="noStrike" dirty="0" err="1">
                <a:solidFill>
                  <a:srgbClr val="374151"/>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系统功能</a:t>
            </a:r>
            <a:endParaRPr lang="en-US" sz="1100" dirty="0">
              <a:latin typeface="BlueakaBeta2GBK" panose="02000700000000000000" pitchFamily="2" charset="-122"/>
              <a:ea typeface="BlueakaBeta2GBK" panose="02000700000000000000" pitchFamily="2" charset="-122"/>
            </a:endParaRPr>
          </a:p>
          <a:p>
            <a:pPr marL="0" indent="0" algn="l">
              <a:lnSpc>
                <a:spcPct val="108000"/>
              </a:lnSpc>
            </a:pPr>
            <a:r>
              <a:rPr lang="en-US" sz="1300" b="0" i="0" u="none" strike="noStrike" dirty="0" err="1">
                <a:solidFill>
                  <a:srgbClr val="6B7280"/>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全景展示核心功能模块与业务流程，涵盖用户交互、数据处理与管理端的核心能力</a:t>
            </a:r>
            <a:r>
              <a:rPr lang="en-US" sz="1300" b="0" i="0" u="none" strike="noStrike" dirty="0">
                <a:solidFill>
                  <a:srgbClr val="6B7280"/>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a:t>
            </a:r>
          </a:p>
        </p:txBody>
      </p:sp>
      <p:sp>
        <p:nvSpPr>
          <p:cNvPr id="13" name="AutoShape 13"/>
          <p:cNvSpPr/>
          <p:nvPr/>
        </p:nvSpPr>
        <p:spPr>
          <a:xfrm>
            <a:off x="508000" y="5029200"/>
            <a:ext cx="3556000" cy="1460500"/>
          </a:xfrm>
          <a:prstGeom prst="roundRect">
            <a:avLst>
              <a:gd name="adj" fmla="val 0"/>
            </a:avLst>
          </a:prstGeom>
          <a:solidFill>
            <a:srgbClr val="F0FDF4">
              <a:alpha val="60000"/>
            </a:srgbClr>
          </a:solidFill>
          <a:ln cap="flat" cmpd="sng">
            <a:solidFill>
              <a:srgbClr val="C1E4CC">
                <a:alpha val="60000"/>
              </a:srgbClr>
            </a:solidFill>
            <a:prstDash val="solid"/>
            <a:round/>
          </a:ln>
        </p:spPr>
        <p:txBody>
          <a:bodyPr vert="horz" wrap="square" lIns="63500" tIns="63500" rIns="63500" bIns="63500" rtlCol="0" anchor="ctr"/>
          <a:lstStyle/>
          <a:p>
            <a:pPr algn="ctr">
              <a:defRPr/>
            </a:pPr>
            <a:endParaRPr dirty="0">
              <a:latin typeface="BlueakaBeta2GBK" panose="02000700000000000000" pitchFamily="2" charset="-122"/>
              <a:ea typeface="BlueakaBeta2GBK" panose="02000700000000000000" pitchFamily="2" charset="-122"/>
            </a:endParaRPr>
          </a:p>
        </p:txBody>
      </p:sp>
      <p:sp>
        <p:nvSpPr>
          <p:cNvPr id="14" name="AutoShape 14"/>
          <p:cNvSpPr/>
          <p:nvPr/>
        </p:nvSpPr>
        <p:spPr>
          <a:xfrm>
            <a:off x="635000" y="5219700"/>
            <a:ext cx="762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dirty="0">
                <a:solidFill>
                  <a:srgbClr val="22C55E"/>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03</a:t>
            </a:r>
            <a:endParaRPr lang="en-US" sz="1100" dirty="0">
              <a:latin typeface="BlueakaBeta2GBK" panose="02000700000000000000" pitchFamily="2" charset="-122"/>
              <a:ea typeface="BlueakaBeta2GBK" panose="02000700000000000000" pitchFamily="2" charset="-122"/>
            </a:endParaRPr>
          </a:p>
        </p:txBody>
      </p:sp>
      <p:sp>
        <p:nvSpPr>
          <p:cNvPr id="15" name="AutoShape 15"/>
          <p:cNvSpPr/>
          <p:nvPr/>
        </p:nvSpPr>
        <p:spPr>
          <a:xfrm>
            <a:off x="1460500" y="5308600"/>
            <a:ext cx="25400" cy="508000"/>
          </a:xfrm>
          <a:prstGeom prst="roundRect">
            <a:avLst>
              <a:gd name="adj" fmla="val 0"/>
            </a:avLst>
          </a:prstGeom>
          <a:solidFill>
            <a:srgbClr val="4ADE80">
              <a:alpha val="100000"/>
            </a:srgbClr>
          </a:solidFill>
          <a:ln w="25400" cap="flat" cmpd="sng">
            <a:noFill/>
            <a:prstDash val="solid"/>
            <a:round/>
          </a:ln>
        </p:spPr>
        <p:txBody>
          <a:bodyPr vert="horz" wrap="square" lIns="63500" tIns="63500" rIns="63500" bIns="63500" rtlCol="0" anchor="ctr"/>
          <a:lstStyle/>
          <a:p>
            <a:pPr algn="ctr">
              <a:defRPr/>
            </a:pPr>
            <a:endParaRPr dirty="0">
              <a:latin typeface="BlueakaBeta2GBK" panose="02000700000000000000" pitchFamily="2" charset="-122"/>
              <a:ea typeface="BlueakaBeta2GBK" panose="02000700000000000000" pitchFamily="2" charset="-122"/>
            </a:endParaRPr>
          </a:p>
        </p:txBody>
      </p:sp>
      <p:sp>
        <p:nvSpPr>
          <p:cNvPr id="16" name="AutoShape 16"/>
          <p:cNvSpPr/>
          <p:nvPr/>
        </p:nvSpPr>
        <p:spPr>
          <a:xfrm>
            <a:off x="1625600" y="5181600"/>
            <a:ext cx="24130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1" i="0" u="none" strike="noStrike" dirty="0" err="1">
                <a:solidFill>
                  <a:srgbClr val="374151"/>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设计步骤</a:t>
            </a:r>
            <a:endParaRPr lang="en-US" sz="1100" dirty="0">
              <a:latin typeface="BlueakaBeta2GBK" panose="02000700000000000000" pitchFamily="2" charset="-122"/>
              <a:ea typeface="BlueakaBeta2GBK" panose="02000700000000000000" pitchFamily="2" charset="-122"/>
            </a:endParaRPr>
          </a:p>
          <a:p>
            <a:pPr marL="0" indent="0" algn="l">
              <a:lnSpc>
                <a:spcPct val="108000"/>
              </a:lnSpc>
            </a:pPr>
            <a:r>
              <a:rPr lang="en-US" sz="1300" b="0" i="0" u="none" strike="noStrike" dirty="0" err="1">
                <a:solidFill>
                  <a:srgbClr val="6B7280"/>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详解从需求分析到架构设计的全流程，解析系统架构选型与模块化设计的关键逻辑</a:t>
            </a:r>
            <a:r>
              <a:rPr lang="en-US" sz="1300" b="0" i="0" u="none" strike="noStrike" dirty="0">
                <a:solidFill>
                  <a:srgbClr val="6B7280"/>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a:t>
            </a:r>
          </a:p>
        </p:txBody>
      </p:sp>
      <p:sp>
        <p:nvSpPr>
          <p:cNvPr id="17" name="AutoShape 17"/>
          <p:cNvSpPr/>
          <p:nvPr/>
        </p:nvSpPr>
        <p:spPr>
          <a:xfrm>
            <a:off x="4318000" y="1778000"/>
            <a:ext cx="3556000" cy="1460500"/>
          </a:xfrm>
          <a:prstGeom prst="roundRect">
            <a:avLst>
              <a:gd name="adj" fmla="val 0"/>
            </a:avLst>
          </a:prstGeom>
          <a:solidFill>
            <a:srgbClr val="F0FDF4">
              <a:alpha val="60000"/>
            </a:srgbClr>
          </a:solidFill>
          <a:ln cap="flat" cmpd="sng">
            <a:solidFill>
              <a:srgbClr val="C1E4CC">
                <a:alpha val="60000"/>
              </a:srgbClr>
            </a:solidFill>
            <a:prstDash val="solid"/>
            <a:round/>
          </a:ln>
        </p:spPr>
        <p:txBody>
          <a:bodyPr vert="horz" wrap="square" lIns="63500" tIns="63500" rIns="63500" bIns="63500" rtlCol="0" anchor="ctr"/>
          <a:lstStyle/>
          <a:p>
            <a:pPr algn="ctr">
              <a:defRPr/>
            </a:pPr>
            <a:endParaRPr dirty="0">
              <a:latin typeface="BlueakaBeta2GBK" panose="02000700000000000000" pitchFamily="2" charset="-122"/>
              <a:ea typeface="BlueakaBeta2GBK" panose="02000700000000000000" pitchFamily="2" charset="-122"/>
            </a:endParaRPr>
          </a:p>
        </p:txBody>
      </p:sp>
      <p:sp>
        <p:nvSpPr>
          <p:cNvPr id="18" name="AutoShape 18"/>
          <p:cNvSpPr/>
          <p:nvPr/>
        </p:nvSpPr>
        <p:spPr>
          <a:xfrm>
            <a:off x="4445000" y="1968500"/>
            <a:ext cx="762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dirty="0">
                <a:solidFill>
                  <a:srgbClr val="22C55E"/>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04</a:t>
            </a:r>
            <a:endParaRPr lang="en-US" sz="1100" dirty="0">
              <a:latin typeface="BlueakaBeta2GBK" panose="02000700000000000000" pitchFamily="2" charset="-122"/>
              <a:ea typeface="BlueakaBeta2GBK" panose="02000700000000000000" pitchFamily="2" charset="-122"/>
            </a:endParaRPr>
          </a:p>
        </p:txBody>
      </p:sp>
      <p:sp>
        <p:nvSpPr>
          <p:cNvPr id="19" name="AutoShape 19"/>
          <p:cNvSpPr/>
          <p:nvPr/>
        </p:nvSpPr>
        <p:spPr>
          <a:xfrm>
            <a:off x="5270500" y="2057400"/>
            <a:ext cx="25400" cy="508000"/>
          </a:xfrm>
          <a:prstGeom prst="roundRect">
            <a:avLst>
              <a:gd name="adj" fmla="val 0"/>
            </a:avLst>
          </a:prstGeom>
          <a:solidFill>
            <a:srgbClr val="4ADE80">
              <a:alpha val="100000"/>
            </a:srgbClr>
          </a:solidFill>
          <a:ln w="25400" cap="flat" cmpd="sng">
            <a:noFill/>
            <a:prstDash val="solid"/>
            <a:round/>
          </a:ln>
        </p:spPr>
        <p:txBody>
          <a:bodyPr vert="horz" wrap="square" lIns="63500" tIns="63500" rIns="63500" bIns="63500" rtlCol="0" anchor="ctr"/>
          <a:lstStyle/>
          <a:p>
            <a:pPr algn="ctr">
              <a:defRPr/>
            </a:pPr>
            <a:endParaRPr dirty="0">
              <a:latin typeface="BlueakaBeta2GBK" panose="02000700000000000000" pitchFamily="2" charset="-122"/>
              <a:ea typeface="BlueakaBeta2GBK" panose="02000700000000000000" pitchFamily="2" charset="-122"/>
            </a:endParaRPr>
          </a:p>
        </p:txBody>
      </p:sp>
      <p:sp>
        <p:nvSpPr>
          <p:cNvPr id="20" name="AutoShape 20"/>
          <p:cNvSpPr/>
          <p:nvPr/>
        </p:nvSpPr>
        <p:spPr>
          <a:xfrm>
            <a:off x="5435600" y="1930400"/>
            <a:ext cx="24130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1" i="0" u="none" strike="noStrike" dirty="0" err="1">
                <a:solidFill>
                  <a:srgbClr val="374151"/>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数据结构</a:t>
            </a:r>
            <a:endParaRPr lang="en-US" sz="1100" dirty="0">
              <a:latin typeface="BlueakaBeta2GBK" panose="02000700000000000000" pitchFamily="2" charset="-122"/>
              <a:ea typeface="BlueakaBeta2GBK" panose="02000700000000000000" pitchFamily="2" charset="-122"/>
            </a:endParaRPr>
          </a:p>
          <a:p>
            <a:pPr marL="0" indent="0" algn="l">
              <a:lnSpc>
                <a:spcPct val="108000"/>
              </a:lnSpc>
            </a:pPr>
            <a:r>
              <a:rPr lang="en-US" sz="1300" b="0" i="0" u="none" strike="noStrike" dirty="0" err="1">
                <a:solidFill>
                  <a:srgbClr val="6B7280"/>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剖析数据库表结构设计与数据流转模型，保障数据存储的高效性、一致性与可扩展性</a:t>
            </a:r>
            <a:r>
              <a:rPr lang="en-US" sz="1300" b="0" i="0" u="none" strike="noStrike" dirty="0">
                <a:solidFill>
                  <a:srgbClr val="6B7280"/>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a:t>
            </a:r>
          </a:p>
        </p:txBody>
      </p:sp>
      <p:sp>
        <p:nvSpPr>
          <p:cNvPr id="21" name="AutoShape 21"/>
          <p:cNvSpPr/>
          <p:nvPr/>
        </p:nvSpPr>
        <p:spPr>
          <a:xfrm>
            <a:off x="4318000" y="3403600"/>
            <a:ext cx="3556000" cy="1460500"/>
          </a:xfrm>
          <a:prstGeom prst="roundRect">
            <a:avLst>
              <a:gd name="adj" fmla="val 0"/>
            </a:avLst>
          </a:prstGeom>
          <a:solidFill>
            <a:srgbClr val="F0FDF4">
              <a:alpha val="60000"/>
            </a:srgbClr>
          </a:solidFill>
          <a:ln cap="flat" cmpd="sng">
            <a:solidFill>
              <a:srgbClr val="C1E4CC">
                <a:alpha val="60000"/>
              </a:srgbClr>
            </a:solidFill>
            <a:prstDash val="solid"/>
            <a:round/>
          </a:ln>
        </p:spPr>
        <p:txBody>
          <a:bodyPr vert="horz" wrap="square" lIns="63500" tIns="63500" rIns="63500" bIns="63500" rtlCol="0" anchor="ctr"/>
          <a:lstStyle/>
          <a:p>
            <a:pPr algn="ctr">
              <a:defRPr/>
            </a:pPr>
            <a:endParaRPr dirty="0">
              <a:latin typeface="BlueakaBeta2GBK" panose="02000700000000000000" pitchFamily="2" charset="-122"/>
              <a:ea typeface="BlueakaBeta2GBK" panose="02000700000000000000" pitchFamily="2" charset="-122"/>
            </a:endParaRPr>
          </a:p>
        </p:txBody>
      </p:sp>
      <p:sp>
        <p:nvSpPr>
          <p:cNvPr id="22" name="AutoShape 22"/>
          <p:cNvSpPr/>
          <p:nvPr/>
        </p:nvSpPr>
        <p:spPr>
          <a:xfrm>
            <a:off x="4445000" y="3594100"/>
            <a:ext cx="762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dirty="0">
                <a:solidFill>
                  <a:srgbClr val="22C55E"/>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05</a:t>
            </a:r>
            <a:endParaRPr lang="en-US" sz="1100" dirty="0">
              <a:latin typeface="BlueakaBeta2GBK" panose="02000700000000000000" pitchFamily="2" charset="-122"/>
              <a:ea typeface="BlueakaBeta2GBK" panose="02000700000000000000" pitchFamily="2" charset="-122"/>
            </a:endParaRPr>
          </a:p>
        </p:txBody>
      </p:sp>
      <p:sp>
        <p:nvSpPr>
          <p:cNvPr id="23" name="AutoShape 23"/>
          <p:cNvSpPr/>
          <p:nvPr/>
        </p:nvSpPr>
        <p:spPr>
          <a:xfrm>
            <a:off x="5270500" y="3683000"/>
            <a:ext cx="25400" cy="508000"/>
          </a:xfrm>
          <a:prstGeom prst="roundRect">
            <a:avLst>
              <a:gd name="adj" fmla="val 0"/>
            </a:avLst>
          </a:prstGeom>
          <a:solidFill>
            <a:srgbClr val="4ADE80">
              <a:alpha val="100000"/>
            </a:srgbClr>
          </a:solidFill>
          <a:ln w="25400" cap="flat" cmpd="sng">
            <a:noFill/>
            <a:prstDash val="solid"/>
            <a:round/>
          </a:ln>
        </p:spPr>
        <p:txBody>
          <a:bodyPr vert="horz" wrap="square" lIns="63500" tIns="63500" rIns="63500" bIns="63500" rtlCol="0" anchor="ctr"/>
          <a:lstStyle/>
          <a:p>
            <a:pPr algn="ctr">
              <a:defRPr/>
            </a:pPr>
            <a:endParaRPr dirty="0">
              <a:latin typeface="BlueakaBeta2GBK" panose="02000700000000000000" pitchFamily="2" charset="-122"/>
              <a:ea typeface="BlueakaBeta2GBK" panose="02000700000000000000" pitchFamily="2" charset="-122"/>
            </a:endParaRPr>
          </a:p>
        </p:txBody>
      </p:sp>
      <p:sp>
        <p:nvSpPr>
          <p:cNvPr id="24" name="AutoShape 24"/>
          <p:cNvSpPr/>
          <p:nvPr/>
        </p:nvSpPr>
        <p:spPr>
          <a:xfrm>
            <a:off x="5435600" y="3556000"/>
            <a:ext cx="24130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1" i="0" u="none" strike="noStrike" dirty="0" err="1">
                <a:solidFill>
                  <a:srgbClr val="374151"/>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核心算法</a:t>
            </a:r>
            <a:endParaRPr lang="en-US" sz="1100" dirty="0">
              <a:latin typeface="BlueakaBeta2GBK" panose="02000700000000000000" pitchFamily="2" charset="-122"/>
              <a:ea typeface="BlueakaBeta2GBK" panose="02000700000000000000" pitchFamily="2" charset="-122"/>
            </a:endParaRPr>
          </a:p>
          <a:p>
            <a:pPr marL="0" indent="0" algn="l">
              <a:lnSpc>
                <a:spcPct val="108000"/>
              </a:lnSpc>
            </a:pPr>
            <a:r>
              <a:rPr lang="en-US" sz="1300" b="0" i="0" u="none" strike="noStrike" dirty="0" err="1">
                <a:solidFill>
                  <a:srgbClr val="6B7280"/>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深度解析系统关键算法逻辑，聚焦性能优化与业务规则实现的技术细节与创新点</a:t>
            </a:r>
            <a:r>
              <a:rPr lang="en-US" sz="1300" b="0" i="0" u="none" strike="noStrike" dirty="0">
                <a:solidFill>
                  <a:srgbClr val="6B7280"/>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a:t>
            </a:r>
          </a:p>
        </p:txBody>
      </p:sp>
      <p:sp>
        <p:nvSpPr>
          <p:cNvPr id="25" name="AutoShape 25"/>
          <p:cNvSpPr/>
          <p:nvPr/>
        </p:nvSpPr>
        <p:spPr>
          <a:xfrm>
            <a:off x="4318000" y="5029200"/>
            <a:ext cx="3556000" cy="1460500"/>
          </a:xfrm>
          <a:prstGeom prst="roundRect">
            <a:avLst>
              <a:gd name="adj" fmla="val 0"/>
            </a:avLst>
          </a:prstGeom>
          <a:solidFill>
            <a:srgbClr val="F0FDF4">
              <a:alpha val="60000"/>
            </a:srgbClr>
          </a:solidFill>
          <a:ln cap="flat" cmpd="sng">
            <a:solidFill>
              <a:srgbClr val="C1E4CC">
                <a:alpha val="60000"/>
              </a:srgbClr>
            </a:solidFill>
            <a:prstDash val="solid"/>
            <a:round/>
          </a:ln>
        </p:spPr>
        <p:txBody>
          <a:bodyPr vert="horz" wrap="square" lIns="63500" tIns="63500" rIns="63500" bIns="63500" rtlCol="0" anchor="ctr"/>
          <a:lstStyle/>
          <a:p>
            <a:pPr algn="ctr">
              <a:defRPr/>
            </a:pPr>
            <a:endParaRPr dirty="0">
              <a:latin typeface="BlueakaBeta2GBK" panose="02000700000000000000" pitchFamily="2" charset="-122"/>
              <a:ea typeface="BlueakaBeta2GBK" panose="02000700000000000000" pitchFamily="2" charset="-122"/>
            </a:endParaRPr>
          </a:p>
        </p:txBody>
      </p:sp>
      <p:sp>
        <p:nvSpPr>
          <p:cNvPr id="26" name="AutoShape 26"/>
          <p:cNvSpPr/>
          <p:nvPr/>
        </p:nvSpPr>
        <p:spPr>
          <a:xfrm>
            <a:off x="4445000" y="5219700"/>
            <a:ext cx="762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dirty="0">
                <a:solidFill>
                  <a:srgbClr val="22C55E"/>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06</a:t>
            </a:r>
            <a:endParaRPr lang="en-US" sz="1100" dirty="0">
              <a:latin typeface="BlueakaBeta2GBK" panose="02000700000000000000" pitchFamily="2" charset="-122"/>
              <a:ea typeface="BlueakaBeta2GBK" panose="02000700000000000000" pitchFamily="2" charset="-122"/>
            </a:endParaRPr>
          </a:p>
        </p:txBody>
      </p:sp>
      <p:sp>
        <p:nvSpPr>
          <p:cNvPr id="27" name="AutoShape 27"/>
          <p:cNvSpPr/>
          <p:nvPr/>
        </p:nvSpPr>
        <p:spPr>
          <a:xfrm>
            <a:off x="5270500" y="5308600"/>
            <a:ext cx="25400" cy="508000"/>
          </a:xfrm>
          <a:prstGeom prst="roundRect">
            <a:avLst>
              <a:gd name="adj" fmla="val 0"/>
            </a:avLst>
          </a:prstGeom>
          <a:solidFill>
            <a:srgbClr val="4ADE80">
              <a:alpha val="100000"/>
            </a:srgbClr>
          </a:solidFill>
          <a:ln w="25400" cap="flat" cmpd="sng">
            <a:noFill/>
            <a:prstDash val="solid"/>
            <a:round/>
          </a:ln>
        </p:spPr>
        <p:txBody>
          <a:bodyPr vert="horz" wrap="square" lIns="63500" tIns="63500" rIns="63500" bIns="63500" rtlCol="0" anchor="ctr"/>
          <a:lstStyle/>
          <a:p>
            <a:pPr algn="ctr">
              <a:defRPr/>
            </a:pPr>
            <a:endParaRPr dirty="0">
              <a:latin typeface="BlueakaBeta2GBK" panose="02000700000000000000" pitchFamily="2" charset="-122"/>
              <a:ea typeface="BlueakaBeta2GBK" panose="02000700000000000000" pitchFamily="2" charset="-122"/>
            </a:endParaRPr>
          </a:p>
        </p:txBody>
      </p:sp>
      <p:sp>
        <p:nvSpPr>
          <p:cNvPr id="28" name="AutoShape 28"/>
          <p:cNvSpPr/>
          <p:nvPr/>
        </p:nvSpPr>
        <p:spPr>
          <a:xfrm>
            <a:off x="5435600" y="5181600"/>
            <a:ext cx="24130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1" i="0" u="none" strike="noStrike" dirty="0" err="1">
                <a:solidFill>
                  <a:srgbClr val="374151"/>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技术亮点</a:t>
            </a:r>
            <a:endParaRPr lang="en-US" sz="1100" dirty="0">
              <a:latin typeface="BlueakaBeta2GBK" panose="02000700000000000000" pitchFamily="2" charset="-122"/>
              <a:ea typeface="BlueakaBeta2GBK" panose="02000700000000000000" pitchFamily="2" charset="-122"/>
            </a:endParaRPr>
          </a:p>
          <a:p>
            <a:pPr marL="0" indent="0" algn="l">
              <a:lnSpc>
                <a:spcPct val="108000"/>
              </a:lnSpc>
            </a:pPr>
            <a:r>
              <a:rPr lang="en-US" sz="1300" b="0" i="0" u="none" strike="noStrike" dirty="0" err="1">
                <a:solidFill>
                  <a:srgbClr val="6B7280"/>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盘点系统架构中的技术创新与突破，详解高并发、高可用与微服务架构的落地实践</a:t>
            </a:r>
            <a:r>
              <a:rPr lang="en-US" sz="1300" b="0" i="0" u="none" strike="noStrike" dirty="0">
                <a:solidFill>
                  <a:srgbClr val="6B7280"/>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a:t>
            </a:r>
          </a:p>
        </p:txBody>
      </p:sp>
      <p:sp>
        <p:nvSpPr>
          <p:cNvPr id="29" name="AutoShape 29"/>
          <p:cNvSpPr/>
          <p:nvPr/>
        </p:nvSpPr>
        <p:spPr>
          <a:xfrm>
            <a:off x="8128000" y="1778000"/>
            <a:ext cx="3556000" cy="1460500"/>
          </a:xfrm>
          <a:prstGeom prst="roundRect">
            <a:avLst>
              <a:gd name="adj" fmla="val 0"/>
            </a:avLst>
          </a:prstGeom>
          <a:solidFill>
            <a:srgbClr val="F0FDF4">
              <a:alpha val="60000"/>
            </a:srgbClr>
          </a:solidFill>
          <a:ln cap="flat" cmpd="sng">
            <a:solidFill>
              <a:srgbClr val="C1E4CC">
                <a:alpha val="60000"/>
              </a:srgbClr>
            </a:solidFill>
            <a:prstDash val="solid"/>
            <a:round/>
          </a:ln>
        </p:spPr>
        <p:txBody>
          <a:bodyPr vert="horz" wrap="square" lIns="63500" tIns="63500" rIns="63500" bIns="63500" rtlCol="0" anchor="ctr"/>
          <a:lstStyle/>
          <a:p>
            <a:pPr algn="ctr">
              <a:defRPr/>
            </a:pPr>
            <a:endParaRPr dirty="0">
              <a:latin typeface="BlueakaBeta2GBK" panose="02000700000000000000" pitchFamily="2" charset="-122"/>
              <a:ea typeface="BlueakaBeta2GBK" panose="02000700000000000000" pitchFamily="2" charset="-122"/>
            </a:endParaRPr>
          </a:p>
        </p:txBody>
      </p:sp>
      <p:sp>
        <p:nvSpPr>
          <p:cNvPr id="30" name="AutoShape 30"/>
          <p:cNvSpPr/>
          <p:nvPr/>
        </p:nvSpPr>
        <p:spPr>
          <a:xfrm>
            <a:off x="8255000" y="1968500"/>
            <a:ext cx="762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dirty="0">
                <a:solidFill>
                  <a:srgbClr val="22C55E"/>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07</a:t>
            </a:r>
            <a:endParaRPr lang="en-US" sz="1100" dirty="0">
              <a:latin typeface="BlueakaBeta2GBK" panose="02000700000000000000" pitchFamily="2" charset="-122"/>
              <a:ea typeface="BlueakaBeta2GBK" panose="02000700000000000000" pitchFamily="2" charset="-122"/>
            </a:endParaRPr>
          </a:p>
        </p:txBody>
      </p:sp>
      <p:sp>
        <p:nvSpPr>
          <p:cNvPr id="31" name="AutoShape 31"/>
          <p:cNvSpPr/>
          <p:nvPr/>
        </p:nvSpPr>
        <p:spPr>
          <a:xfrm>
            <a:off x="9080500" y="2057400"/>
            <a:ext cx="25400" cy="508000"/>
          </a:xfrm>
          <a:prstGeom prst="roundRect">
            <a:avLst>
              <a:gd name="adj" fmla="val 0"/>
            </a:avLst>
          </a:prstGeom>
          <a:solidFill>
            <a:srgbClr val="4ADE80">
              <a:alpha val="100000"/>
            </a:srgbClr>
          </a:solidFill>
          <a:ln w="25400" cap="flat" cmpd="sng">
            <a:noFill/>
            <a:prstDash val="solid"/>
            <a:round/>
          </a:ln>
        </p:spPr>
        <p:txBody>
          <a:bodyPr vert="horz" wrap="square" lIns="63500" tIns="63500" rIns="63500" bIns="63500" rtlCol="0" anchor="ctr"/>
          <a:lstStyle/>
          <a:p>
            <a:pPr algn="ctr">
              <a:defRPr/>
            </a:pPr>
            <a:endParaRPr dirty="0">
              <a:latin typeface="BlueakaBeta2GBK" panose="02000700000000000000" pitchFamily="2" charset="-122"/>
              <a:ea typeface="BlueakaBeta2GBK" panose="02000700000000000000" pitchFamily="2" charset="-122"/>
            </a:endParaRPr>
          </a:p>
        </p:txBody>
      </p:sp>
      <p:sp>
        <p:nvSpPr>
          <p:cNvPr id="32" name="AutoShape 32"/>
          <p:cNvSpPr/>
          <p:nvPr/>
        </p:nvSpPr>
        <p:spPr>
          <a:xfrm>
            <a:off x="9245600" y="1930400"/>
            <a:ext cx="24130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1" i="0" u="none" strike="noStrike" dirty="0" err="1">
                <a:solidFill>
                  <a:srgbClr val="374151"/>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成果展示</a:t>
            </a:r>
            <a:endParaRPr lang="en-US" sz="1100" dirty="0">
              <a:latin typeface="BlueakaBeta2GBK" panose="02000700000000000000" pitchFamily="2" charset="-122"/>
              <a:ea typeface="BlueakaBeta2GBK" panose="02000700000000000000" pitchFamily="2" charset="-122"/>
            </a:endParaRPr>
          </a:p>
          <a:p>
            <a:pPr marL="0" indent="0" algn="l">
              <a:lnSpc>
                <a:spcPct val="108000"/>
              </a:lnSpc>
            </a:pPr>
            <a:r>
              <a:rPr lang="en-US" sz="1300" b="0" i="0" u="none" strike="noStrike" dirty="0" err="1">
                <a:solidFill>
                  <a:srgbClr val="6B7280"/>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直观呈现系统建设成果与关键指标，展示功能交付、性能提升与业务价值的量化收益</a:t>
            </a:r>
            <a:r>
              <a:rPr lang="en-US" sz="1300" b="0" i="0" u="none" strike="noStrike" dirty="0">
                <a:solidFill>
                  <a:srgbClr val="6B7280"/>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a:t>
            </a:r>
          </a:p>
        </p:txBody>
      </p:sp>
      <p:sp>
        <p:nvSpPr>
          <p:cNvPr id="33" name="AutoShape 33"/>
          <p:cNvSpPr/>
          <p:nvPr/>
        </p:nvSpPr>
        <p:spPr>
          <a:xfrm>
            <a:off x="8128000" y="3403600"/>
            <a:ext cx="3556000" cy="1460500"/>
          </a:xfrm>
          <a:prstGeom prst="roundRect">
            <a:avLst>
              <a:gd name="adj" fmla="val 0"/>
            </a:avLst>
          </a:prstGeom>
          <a:solidFill>
            <a:srgbClr val="F0FDF4">
              <a:alpha val="60000"/>
            </a:srgbClr>
          </a:solidFill>
          <a:ln cap="flat" cmpd="sng">
            <a:solidFill>
              <a:srgbClr val="C1E4CC">
                <a:alpha val="60000"/>
              </a:srgbClr>
            </a:solidFill>
            <a:prstDash val="solid"/>
            <a:round/>
          </a:ln>
        </p:spPr>
        <p:txBody>
          <a:bodyPr vert="horz" wrap="square" lIns="63500" tIns="63500" rIns="63500" bIns="63500" rtlCol="0" anchor="ctr"/>
          <a:lstStyle/>
          <a:p>
            <a:pPr algn="ctr">
              <a:defRPr/>
            </a:pPr>
            <a:endParaRPr dirty="0">
              <a:latin typeface="BlueakaBeta2GBK" panose="02000700000000000000" pitchFamily="2" charset="-122"/>
              <a:ea typeface="BlueakaBeta2GBK" panose="02000700000000000000" pitchFamily="2" charset="-122"/>
            </a:endParaRPr>
          </a:p>
        </p:txBody>
      </p:sp>
      <p:sp>
        <p:nvSpPr>
          <p:cNvPr id="34" name="AutoShape 34"/>
          <p:cNvSpPr/>
          <p:nvPr/>
        </p:nvSpPr>
        <p:spPr>
          <a:xfrm>
            <a:off x="8255000" y="3594100"/>
            <a:ext cx="762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dirty="0">
                <a:solidFill>
                  <a:srgbClr val="22C55E"/>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08</a:t>
            </a:r>
            <a:endParaRPr lang="en-US" sz="1100" dirty="0">
              <a:latin typeface="BlueakaBeta2GBK" panose="02000700000000000000" pitchFamily="2" charset="-122"/>
              <a:ea typeface="BlueakaBeta2GBK" panose="02000700000000000000" pitchFamily="2" charset="-122"/>
            </a:endParaRPr>
          </a:p>
        </p:txBody>
      </p:sp>
      <p:sp>
        <p:nvSpPr>
          <p:cNvPr id="35" name="AutoShape 35"/>
          <p:cNvSpPr/>
          <p:nvPr/>
        </p:nvSpPr>
        <p:spPr>
          <a:xfrm>
            <a:off x="9080500" y="3683000"/>
            <a:ext cx="25400" cy="508000"/>
          </a:xfrm>
          <a:prstGeom prst="roundRect">
            <a:avLst>
              <a:gd name="adj" fmla="val 0"/>
            </a:avLst>
          </a:prstGeom>
          <a:solidFill>
            <a:srgbClr val="4ADE80">
              <a:alpha val="100000"/>
            </a:srgbClr>
          </a:solidFill>
          <a:ln w="25400" cap="flat" cmpd="sng">
            <a:noFill/>
            <a:prstDash val="solid"/>
            <a:round/>
          </a:ln>
        </p:spPr>
        <p:txBody>
          <a:bodyPr vert="horz" wrap="square" lIns="63500" tIns="63500" rIns="63500" bIns="63500" rtlCol="0" anchor="ctr"/>
          <a:lstStyle/>
          <a:p>
            <a:pPr algn="ctr">
              <a:defRPr/>
            </a:pPr>
            <a:endParaRPr dirty="0">
              <a:latin typeface="BlueakaBeta2GBK" panose="02000700000000000000" pitchFamily="2" charset="-122"/>
              <a:ea typeface="BlueakaBeta2GBK" panose="02000700000000000000" pitchFamily="2" charset="-122"/>
            </a:endParaRPr>
          </a:p>
        </p:txBody>
      </p:sp>
      <p:sp>
        <p:nvSpPr>
          <p:cNvPr id="36" name="AutoShape 36"/>
          <p:cNvSpPr/>
          <p:nvPr/>
        </p:nvSpPr>
        <p:spPr>
          <a:xfrm>
            <a:off x="9245600" y="3556000"/>
            <a:ext cx="24130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1" i="0" u="none" strike="noStrike" dirty="0" err="1">
                <a:solidFill>
                  <a:srgbClr val="374151"/>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系统演示</a:t>
            </a:r>
            <a:endParaRPr lang="en-US" sz="1100" dirty="0">
              <a:latin typeface="BlueakaBeta2GBK" panose="02000700000000000000" pitchFamily="2" charset="-122"/>
              <a:ea typeface="BlueakaBeta2GBK" panose="02000700000000000000" pitchFamily="2" charset="-122"/>
            </a:endParaRPr>
          </a:p>
          <a:p>
            <a:pPr marL="0" indent="0" algn="l">
              <a:lnSpc>
                <a:spcPct val="108000"/>
              </a:lnSpc>
            </a:pPr>
            <a:r>
              <a:rPr lang="en-US" sz="1300" b="0" i="0" u="none" strike="noStrike" dirty="0" err="1">
                <a:solidFill>
                  <a:srgbClr val="6B7280"/>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实时演示系统核心功能与操作流程，直观体验系统交互设计与业务处理的流畅性</a:t>
            </a:r>
            <a:r>
              <a:rPr lang="en-US" sz="1300" b="0" i="0" u="none" strike="noStrike" dirty="0">
                <a:solidFill>
                  <a:srgbClr val="6B7280"/>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a:t>
            </a:r>
          </a:p>
        </p:txBody>
      </p:sp>
      <p:sp>
        <p:nvSpPr>
          <p:cNvPr id="37" name="AutoShape 37"/>
          <p:cNvSpPr/>
          <p:nvPr/>
        </p:nvSpPr>
        <p:spPr>
          <a:xfrm>
            <a:off x="8128000" y="5029200"/>
            <a:ext cx="3556000" cy="1460500"/>
          </a:xfrm>
          <a:prstGeom prst="roundRect">
            <a:avLst>
              <a:gd name="adj" fmla="val 0"/>
            </a:avLst>
          </a:prstGeom>
          <a:solidFill>
            <a:srgbClr val="F0FDF4">
              <a:alpha val="60000"/>
            </a:srgbClr>
          </a:solidFill>
          <a:ln cap="flat" cmpd="sng">
            <a:solidFill>
              <a:srgbClr val="C1E4CC">
                <a:alpha val="60000"/>
              </a:srgbClr>
            </a:solidFill>
            <a:prstDash val="solid"/>
            <a:round/>
          </a:ln>
        </p:spPr>
        <p:txBody>
          <a:bodyPr vert="horz" wrap="square" lIns="63500" tIns="63500" rIns="63500" bIns="63500" rtlCol="0" anchor="ctr"/>
          <a:lstStyle/>
          <a:p>
            <a:pPr algn="ctr">
              <a:defRPr/>
            </a:pPr>
            <a:endParaRPr dirty="0">
              <a:latin typeface="BlueakaBeta2GBK" panose="02000700000000000000" pitchFamily="2" charset="-122"/>
              <a:ea typeface="BlueakaBeta2GBK" panose="02000700000000000000" pitchFamily="2" charset="-122"/>
            </a:endParaRPr>
          </a:p>
        </p:txBody>
      </p:sp>
      <p:sp>
        <p:nvSpPr>
          <p:cNvPr id="38" name="AutoShape 38"/>
          <p:cNvSpPr/>
          <p:nvPr/>
        </p:nvSpPr>
        <p:spPr>
          <a:xfrm>
            <a:off x="8255000" y="5219700"/>
            <a:ext cx="762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dirty="0">
                <a:solidFill>
                  <a:srgbClr val="22C55E"/>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09</a:t>
            </a:r>
            <a:endParaRPr lang="en-US" sz="1100" dirty="0">
              <a:latin typeface="BlueakaBeta2GBK" panose="02000700000000000000" pitchFamily="2" charset="-122"/>
              <a:ea typeface="BlueakaBeta2GBK" panose="02000700000000000000" pitchFamily="2" charset="-122"/>
            </a:endParaRPr>
          </a:p>
        </p:txBody>
      </p:sp>
      <p:sp>
        <p:nvSpPr>
          <p:cNvPr id="39" name="AutoShape 39"/>
          <p:cNvSpPr/>
          <p:nvPr/>
        </p:nvSpPr>
        <p:spPr>
          <a:xfrm>
            <a:off x="9080500" y="5308600"/>
            <a:ext cx="25400" cy="508000"/>
          </a:xfrm>
          <a:prstGeom prst="roundRect">
            <a:avLst>
              <a:gd name="adj" fmla="val 0"/>
            </a:avLst>
          </a:prstGeom>
          <a:solidFill>
            <a:srgbClr val="4ADE80">
              <a:alpha val="100000"/>
            </a:srgbClr>
          </a:solidFill>
          <a:ln w="25400" cap="flat" cmpd="sng">
            <a:noFill/>
            <a:prstDash val="solid"/>
            <a:round/>
          </a:ln>
        </p:spPr>
        <p:txBody>
          <a:bodyPr vert="horz" wrap="square" lIns="63500" tIns="63500" rIns="63500" bIns="63500" rtlCol="0" anchor="ctr"/>
          <a:lstStyle/>
          <a:p>
            <a:pPr algn="ctr">
              <a:defRPr/>
            </a:pPr>
            <a:endParaRPr dirty="0">
              <a:latin typeface="BlueakaBeta2GBK" panose="02000700000000000000" pitchFamily="2" charset="-122"/>
              <a:ea typeface="BlueakaBeta2GBK" panose="02000700000000000000" pitchFamily="2" charset="-122"/>
            </a:endParaRPr>
          </a:p>
        </p:txBody>
      </p:sp>
      <p:sp>
        <p:nvSpPr>
          <p:cNvPr id="40" name="AutoShape 40"/>
          <p:cNvSpPr/>
          <p:nvPr/>
        </p:nvSpPr>
        <p:spPr>
          <a:xfrm>
            <a:off x="9245600" y="5181600"/>
            <a:ext cx="24130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1" i="0" u="none" strike="noStrike" dirty="0" err="1">
                <a:solidFill>
                  <a:srgbClr val="374151"/>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总结展望</a:t>
            </a:r>
            <a:endParaRPr lang="en-US" sz="1100" dirty="0">
              <a:latin typeface="BlueakaBeta2GBK" panose="02000700000000000000" pitchFamily="2" charset="-122"/>
              <a:ea typeface="BlueakaBeta2GBK" panose="02000700000000000000" pitchFamily="2" charset="-122"/>
            </a:endParaRPr>
          </a:p>
          <a:p>
            <a:pPr marL="0" indent="0" algn="l">
              <a:lnSpc>
                <a:spcPct val="108000"/>
              </a:lnSpc>
            </a:pPr>
            <a:r>
              <a:rPr lang="en-US" sz="1300" b="0" i="0" u="none" strike="noStrike" dirty="0" err="1">
                <a:solidFill>
                  <a:srgbClr val="6B7280"/>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回顾项目建设历程与经验沉淀，展望系统未来迭代方向与业务拓展的无限可能</a:t>
            </a:r>
            <a:r>
              <a:rPr lang="en-US" sz="1300" b="0" i="0" u="none" strike="noStrike" dirty="0">
                <a:solidFill>
                  <a:srgbClr val="6B7280"/>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AFC">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9525000" y="-1270000"/>
            <a:ext cx="3810000" cy="3810000"/>
          </a:xfrm>
          <a:prstGeom prst="ellipse">
            <a:avLst/>
          </a:prstGeom>
          <a:solidFill>
            <a:srgbClr val="22C55E">
              <a:alpha val="5000"/>
            </a:srgbClr>
          </a:solidFill>
          <a:ln w="25400" cap="flat" cmpd="sng">
            <a:noFill/>
            <a:prstDash val="solid"/>
            <a:round/>
          </a:ln>
        </p:spPr>
        <p:txBody>
          <a:bodyPr vert="horz" wrap="square" lIns="63500" tIns="63500" rIns="63500" bIns="63500" rtlCol="0" anchor="ctr"/>
          <a:lstStyle/>
          <a:p>
            <a:pPr algn="ctr">
              <a:defRPr/>
            </a:pPr>
            <a:endParaRPr dirty="0">
              <a:latin typeface="BlueakaBeta2GBK" panose="02000700000000000000" pitchFamily="2" charset="-122"/>
              <a:ea typeface="BlueakaBeta2GBK" panose="02000700000000000000" pitchFamily="2" charset="-122"/>
            </a:endParaRPr>
          </a:p>
        </p:txBody>
      </p:sp>
      <p:sp>
        <p:nvSpPr>
          <p:cNvPr id="3" name="AutoShape 3"/>
          <p:cNvSpPr/>
          <p:nvPr/>
        </p:nvSpPr>
        <p:spPr>
          <a:xfrm>
            <a:off x="-635000" y="5080000"/>
            <a:ext cx="2540000" cy="2540000"/>
          </a:xfrm>
          <a:prstGeom prst="ellipse">
            <a:avLst/>
          </a:prstGeom>
          <a:solidFill>
            <a:srgbClr val="3B82F6">
              <a:alpha val="5000"/>
            </a:srgbClr>
          </a:solidFill>
          <a:ln w="25400" cap="flat" cmpd="sng">
            <a:noFill/>
            <a:prstDash val="solid"/>
            <a:round/>
          </a:ln>
        </p:spPr>
        <p:txBody>
          <a:bodyPr vert="horz" wrap="square" lIns="63500" tIns="63500" rIns="63500" bIns="63500" rtlCol="0" anchor="ctr"/>
          <a:lstStyle/>
          <a:p>
            <a:pPr algn="ctr">
              <a:defRPr/>
            </a:pPr>
            <a:endParaRPr dirty="0">
              <a:latin typeface="BlueakaBeta2GBK" panose="02000700000000000000" pitchFamily="2" charset="-122"/>
              <a:ea typeface="BlueakaBeta2GBK" panose="02000700000000000000" pitchFamily="2" charset="-122"/>
            </a:endParaRPr>
          </a:p>
        </p:txBody>
      </p:sp>
      <p:sp>
        <p:nvSpPr>
          <p:cNvPr id="4" name="AutoShape 4"/>
          <p:cNvSpPr/>
          <p:nvPr/>
        </p:nvSpPr>
        <p:spPr>
          <a:xfrm>
            <a:off x="508000" y="508000"/>
            <a:ext cx="11176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dirty="0" err="1">
                <a:solidFill>
                  <a:srgbClr val="1E293B"/>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一、需求背景</a:t>
            </a:r>
            <a:endParaRPr lang="en-US" sz="1100" dirty="0">
              <a:latin typeface="BlueakaBeta2GBK" panose="02000700000000000000" pitchFamily="2" charset="-122"/>
              <a:ea typeface="BlueakaBeta2GBK" panose="02000700000000000000" pitchFamily="2" charset="-122"/>
            </a:endParaRPr>
          </a:p>
        </p:txBody>
      </p:sp>
      <p:sp>
        <p:nvSpPr>
          <p:cNvPr id="5" name="AutoShape 5"/>
          <p:cNvSpPr/>
          <p:nvPr/>
        </p:nvSpPr>
        <p:spPr>
          <a:xfrm>
            <a:off x="508000" y="1524000"/>
            <a:ext cx="5334000" cy="1079500"/>
          </a:xfrm>
          <a:prstGeom prst="roundRect">
            <a:avLst>
              <a:gd name="adj" fmla="val 0"/>
            </a:avLst>
          </a:prstGeom>
          <a:solidFill>
            <a:srgbClr val="DCFCE7">
              <a:alpha val="60000"/>
            </a:srgbClr>
          </a:solidFill>
          <a:ln w="12700" cap="flat" cmpd="sng">
            <a:solidFill>
              <a:srgbClr val="86EFAC">
                <a:alpha val="100000"/>
              </a:srgbClr>
            </a:solidFill>
            <a:prstDash val="solid"/>
            <a:round/>
          </a:ln>
        </p:spPr>
        <p:txBody>
          <a:bodyPr vert="horz" wrap="square" lIns="63500" tIns="63500" rIns="63500" bIns="63500" rtlCol="0" anchor="ctr"/>
          <a:lstStyle/>
          <a:p>
            <a:pPr algn="ctr">
              <a:defRPr/>
            </a:pPr>
            <a:endParaRPr dirty="0">
              <a:latin typeface="BlueakaBeta2GBK" panose="02000700000000000000" pitchFamily="2" charset="-122"/>
              <a:ea typeface="BlueakaBeta2GBK" panose="02000700000000000000" pitchFamily="2" charset="-122"/>
            </a:endParaRPr>
          </a:p>
        </p:txBody>
      </p:sp>
      <p:sp>
        <p:nvSpPr>
          <p:cNvPr id="6" name="AutoShape 6"/>
          <p:cNvSpPr/>
          <p:nvPr/>
        </p:nvSpPr>
        <p:spPr>
          <a:xfrm>
            <a:off x="698500" y="1714500"/>
            <a:ext cx="762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dirty="0">
                <a:solidFill>
                  <a:srgbClr val="16A34A"/>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01</a:t>
            </a:r>
            <a:endParaRPr lang="en-US" sz="1100" dirty="0">
              <a:latin typeface="BlueakaBeta2GBK" panose="02000700000000000000" pitchFamily="2" charset="-122"/>
              <a:ea typeface="BlueakaBeta2GBK" panose="02000700000000000000" pitchFamily="2" charset="-122"/>
            </a:endParaRPr>
          </a:p>
        </p:txBody>
      </p:sp>
      <p:sp>
        <p:nvSpPr>
          <p:cNvPr id="7" name="AutoShape 7"/>
          <p:cNvSpPr/>
          <p:nvPr/>
        </p:nvSpPr>
        <p:spPr>
          <a:xfrm>
            <a:off x="1524000" y="1651000"/>
            <a:ext cx="4191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dirty="0" err="1">
                <a:solidFill>
                  <a:srgbClr val="15803D"/>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寻路困难，方向迷失</a:t>
            </a:r>
            <a:endParaRPr lang="en-US" sz="1100" dirty="0">
              <a:latin typeface="BlueakaBeta2GBK" panose="02000700000000000000" pitchFamily="2" charset="-122"/>
              <a:ea typeface="BlueakaBeta2GBK" panose="02000700000000000000" pitchFamily="2" charset="-122"/>
            </a:endParaRPr>
          </a:p>
          <a:p>
            <a:pPr marL="0" indent="0" algn="l">
              <a:lnSpc>
                <a:spcPct val="100000"/>
              </a:lnSpc>
            </a:pPr>
            <a:r>
              <a:rPr lang="en-US" sz="1300" b="0" i="0" u="none" strike="noStrike" dirty="0" err="1">
                <a:solidFill>
                  <a:srgbClr val="475569"/>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景区道路纵横交错，岔路与支路繁多，游客难以快速识别方位，无法直观判断并找到</a:t>
            </a:r>
            <a:r>
              <a:rPr lang="en-US" sz="1300" b="1" i="0" u="none" strike="noStrike" dirty="0" err="1">
                <a:solidFill>
                  <a:srgbClr val="475569"/>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最优游览路线</a:t>
            </a:r>
            <a:r>
              <a:rPr lang="en-US" sz="1300" b="0" i="0" u="none" strike="noStrike" dirty="0" err="1">
                <a:solidFill>
                  <a:srgbClr val="475569"/>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，极易在复杂路网中绕圈或迷失</a:t>
            </a:r>
            <a:r>
              <a:rPr lang="en-US" sz="1300" b="0" i="0" u="none" strike="noStrike" dirty="0">
                <a:solidFill>
                  <a:srgbClr val="475569"/>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a:t>
            </a:r>
          </a:p>
        </p:txBody>
      </p:sp>
      <p:sp>
        <p:nvSpPr>
          <p:cNvPr id="8" name="AutoShape 8"/>
          <p:cNvSpPr/>
          <p:nvPr/>
        </p:nvSpPr>
        <p:spPr>
          <a:xfrm>
            <a:off x="508000" y="2794000"/>
            <a:ext cx="5334000" cy="1079500"/>
          </a:xfrm>
          <a:prstGeom prst="roundRect">
            <a:avLst>
              <a:gd name="adj" fmla="val 0"/>
            </a:avLst>
          </a:prstGeom>
          <a:solidFill>
            <a:srgbClr val="DCFCE7">
              <a:alpha val="60000"/>
            </a:srgbClr>
          </a:solidFill>
          <a:ln w="12700" cap="flat" cmpd="sng">
            <a:solidFill>
              <a:srgbClr val="86EFAC">
                <a:alpha val="100000"/>
              </a:srgbClr>
            </a:solidFill>
            <a:prstDash val="solid"/>
            <a:round/>
          </a:ln>
        </p:spPr>
        <p:txBody>
          <a:bodyPr vert="horz" wrap="square" lIns="63500" tIns="63500" rIns="63500" bIns="63500" rtlCol="0" anchor="ctr"/>
          <a:lstStyle/>
          <a:p>
            <a:pPr algn="ctr">
              <a:defRPr/>
            </a:pPr>
            <a:endParaRPr dirty="0">
              <a:latin typeface="BlueakaBeta2GBK" panose="02000700000000000000" pitchFamily="2" charset="-122"/>
              <a:ea typeface="BlueakaBeta2GBK" panose="02000700000000000000" pitchFamily="2" charset="-122"/>
            </a:endParaRPr>
          </a:p>
        </p:txBody>
      </p:sp>
      <p:sp>
        <p:nvSpPr>
          <p:cNvPr id="9" name="AutoShape 9"/>
          <p:cNvSpPr/>
          <p:nvPr/>
        </p:nvSpPr>
        <p:spPr>
          <a:xfrm>
            <a:off x="698500" y="2984500"/>
            <a:ext cx="762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dirty="0">
                <a:solidFill>
                  <a:srgbClr val="16A34A"/>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02</a:t>
            </a:r>
            <a:endParaRPr lang="en-US" sz="1100" dirty="0">
              <a:latin typeface="BlueakaBeta2GBK" panose="02000700000000000000" pitchFamily="2" charset="-122"/>
              <a:ea typeface="BlueakaBeta2GBK" panose="02000700000000000000" pitchFamily="2" charset="-122"/>
            </a:endParaRPr>
          </a:p>
        </p:txBody>
      </p:sp>
      <p:sp>
        <p:nvSpPr>
          <p:cNvPr id="10" name="AutoShape 10"/>
          <p:cNvSpPr/>
          <p:nvPr/>
        </p:nvSpPr>
        <p:spPr>
          <a:xfrm>
            <a:off x="1524000" y="2921000"/>
            <a:ext cx="4191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dirty="0" err="1">
                <a:solidFill>
                  <a:srgbClr val="15803D"/>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信息闭塞，感知缺失</a:t>
            </a:r>
            <a:endParaRPr lang="en-US" sz="1100" dirty="0">
              <a:latin typeface="BlueakaBeta2GBK" panose="02000700000000000000" pitchFamily="2" charset="-122"/>
              <a:ea typeface="BlueakaBeta2GBK" panose="02000700000000000000" pitchFamily="2" charset="-122"/>
            </a:endParaRPr>
          </a:p>
          <a:p>
            <a:pPr marL="0" indent="0" algn="l">
              <a:lnSpc>
                <a:spcPct val="100000"/>
              </a:lnSpc>
            </a:pPr>
            <a:r>
              <a:rPr lang="en-US" sz="1300" b="0" i="0" u="none" strike="noStrike" dirty="0" err="1">
                <a:solidFill>
                  <a:srgbClr val="475569"/>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缺乏对景点分布、道路距离、实时人流的</a:t>
            </a:r>
            <a:r>
              <a:rPr lang="en-US" sz="1300" b="1" i="0" u="none" strike="noStrike" dirty="0" err="1">
                <a:solidFill>
                  <a:srgbClr val="475569"/>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全局感知能力</a:t>
            </a:r>
            <a:r>
              <a:rPr lang="en-US" sz="1300" b="0" i="0" u="none" strike="noStrike" dirty="0" err="1">
                <a:solidFill>
                  <a:srgbClr val="475569"/>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，无法提前预判各景点游览耗时，导致行程规划盲目，容易出现时间安排不合理的情况</a:t>
            </a:r>
            <a:r>
              <a:rPr lang="en-US" sz="1300" b="0" i="0" u="none" strike="noStrike" dirty="0">
                <a:solidFill>
                  <a:srgbClr val="475569"/>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a:t>
            </a:r>
          </a:p>
        </p:txBody>
      </p:sp>
      <p:sp>
        <p:nvSpPr>
          <p:cNvPr id="11" name="AutoShape 11"/>
          <p:cNvSpPr/>
          <p:nvPr/>
        </p:nvSpPr>
        <p:spPr>
          <a:xfrm>
            <a:off x="508000" y="4064000"/>
            <a:ext cx="5334000" cy="1079500"/>
          </a:xfrm>
          <a:prstGeom prst="roundRect">
            <a:avLst>
              <a:gd name="adj" fmla="val 0"/>
            </a:avLst>
          </a:prstGeom>
          <a:solidFill>
            <a:srgbClr val="DCFCE7">
              <a:alpha val="60000"/>
            </a:srgbClr>
          </a:solidFill>
          <a:ln w="12700" cap="flat" cmpd="sng">
            <a:solidFill>
              <a:srgbClr val="86EFAC">
                <a:alpha val="100000"/>
              </a:srgbClr>
            </a:solidFill>
            <a:prstDash val="solid"/>
            <a:round/>
          </a:ln>
        </p:spPr>
        <p:txBody>
          <a:bodyPr vert="horz" wrap="square" lIns="63500" tIns="63500" rIns="63500" bIns="63500" rtlCol="0" anchor="ctr"/>
          <a:lstStyle/>
          <a:p>
            <a:pPr algn="ctr">
              <a:defRPr/>
            </a:pPr>
            <a:endParaRPr dirty="0">
              <a:latin typeface="BlueakaBeta2GBK" panose="02000700000000000000" pitchFamily="2" charset="-122"/>
              <a:ea typeface="BlueakaBeta2GBK" panose="02000700000000000000" pitchFamily="2" charset="-122"/>
            </a:endParaRPr>
          </a:p>
        </p:txBody>
      </p:sp>
      <p:sp>
        <p:nvSpPr>
          <p:cNvPr id="12" name="AutoShape 12"/>
          <p:cNvSpPr/>
          <p:nvPr/>
        </p:nvSpPr>
        <p:spPr>
          <a:xfrm>
            <a:off x="698500" y="4254500"/>
            <a:ext cx="762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dirty="0">
                <a:solidFill>
                  <a:srgbClr val="16A34A"/>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03</a:t>
            </a:r>
            <a:endParaRPr lang="en-US" sz="1100" dirty="0">
              <a:latin typeface="BlueakaBeta2GBK" panose="02000700000000000000" pitchFamily="2" charset="-122"/>
              <a:ea typeface="BlueakaBeta2GBK" panose="02000700000000000000" pitchFamily="2" charset="-122"/>
            </a:endParaRPr>
          </a:p>
        </p:txBody>
      </p:sp>
      <p:sp>
        <p:nvSpPr>
          <p:cNvPr id="13" name="AutoShape 13"/>
          <p:cNvSpPr/>
          <p:nvPr/>
        </p:nvSpPr>
        <p:spPr>
          <a:xfrm>
            <a:off x="1524000" y="4191000"/>
            <a:ext cx="4191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dirty="0" err="1">
                <a:solidFill>
                  <a:srgbClr val="15803D"/>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规划缺失，效率低下</a:t>
            </a:r>
            <a:endParaRPr lang="en-US" sz="1100" dirty="0">
              <a:latin typeface="BlueakaBeta2GBK" panose="02000700000000000000" pitchFamily="2" charset="-122"/>
              <a:ea typeface="BlueakaBeta2GBK" panose="02000700000000000000" pitchFamily="2" charset="-122"/>
            </a:endParaRPr>
          </a:p>
          <a:p>
            <a:pPr marL="0" indent="0" algn="l">
              <a:lnSpc>
                <a:spcPct val="100000"/>
              </a:lnSpc>
            </a:pPr>
            <a:r>
              <a:rPr lang="en-US" sz="1300" b="0" i="0" u="none" strike="noStrike" dirty="0" err="1">
                <a:solidFill>
                  <a:srgbClr val="475569"/>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没有科学的游览顺序规划，游客容易走回头路、重复折返，不仅浪费宝贵的游玩时间，还会增加体力消耗，</a:t>
            </a:r>
            <a:r>
              <a:rPr lang="en-US" sz="1300" b="1" i="0" u="none" strike="noStrike" dirty="0" err="1">
                <a:solidFill>
                  <a:srgbClr val="475569"/>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大幅降低整体游览体验</a:t>
            </a:r>
            <a:r>
              <a:rPr lang="en-US" sz="1300" b="0" i="0" u="none" strike="noStrike" dirty="0">
                <a:solidFill>
                  <a:srgbClr val="475569"/>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a:t>
            </a:r>
          </a:p>
        </p:txBody>
      </p:sp>
      <p:sp>
        <p:nvSpPr>
          <p:cNvPr id="14" name="AutoShape 14"/>
          <p:cNvSpPr/>
          <p:nvPr/>
        </p:nvSpPr>
        <p:spPr>
          <a:xfrm>
            <a:off x="6223000" y="1524000"/>
            <a:ext cx="5461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dirty="0" err="1">
                <a:solidFill>
                  <a:srgbClr val="1E293B"/>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传统指引方式的局限性</a:t>
            </a:r>
            <a:endParaRPr lang="en-US" sz="1100" dirty="0">
              <a:latin typeface="BlueakaBeta2GBK" panose="02000700000000000000" pitchFamily="2" charset="-122"/>
              <a:ea typeface="BlueakaBeta2GBK" panose="02000700000000000000" pitchFamily="2" charset="-122"/>
            </a:endParaRPr>
          </a:p>
        </p:txBody>
      </p:sp>
      <p:sp>
        <p:nvSpPr>
          <p:cNvPr id="15" name="AutoShape 15"/>
          <p:cNvSpPr/>
          <p:nvPr/>
        </p:nvSpPr>
        <p:spPr>
          <a:xfrm>
            <a:off x="6223000" y="2159000"/>
            <a:ext cx="5461000" cy="952500"/>
          </a:xfrm>
          <a:prstGeom prst="roundRect">
            <a:avLst>
              <a:gd name="adj" fmla="val 0"/>
            </a:avLst>
          </a:prstGeom>
          <a:solidFill>
            <a:srgbClr val="F1F5F9">
              <a:alpha val="100000"/>
            </a:srgbClr>
          </a:solidFill>
          <a:ln w="25400" cap="flat" cmpd="sng">
            <a:noFill/>
            <a:prstDash val="solid"/>
            <a:round/>
          </a:ln>
        </p:spPr>
        <p:txBody>
          <a:bodyPr vert="horz" wrap="square" lIns="63500" tIns="63500" rIns="63500" bIns="63500" rtlCol="0" anchor="ctr"/>
          <a:lstStyle/>
          <a:p>
            <a:pPr algn="ctr">
              <a:defRPr/>
            </a:pPr>
            <a:endParaRPr dirty="0">
              <a:latin typeface="BlueakaBeta2GBK" panose="02000700000000000000" pitchFamily="2" charset="-122"/>
              <a:ea typeface="BlueakaBeta2GBK" panose="02000700000000000000" pitchFamily="2" charset="-122"/>
            </a:endParaRPr>
          </a:p>
        </p:txBody>
      </p:sp>
      <p:pic>
        <p:nvPicPr>
          <p:cNvPr id="16" name="Picture 1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413500" y="2451100"/>
            <a:ext cx="355600" cy="355600"/>
          </a:xfrm>
          <a:prstGeom prst="rect">
            <a:avLst/>
          </a:prstGeom>
        </p:spPr>
      </p:pic>
      <p:sp>
        <p:nvSpPr>
          <p:cNvPr id="17" name="AutoShape 17"/>
          <p:cNvSpPr/>
          <p:nvPr/>
        </p:nvSpPr>
        <p:spPr>
          <a:xfrm>
            <a:off x="6921500" y="2222500"/>
            <a:ext cx="4699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500" b="1" i="0" u="none" strike="noStrike" dirty="0" err="1">
                <a:solidFill>
                  <a:srgbClr val="334155"/>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静态地图信息滞后</a:t>
            </a:r>
            <a:endParaRPr lang="en-US" sz="1100" dirty="0">
              <a:latin typeface="BlueakaBeta2GBK" panose="02000700000000000000" pitchFamily="2" charset="-122"/>
              <a:ea typeface="BlueakaBeta2GBK" panose="02000700000000000000" pitchFamily="2" charset="-122"/>
            </a:endParaRPr>
          </a:p>
          <a:p>
            <a:pPr marL="0" indent="0" algn="l">
              <a:lnSpc>
                <a:spcPct val="100000"/>
              </a:lnSpc>
            </a:pPr>
            <a:r>
              <a:rPr lang="en-US" sz="1300" b="0" i="0" u="none" strike="noStrike" dirty="0" err="1">
                <a:solidFill>
                  <a:srgbClr val="64748B"/>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纸质或基础电子地图内容固化，无法实时更新临时道路管制、景点开闭状态或设施维修等突发动态，参考价值受限</a:t>
            </a:r>
            <a:r>
              <a:rPr lang="en-US" sz="1300" b="0" i="0" u="none" strike="noStrike" dirty="0">
                <a:solidFill>
                  <a:srgbClr val="64748B"/>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a:t>
            </a:r>
          </a:p>
        </p:txBody>
      </p:sp>
      <p:sp>
        <p:nvSpPr>
          <p:cNvPr id="18" name="AutoShape 18"/>
          <p:cNvSpPr/>
          <p:nvPr/>
        </p:nvSpPr>
        <p:spPr>
          <a:xfrm>
            <a:off x="6223000" y="3276600"/>
            <a:ext cx="5461000" cy="952500"/>
          </a:xfrm>
          <a:prstGeom prst="roundRect">
            <a:avLst>
              <a:gd name="adj" fmla="val 0"/>
            </a:avLst>
          </a:prstGeom>
          <a:solidFill>
            <a:srgbClr val="F1F5F9">
              <a:alpha val="100000"/>
            </a:srgbClr>
          </a:solidFill>
          <a:ln w="25400" cap="flat" cmpd="sng">
            <a:noFill/>
            <a:prstDash val="solid"/>
            <a:round/>
          </a:ln>
        </p:spPr>
        <p:txBody>
          <a:bodyPr vert="horz" wrap="square" lIns="63500" tIns="63500" rIns="63500" bIns="63500" rtlCol="0" anchor="ctr"/>
          <a:lstStyle/>
          <a:p>
            <a:pPr algn="ctr">
              <a:defRPr/>
            </a:pPr>
            <a:endParaRPr dirty="0">
              <a:latin typeface="BlueakaBeta2GBK" panose="02000700000000000000" pitchFamily="2" charset="-122"/>
              <a:ea typeface="BlueakaBeta2GBK" panose="02000700000000000000" pitchFamily="2" charset="-122"/>
            </a:endParaRPr>
          </a:p>
        </p:txBody>
      </p:sp>
      <p:pic>
        <p:nvPicPr>
          <p:cNvPr id="19" name="Picture 1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413500" y="3568700"/>
            <a:ext cx="355600" cy="355600"/>
          </a:xfrm>
          <a:prstGeom prst="rect">
            <a:avLst/>
          </a:prstGeom>
        </p:spPr>
      </p:pic>
      <p:sp>
        <p:nvSpPr>
          <p:cNvPr id="20" name="AutoShape 20"/>
          <p:cNvSpPr/>
          <p:nvPr/>
        </p:nvSpPr>
        <p:spPr>
          <a:xfrm>
            <a:off x="6921500" y="3340100"/>
            <a:ext cx="4699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500" b="1" i="0" u="none" strike="noStrike" dirty="0" err="1">
                <a:solidFill>
                  <a:srgbClr val="334155"/>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无法规避实时拥堵</a:t>
            </a:r>
            <a:endParaRPr lang="en-US" sz="1100" dirty="0">
              <a:latin typeface="BlueakaBeta2GBK" panose="02000700000000000000" pitchFamily="2" charset="-122"/>
              <a:ea typeface="BlueakaBeta2GBK" panose="02000700000000000000" pitchFamily="2" charset="-122"/>
            </a:endParaRPr>
          </a:p>
          <a:p>
            <a:pPr marL="0" indent="0" algn="l">
              <a:lnSpc>
                <a:spcPct val="100000"/>
              </a:lnSpc>
            </a:pPr>
            <a:r>
              <a:rPr lang="en-US" sz="1300" b="0" i="0" u="none" strike="noStrike" dirty="0" err="1">
                <a:solidFill>
                  <a:srgbClr val="64748B"/>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缺乏景区内实时客流与道路拥挤度数据支撑，无法预判热门景点排队时长，导致游客扎堆，造成大量无效等待</a:t>
            </a:r>
            <a:r>
              <a:rPr lang="en-US" sz="1300" b="0" i="0" u="none" strike="noStrike" dirty="0">
                <a:solidFill>
                  <a:srgbClr val="64748B"/>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a:t>
            </a:r>
          </a:p>
        </p:txBody>
      </p:sp>
      <p:sp>
        <p:nvSpPr>
          <p:cNvPr id="21" name="AutoShape 21"/>
          <p:cNvSpPr/>
          <p:nvPr/>
        </p:nvSpPr>
        <p:spPr>
          <a:xfrm>
            <a:off x="6223000" y="4394200"/>
            <a:ext cx="5461000" cy="952500"/>
          </a:xfrm>
          <a:prstGeom prst="roundRect">
            <a:avLst>
              <a:gd name="adj" fmla="val 0"/>
            </a:avLst>
          </a:prstGeom>
          <a:solidFill>
            <a:srgbClr val="F1F5F9">
              <a:alpha val="100000"/>
            </a:srgbClr>
          </a:solidFill>
          <a:ln w="25400" cap="flat" cmpd="sng">
            <a:noFill/>
            <a:prstDash val="solid"/>
            <a:round/>
          </a:ln>
        </p:spPr>
        <p:txBody>
          <a:bodyPr vert="horz" wrap="square" lIns="63500" tIns="63500" rIns="63500" bIns="63500" rtlCol="0" anchor="ctr"/>
          <a:lstStyle/>
          <a:p>
            <a:pPr algn="ctr">
              <a:defRPr/>
            </a:pPr>
            <a:endParaRPr dirty="0">
              <a:latin typeface="BlueakaBeta2GBK" panose="02000700000000000000" pitchFamily="2" charset="-122"/>
              <a:ea typeface="BlueakaBeta2GBK" panose="02000700000000000000" pitchFamily="2" charset="-122"/>
            </a:endParaRPr>
          </a:p>
        </p:txBody>
      </p:sp>
      <p:pic>
        <p:nvPicPr>
          <p:cNvPr id="22" name="Picture 2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413500" y="4686300"/>
            <a:ext cx="355600" cy="355600"/>
          </a:xfrm>
          <a:prstGeom prst="rect">
            <a:avLst/>
          </a:prstGeom>
        </p:spPr>
      </p:pic>
      <p:sp>
        <p:nvSpPr>
          <p:cNvPr id="23" name="AutoShape 23"/>
          <p:cNvSpPr/>
          <p:nvPr/>
        </p:nvSpPr>
        <p:spPr>
          <a:xfrm>
            <a:off x="6921500" y="4457700"/>
            <a:ext cx="4699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500" b="1" i="0" u="none" strike="noStrike" dirty="0" err="1">
                <a:solidFill>
                  <a:srgbClr val="334155"/>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缺乏个性化交互</a:t>
            </a:r>
            <a:endParaRPr lang="en-US" sz="1100" dirty="0">
              <a:latin typeface="BlueakaBeta2GBK" panose="02000700000000000000" pitchFamily="2" charset="-122"/>
              <a:ea typeface="BlueakaBeta2GBK" panose="02000700000000000000" pitchFamily="2" charset="-122"/>
            </a:endParaRPr>
          </a:p>
          <a:p>
            <a:pPr marL="0" indent="0" algn="l">
              <a:lnSpc>
                <a:spcPct val="100000"/>
              </a:lnSpc>
            </a:pPr>
            <a:r>
              <a:rPr lang="en-US" sz="1300" b="0" i="0" u="none" strike="noStrike" dirty="0" err="1">
                <a:solidFill>
                  <a:srgbClr val="64748B"/>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传统指引千篇一律，无法根据游客的年龄、体力状况或兴趣偏好（如亲子、老年、摄影）定制专属的游览路线</a:t>
            </a:r>
            <a:r>
              <a:rPr lang="en-US" sz="1300" b="0" i="0" u="none" strike="noStrike" dirty="0">
                <a:solidFill>
                  <a:srgbClr val="64748B"/>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a:t>
            </a:r>
          </a:p>
        </p:txBody>
      </p:sp>
      <p:sp>
        <p:nvSpPr>
          <p:cNvPr id="24" name="AutoShape 24"/>
          <p:cNvSpPr/>
          <p:nvPr/>
        </p:nvSpPr>
        <p:spPr>
          <a:xfrm>
            <a:off x="508000" y="5524500"/>
            <a:ext cx="11176000" cy="1063625"/>
          </a:xfrm>
          <a:prstGeom prst="roundRect">
            <a:avLst>
              <a:gd name="adj" fmla="val 0"/>
            </a:avLst>
          </a:prstGeom>
          <a:gradFill rotWithShape="1">
            <a:gsLst>
              <a:gs pos="0">
                <a:srgbClr val="16A34A">
                  <a:alpha val="100000"/>
                </a:srgbClr>
              </a:gs>
              <a:gs pos="100000">
                <a:srgbClr val="15803D">
                  <a:alpha val="100000"/>
                </a:srgbClr>
              </a:gs>
            </a:gsLst>
            <a:lin ang="0"/>
          </a:gradFill>
          <a:ln w="25400" cap="flat" cmpd="sng">
            <a:noFill/>
            <a:prstDash val="solid"/>
            <a:round/>
          </a:ln>
        </p:spPr>
        <p:txBody>
          <a:bodyPr vert="horz" wrap="square" lIns="63500" tIns="63500" rIns="63500" bIns="63500" rtlCol="0" anchor="ctr"/>
          <a:lstStyle/>
          <a:p>
            <a:pPr algn="ctr">
              <a:defRPr/>
            </a:pPr>
            <a:endParaRPr dirty="0">
              <a:latin typeface="BlueakaBeta2GBK" panose="02000700000000000000" pitchFamily="2" charset="-122"/>
              <a:ea typeface="BlueakaBeta2GBK" panose="02000700000000000000" pitchFamily="2" charset="-122"/>
            </a:endParaRPr>
          </a:p>
        </p:txBody>
      </p:sp>
      <p:pic>
        <p:nvPicPr>
          <p:cNvPr id="25" name="Picture 2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62000" y="5765800"/>
            <a:ext cx="457200" cy="457200"/>
          </a:xfrm>
          <a:prstGeom prst="rect">
            <a:avLst/>
          </a:prstGeom>
        </p:spPr>
      </p:pic>
      <p:sp>
        <p:nvSpPr>
          <p:cNvPr id="26" name="AutoShape 26"/>
          <p:cNvSpPr/>
          <p:nvPr/>
        </p:nvSpPr>
        <p:spPr>
          <a:xfrm>
            <a:off x="1397000" y="5651500"/>
            <a:ext cx="10160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800" b="1" i="0" u="none" strike="noStrike" dirty="0" err="1">
                <a:solidFill>
                  <a:srgbClr val="FFFFFF"/>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破局方案：基于</a:t>
            </a:r>
            <a:r>
              <a:rPr lang="en-US" sz="1800" b="1" i="0" u="none" strike="noStrike" dirty="0">
                <a:solidFill>
                  <a:srgbClr val="FFFFFF"/>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 Dijkstra </a:t>
            </a:r>
            <a:r>
              <a:rPr lang="en-US" sz="1800" b="1" i="0" u="none" strike="noStrike" dirty="0" err="1">
                <a:solidFill>
                  <a:srgbClr val="FFFFFF"/>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最短路径算法的智能导航系统</a:t>
            </a:r>
            <a:endParaRPr lang="en-US" sz="1100" dirty="0">
              <a:latin typeface="BlueakaBeta2GBK" panose="02000700000000000000" pitchFamily="2" charset="-122"/>
              <a:ea typeface="BlueakaBeta2GBK" panose="02000700000000000000" pitchFamily="2" charset="-122"/>
            </a:endParaRPr>
          </a:p>
          <a:p>
            <a:pPr marL="0" indent="0" algn="l">
              <a:lnSpc>
                <a:spcPct val="125000"/>
              </a:lnSpc>
            </a:pPr>
            <a:r>
              <a:rPr lang="en-US" sz="1400" b="0" i="0" u="none" strike="noStrike" dirty="0" err="1">
                <a:solidFill>
                  <a:srgbClr val="FFFFFF">
                    <a:alpha val="90196"/>
                  </a:srgbClr>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利用图论算法构建景区路网模型，结合实时数据动态计算全局最优路径，实现从“盲目寻路”到“智能引导”的升级，解决游客核心痛点</a:t>
            </a:r>
            <a:r>
              <a:rPr lang="en-US" sz="1400" b="0" i="0" u="none" strike="noStrike" dirty="0">
                <a:solidFill>
                  <a:srgbClr val="FFFFFF">
                    <a:alpha val="90196"/>
                  </a:srgbClr>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9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9525000" y="-1270000"/>
            <a:ext cx="3810000" cy="3810000"/>
          </a:xfrm>
          <a:prstGeom prst="ellipse">
            <a:avLst/>
          </a:prstGeom>
          <a:solidFill>
            <a:srgbClr val="10B981">
              <a:alpha val="5000"/>
            </a:srgbClr>
          </a:solidFill>
          <a:ln w="25400" cap="flat" cmpd="sng">
            <a:noFill/>
            <a:prstDash val="solid"/>
            <a:round/>
          </a:ln>
        </p:spPr>
        <p:txBody>
          <a:bodyPr vert="horz" wrap="square" lIns="63500" tIns="63500" rIns="63500" bIns="63500" rtlCol="0" anchor="ctr"/>
          <a:lstStyle/>
          <a:p>
            <a:pPr algn="ctr">
              <a:defRPr/>
            </a:pPr>
            <a:endParaRPr dirty="0">
              <a:latin typeface="BlueakaBeta2GBK" panose="02000700000000000000" pitchFamily="2" charset="-122"/>
              <a:ea typeface="BlueakaBeta2GBK" panose="02000700000000000000" pitchFamily="2" charset="-122"/>
            </a:endParaRPr>
          </a:p>
        </p:txBody>
      </p:sp>
      <p:sp>
        <p:nvSpPr>
          <p:cNvPr id="3" name="AutoShape 3"/>
          <p:cNvSpPr/>
          <p:nvPr/>
        </p:nvSpPr>
        <p:spPr>
          <a:xfrm>
            <a:off x="-1016000" y="5080000"/>
            <a:ext cx="2540000" cy="2540000"/>
          </a:xfrm>
          <a:prstGeom prst="ellipse">
            <a:avLst/>
          </a:prstGeom>
          <a:solidFill>
            <a:srgbClr val="10B981">
              <a:alpha val="5000"/>
            </a:srgbClr>
          </a:solidFill>
          <a:ln w="25400" cap="flat" cmpd="sng">
            <a:noFill/>
            <a:prstDash val="solid"/>
            <a:round/>
          </a:ln>
        </p:spPr>
        <p:txBody>
          <a:bodyPr vert="horz" wrap="square" lIns="63500" tIns="63500" rIns="63500" bIns="63500" rtlCol="0" anchor="ctr"/>
          <a:lstStyle/>
          <a:p>
            <a:pPr algn="ctr">
              <a:defRPr/>
            </a:pPr>
            <a:endParaRPr dirty="0">
              <a:latin typeface="BlueakaBeta2GBK" panose="02000700000000000000" pitchFamily="2" charset="-122"/>
              <a:ea typeface="BlueakaBeta2GBK" panose="02000700000000000000" pitchFamily="2" charset="-122"/>
            </a:endParaRPr>
          </a:p>
        </p:txBody>
      </p:sp>
      <p:pic>
        <p:nvPicPr>
          <p:cNvPr id="4" name="Picture 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08000" y="508000"/>
            <a:ext cx="508000" cy="508000"/>
          </a:xfrm>
          <a:prstGeom prst="rect">
            <a:avLst/>
          </a:prstGeom>
        </p:spPr>
      </p:pic>
      <p:sp>
        <p:nvSpPr>
          <p:cNvPr id="5" name="AutoShape 5"/>
          <p:cNvSpPr/>
          <p:nvPr/>
        </p:nvSpPr>
        <p:spPr>
          <a:xfrm>
            <a:off x="1143000" y="533400"/>
            <a:ext cx="1016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dirty="0" err="1">
                <a:solidFill>
                  <a:srgbClr val="1F2937"/>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二、核心功能</a:t>
            </a:r>
            <a:endParaRPr lang="en-US" sz="1100" dirty="0">
              <a:latin typeface="BlueakaBeta2GBK" panose="02000700000000000000" pitchFamily="2" charset="-122"/>
              <a:ea typeface="BlueakaBeta2GBK" panose="02000700000000000000" pitchFamily="2" charset="-122"/>
            </a:endParaRPr>
          </a:p>
        </p:txBody>
      </p:sp>
      <p:graphicFrame>
        <p:nvGraphicFramePr>
          <p:cNvPr id="6" name="Table 6"/>
          <p:cNvGraphicFramePr>
            <a:graphicFrameLocks noGrp="1"/>
          </p:cNvGraphicFramePr>
          <p:nvPr/>
        </p:nvGraphicFramePr>
        <p:xfrm>
          <a:off x="508000" y="1524000"/>
          <a:ext cx="11176000" cy="3937000"/>
        </p:xfrm>
        <a:graphic>
          <a:graphicData uri="http://schemas.openxmlformats.org/drawingml/2006/table">
            <a:tbl>
              <a:tblPr>
                <a:effectLst/>
              </a:tblPr>
              <a:tblGrid>
                <a:gridCol w="1016000">
                  <a:extLst>
                    <a:ext uri="{9D8B030D-6E8A-4147-A177-3AD203B41FA5}">
                      <a16:colId xmlns:a16="http://schemas.microsoft.com/office/drawing/2014/main" val="20000"/>
                    </a:ext>
                  </a:extLst>
                </a:gridCol>
                <a:gridCol w="2794000">
                  <a:extLst>
                    <a:ext uri="{9D8B030D-6E8A-4147-A177-3AD203B41FA5}">
                      <a16:colId xmlns:a16="http://schemas.microsoft.com/office/drawing/2014/main" val="20001"/>
                    </a:ext>
                  </a:extLst>
                </a:gridCol>
                <a:gridCol w="7366000">
                  <a:extLst>
                    <a:ext uri="{9D8B030D-6E8A-4147-A177-3AD203B41FA5}">
                      <a16:colId xmlns:a16="http://schemas.microsoft.com/office/drawing/2014/main" val="20002"/>
                    </a:ext>
                  </a:extLst>
                </a:gridCol>
              </a:tblGrid>
              <a:tr h="635000">
                <a:tc>
                  <a:txBody>
                    <a:bodyPr/>
                    <a:lstStyle/>
                    <a:p>
                      <a:pPr marL="0" indent="0" algn="ctr">
                        <a:lnSpc>
                          <a:spcPct val="100000"/>
                        </a:lnSpc>
                        <a:defRPr/>
                      </a:pPr>
                      <a:r>
                        <a:rPr lang="en-US" sz="1600" b="1" i="0" u="none" strike="noStrike" dirty="0" err="1">
                          <a:solidFill>
                            <a:srgbClr val="064E3B"/>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序号</a:t>
                      </a:r>
                      <a:endParaRPr lang="en-US" sz="1100" dirty="0">
                        <a:latin typeface="BlueakaBeta2GBK" panose="02000700000000000000" pitchFamily="2" charset="-122"/>
                      </a:endParaRPr>
                    </a:p>
                  </a:txBody>
                  <a:tcPr marL="101600" marR="101600" marT="101600" marB="101600">
                    <a:lnL>
                      <a:noFill/>
                    </a:lnL>
                    <a:lnR>
                      <a:noFill/>
                    </a:lnR>
                    <a:lnT>
                      <a:noFill/>
                    </a:lnT>
                    <a:lnB w="25400" cap="flat" cmpd="sng" algn="ctr">
                      <a:solidFill>
                        <a:srgbClr val="6EE7B7"/>
                      </a:solidFill>
                      <a:prstDash val="solid"/>
                      <a:round/>
                      <a:headEnd type="none" w="med" len="med"/>
                      <a:tailEnd type="none" w="med" len="med"/>
                    </a:lnB>
                    <a:solidFill>
                      <a:srgbClr val="A7F3D0">
                        <a:alpha val="60000"/>
                      </a:srgbClr>
                    </a:solidFill>
                  </a:tcPr>
                </a:tc>
                <a:tc>
                  <a:txBody>
                    <a:bodyPr/>
                    <a:lstStyle/>
                    <a:p>
                      <a:pPr marL="0" indent="0" algn="ctr">
                        <a:lnSpc>
                          <a:spcPct val="100000"/>
                        </a:lnSpc>
                        <a:defRPr/>
                      </a:pPr>
                      <a:r>
                        <a:rPr lang="en-US" sz="1600" b="1" i="0" u="none" strike="noStrike" dirty="0" err="1">
                          <a:solidFill>
                            <a:srgbClr val="064E3B"/>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功能模块</a:t>
                      </a:r>
                      <a:endParaRPr lang="en-US" sz="1100" dirty="0">
                        <a:latin typeface="BlueakaBeta2GBK" panose="02000700000000000000" pitchFamily="2" charset="-122"/>
                      </a:endParaRPr>
                    </a:p>
                  </a:txBody>
                  <a:tcPr marL="101600" marR="101600" marT="101600" marB="101600">
                    <a:lnL>
                      <a:noFill/>
                    </a:lnL>
                    <a:lnR>
                      <a:noFill/>
                    </a:lnR>
                    <a:lnT>
                      <a:noFill/>
                    </a:lnT>
                    <a:lnB w="25400" cap="flat" cmpd="sng" algn="ctr">
                      <a:solidFill>
                        <a:srgbClr val="6EE7B7"/>
                      </a:solidFill>
                      <a:prstDash val="solid"/>
                      <a:round/>
                      <a:headEnd type="none" w="med" len="med"/>
                      <a:tailEnd type="none" w="med" len="med"/>
                    </a:lnB>
                    <a:solidFill>
                      <a:srgbClr val="A7F3D0">
                        <a:alpha val="60000"/>
                      </a:srgbClr>
                    </a:solidFill>
                  </a:tcPr>
                </a:tc>
                <a:tc>
                  <a:txBody>
                    <a:bodyPr/>
                    <a:lstStyle/>
                    <a:p>
                      <a:pPr marL="190500" indent="0" algn="l">
                        <a:lnSpc>
                          <a:spcPct val="100000"/>
                        </a:lnSpc>
                        <a:defRPr/>
                      </a:pPr>
                      <a:r>
                        <a:rPr lang="en-US" sz="1600" b="1" i="0" u="none" strike="noStrike" dirty="0" err="1">
                          <a:solidFill>
                            <a:srgbClr val="064E3B"/>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功能描述与价值</a:t>
                      </a:r>
                      <a:endParaRPr lang="en-US" sz="1100" dirty="0">
                        <a:latin typeface="BlueakaBeta2GBK" panose="02000700000000000000" pitchFamily="2" charset="-122"/>
                      </a:endParaRPr>
                    </a:p>
                  </a:txBody>
                  <a:tcPr marL="101600" marR="101600" marT="101600" marB="101600">
                    <a:lnL>
                      <a:noFill/>
                    </a:lnL>
                    <a:lnR>
                      <a:noFill/>
                    </a:lnR>
                    <a:lnT>
                      <a:noFill/>
                    </a:lnT>
                    <a:lnB w="25400" cap="flat" cmpd="sng" algn="ctr">
                      <a:solidFill>
                        <a:srgbClr val="6EE7B7"/>
                      </a:solidFill>
                      <a:prstDash val="solid"/>
                      <a:round/>
                      <a:headEnd type="none" w="med" len="med"/>
                      <a:tailEnd type="none" w="med" len="med"/>
                    </a:lnB>
                    <a:solidFill>
                      <a:srgbClr val="A7F3D0">
                        <a:alpha val="60000"/>
                      </a:srgbClr>
                    </a:solidFill>
                  </a:tcPr>
                </a:tc>
                <a:extLst>
                  <a:ext uri="{0D108BD9-81ED-4DB2-BD59-A6C34878D82A}">
                    <a16:rowId xmlns:a16="http://schemas.microsoft.com/office/drawing/2014/main" val="10000"/>
                  </a:ext>
                </a:extLst>
              </a:tr>
              <a:tr h="660400">
                <a:tc>
                  <a:txBody>
                    <a:bodyPr/>
                    <a:lstStyle/>
                    <a:p>
                      <a:pPr marL="0" indent="0" algn="ctr">
                        <a:lnSpc>
                          <a:spcPct val="100000"/>
                        </a:lnSpc>
                        <a:defRPr/>
                      </a:pPr>
                      <a:r>
                        <a:rPr lang="en-US" sz="1500" b="1" i="0" u="none" strike="noStrike" dirty="0">
                          <a:solidFill>
                            <a:srgbClr val="10B981"/>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01</a:t>
                      </a:r>
                      <a:endParaRPr lang="en-US" sz="1100" dirty="0">
                        <a:latin typeface="BlueakaBeta2GBK" panose="02000700000000000000" pitchFamily="2" charset="-122"/>
                      </a:endParaRPr>
                    </a:p>
                  </a:txBody>
                  <a:tcPr marL="101600" marR="101600" marT="101600" marB="101600">
                    <a:lnL>
                      <a:noFill/>
                    </a:lnL>
                    <a:lnR>
                      <a:noFill/>
                    </a:lnR>
                    <a:lnT w="25400" cap="flat" cmpd="sng" algn="ctr">
                      <a:solidFill>
                        <a:srgbClr val="6EE7B7"/>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alpha val="100000"/>
                      </a:srgbClr>
                    </a:solidFill>
                  </a:tcPr>
                </a:tc>
                <a:tc>
                  <a:txBody>
                    <a:bodyPr/>
                    <a:lstStyle/>
                    <a:p>
                      <a:pPr marL="0" indent="0" algn="ctr">
                        <a:lnSpc>
                          <a:spcPct val="100000"/>
                        </a:lnSpc>
                        <a:defRPr/>
                      </a:pPr>
                      <a:r>
                        <a:rPr lang="en-US" sz="1500" b="1" i="0" u="none" strike="noStrike" dirty="0" err="1">
                          <a:solidFill>
                            <a:srgbClr val="374151"/>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景区地图可视化</a:t>
                      </a:r>
                      <a:endParaRPr lang="en-US" sz="1100" dirty="0">
                        <a:latin typeface="BlueakaBeta2GBK" panose="02000700000000000000" pitchFamily="2" charset="-122"/>
                      </a:endParaRPr>
                    </a:p>
                  </a:txBody>
                  <a:tcPr marL="101600" marR="101600" marT="101600" marB="101600">
                    <a:lnL>
                      <a:noFill/>
                    </a:lnL>
                    <a:lnR>
                      <a:noFill/>
                    </a:lnR>
                    <a:lnT w="25400" cap="flat" cmpd="sng" algn="ctr">
                      <a:solidFill>
                        <a:srgbClr val="6EE7B7"/>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alpha val="100000"/>
                      </a:srgbClr>
                    </a:solidFill>
                  </a:tcPr>
                </a:tc>
                <a:tc>
                  <a:txBody>
                    <a:bodyPr/>
                    <a:lstStyle/>
                    <a:p>
                      <a:pPr marL="190500" indent="0" algn="l">
                        <a:lnSpc>
                          <a:spcPct val="100000"/>
                        </a:lnSpc>
                        <a:defRPr/>
                      </a:pPr>
                      <a:r>
                        <a:rPr lang="en-US" sz="1400" b="0" i="0" u="none" strike="noStrike" dirty="0">
                          <a:solidFill>
                            <a:srgbClr val="4B5563"/>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采用ASCII字符画技术渲染景区全域地图，清晰区分步道与公路路网结构；支持用户指定路径的实时高亮显示，直观呈现空间位置与路线走向。</a:t>
                      </a:r>
                      <a:endParaRPr lang="en-US" sz="1100" dirty="0">
                        <a:latin typeface="BlueakaBeta2GBK" panose="02000700000000000000" pitchFamily="2" charset="-122"/>
                      </a:endParaRPr>
                    </a:p>
                  </a:txBody>
                  <a:tcPr marL="101600" marR="101600" marT="101600" marB="101600">
                    <a:lnL>
                      <a:noFill/>
                    </a:lnL>
                    <a:lnR>
                      <a:noFill/>
                    </a:lnR>
                    <a:lnT w="25400" cap="flat" cmpd="sng" algn="ctr">
                      <a:solidFill>
                        <a:srgbClr val="6EE7B7"/>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alpha val="100000"/>
                      </a:srgbClr>
                    </a:solidFill>
                  </a:tcPr>
                </a:tc>
                <a:extLst>
                  <a:ext uri="{0D108BD9-81ED-4DB2-BD59-A6C34878D82A}">
                    <a16:rowId xmlns:a16="http://schemas.microsoft.com/office/drawing/2014/main" val="10001"/>
                  </a:ext>
                </a:extLst>
              </a:tr>
              <a:tr h="660400">
                <a:tc>
                  <a:txBody>
                    <a:bodyPr/>
                    <a:lstStyle/>
                    <a:p>
                      <a:pPr marL="0" indent="0" algn="ctr">
                        <a:lnSpc>
                          <a:spcPct val="100000"/>
                        </a:lnSpc>
                        <a:defRPr/>
                      </a:pPr>
                      <a:r>
                        <a:rPr lang="en-US" sz="1500" b="1" i="0" u="none" strike="noStrike" dirty="0">
                          <a:solidFill>
                            <a:srgbClr val="10B981"/>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02</a:t>
                      </a:r>
                      <a:endParaRPr lang="en-US" sz="1100" dirty="0">
                        <a:latin typeface="BlueakaBeta2GBK" panose="02000700000000000000" pitchFamily="2" charset="-122"/>
                      </a:endParaRPr>
                    </a:p>
                  </a:txBody>
                  <a:tcPr marL="101600" marR="101600" marT="101600" marB="101600">
                    <a:lnL>
                      <a:noFill/>
                    </a:lnL>
                    <a:lnR>
                      <a:noFill/>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3F4F6">
                        <a:alpha val="100000"/>
                      </a:srgbClr>
                    </a:solidFill>
                  </a:tcPr>
                </a:tc>
                <a:tc>
                  <a:txBody>
                    <a:bodyPr/>
                    <a:lstStyle/>
                    <a:p>
                      <a:pPr marL="0" indent="0" algn="ctr">
                        <a:lnSpc>
                          <a:spcPct val="100000"/>
                        </a:lnSpc>
                        <a:defRPr/>
                      </a:pPr>
                      <a:r>
                        <a:rPr lang="en-US" sz="1500" b="1" i="0" u="none" strike="noStrike" dirty="0" err="1">
                          <a:solidFill>
                            <a:srgbClr val="374151"/>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景点列表与详情</a:t>
                      </a:r>
                      <a:endParaRPr lang="en-US" sz="1100" dirty="0">
                        <a:latin typeface="BlueakaBeta2GBK" panose="02000700000000000000" pitchFamily="2" charset="-122"/>
                      </a:endParaRPr>
                    </a:p>
                  </a:txBody>
                  <a:tcPr marL="101600" marR="101600" marT="101600" marB="101600">
                    <a:lnL>
                      <a:noFill/>
                    </a:lnL>
                    <a:lnR>
                      <a:noFill/>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3F4F6">
                        <a:alpha val="100000"/>
                      </a:srgbClr>
                    </a:solidFill>
                  </a:tcPr>
                </a:tc>
                <a:tc>
                  <a:txBody>
                    <a:bodyPr/>
                    <a:lstStyle/>
                    <a:p>
                      <a:pPr marL="190500" indent="0" algn="l">
                        <a:lnSpc>
                          <a:spcPct val="100000"/>
                        </a:lnSpc>
                        <a:defRPr/>
                      </a:pPr>
                      <a:r>
                        <a:rPr lang="en-US" sz="1400" b="0" i="0" u="none" strike="noStrike" dirty="0" err="1">
                          <a:solidFill>
                            <a:srgbClr val="4B5563"/>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结构化展示景区所有景点基础信息，支持按景点编号快速检索；可查看景点名称、地理坐标、特色介绍及游览提示等详细内容</a:t>
                      </a:r>
                      <a:r>
                        <a:rPr lang="en-US" sz="1400" b="0" i="0" u="none" strike="noStrike" dirty="0">
                          <a:solidFill>
                            <a:srgbClr val="4B5563"/>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a:t>
                      </a:r>
                      <a:endParaRPr lang="en-US" sz="1100" dirty="0">
                        <a:latin typeface="BlueakaBeta2GBK" panose="02000700000000000000" pitchFamily="2" charset="-122"/>
                      </a:endParaRPr>
                    </a:p>
                  </a:txBody>
                  <a:tcPr marL="101600" marR="101600" marT="101600" marB="101600">
                    <a:lnL>
                      <a:noFill/>
                    </a:lnL>
                    <a:lnR>
                      <a:noFill/>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3F4F6">
                        <a:alpha val="100000"/>
                      </a:srgbClr>
                    </a:solidFill>
                  </a:tcPr>
                </a:tc>
                <a:extLst>
                  <a:ext uri="{0D108BD9-81ED-4DB2-BD59-A6C34878D82A}">
                    <a16:rowId xmlns:a16="http://schemas.microsoft.com/office/drawing/2014/main" val="10002"/>
                  </a:ext>
                </a:extLst>
              </a:tr>
              <a:tr h="660400">
                <a:tc>
                  <a:txBody>
                    <a:bodyPr/>
                    <a:lstStyle/>
                    <a:p>
                      <a:pPr marL="0" indent="0" algn="ctr">
                        <a:lnSpc>
                          <a:spcPct val="100000"/>
                        </a:lnSpc>
                        <a:defRPr/>
                      </a:pPr>
                      <a:r>
                        <a:rPr lang="en-US" sz="1500" b="1" i="0" u="none" strike="noStrike" dirty="0">
                          <a:solidFill>
                            <a:srgbClr val="10B981"/>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03</a:t>
                      </a:r>
                      <a:endParaRPr lang="en-US" sz="1100" dirty="0">
                        <a:latin typeface="BlueakaBeta2GBK" panose="02000700000000000000" pitchFamily="2" charset="-122"/>
                      </a:endParaRPr>
                    </a:p>
                  </a:txBody>
                  <a:tcPr marL="101600" marR="101600" marT="101600" marB="101600">
                    <a:lnL>
                      <a:noFill/>
                    </a:lnL>
                    <a:lnR>
                      <a:noFill/>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alpha val="100000"/>
                      </a:srgbClr>
                    </a:solidFill>
                  </a:tcPr>
                </a:tc>
                <a:tc>
                  <a:txBody>
                    <a:bodyPr/>
                    <a:lstStyle/>
                    <a:p>
                      <a:pPr marL="0" indent="0" algn="ctr">
                        <a:lnSpc>
                          <a:spcPct val="100000"/>
                        </a:lnSpc>
                        <a:defRPr/>
                      </a:pPr>
                      <a:r>
                        <a:rPr lang="en-US" sz="1500" b="1" i="0" u="none" strike="noStrike" dirty="0" err="1">
                          <a:solidFill>
                            <a:srgbClr val="374151"/>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最短路径导航</a:t>
                      </a:r>
                      <a:endParaRPr lang="en-US" sz="1100" dirty="0">
                        <a:latin typeface="BlueakaBeta2GBK" panose="02000700000000000000" pitchFamily="2" charset="-122"/>
                      </a:endParaRPr>
                    </a:p>
                  </a:txBody>
                  <a:tcPr marL="101600" marR="101600" marT="101600" marB="101600">
                    <a:lnL>
                      <a:noFill/>
                    </a:lnL>
                    <a:lnR>
                      <a:noFill/>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alpha val="100000"/>
                      </a:srgbClr>
                    </a:solidFill>
                  </a:tcPr>
                </a:tc>
                <a:tc>
                  <a:txBody>
                    <a:bodyPr/>
                    <a:lstStyle/>
                    <a:p>
                      <a:pPr marL="190500" indent="0" algn="l">
                        <a:lnSpc>
                          <a:spcPct val="100000"/>
                        </a:lnSpc>
                        <a:defRPr/>
                      </a:pPr>
                      <a:r>
                        <a:rPr lang="en-US" sz="1400" b="0" i="0" u="none" strike="noStrike" dirty="0" err="1">
                          <a:solidFill>
                            <a:srgbClr val="4B5563"/>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基于经典Dijkstra算法计算任意两点间的最短路径，自动输出完整的路径节点序列、总行进距离，并结合步行速度模型预估所需时间</a:t>
                      </a:r>
                      <a:r>
                        <a:rPr lang="en-US" sz="1400" b="0" i="0" u="none" strike="noStrike" dirty="0">
                          <a:solidFill>
                            <a:srgbClr val="4B5563"/>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a:t>
                      </a:r>
                      <a:endParaRPr lang="en-US" sz="1100" dirty="0">
                        <a:latin typeface="BlueakaBeta2GBK" panose="02000700000000000000" pitchFamily="2" charset="-122"/>
                      </a:endParaRPr>
                    </a:p>
                  </a:txBody>
                  <a:tcPr marL="101600" marR="101600" marT="101600" marB="101600">
                    <a:lnL>
                      <a:noFill/>
                    </a:lnL>
                    <a:lnR>
                      <a:noFill/>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alpha val="100000"/>
                      </a:srgbClr>
                    </a:solidFill>
                  </a:tcPr>
                </a:tc>
                <a:extLst>
                  <a:ext uri="{0D108BD9-81ED-4DB2-BD59-A6C34878D82A}">
                    <a16:rowId xmlns:a16="http://schemas.microsoft.com/office/drawing/2014/main" val="10003"/>
                  </a:ext>
                </a:extLst>
              </a:tr>
              <a:tr h="660400">
                <a:tc>
                  <a:txBody>
                    <a:bodyPr/>
                    <a:lstStyle/>
                    <a:p>
                      <a:pPr marL="0" indent="0" algn="ctr">
                        <a:lnSpc>
                          <a:spcPct val="100000"/>
                        </a:lnSpc>
                        <a:defRPr/>
                      </a:pPr>
                      <a:r>
                        <a:rPr lang="en-US" sz="1500" b="1" i="0" u="none" strike="noStrike" dirty="0">
                          <a:solidFill>
                            <a:srgbClr val="10B981"/>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04</a:t>
                      </a:r>
                      <a:endParaRPr lang="en-US" sz="1100" dirty="0">
                        <a:latin typeface="BlueakaBeta2GBK" panose="02000700000000000000" pitchFamily="2" charset="-122"/>
                      </a:endParaRPr>
                    </a:p>
                  </a:txBody>
                  <a:tcPr marL="101600" marR="101600" marT="101600" marB="101600">
                    <a:lnL>
                      <a:noFill/>
                    </a:lnL>
                    <a:lnR>
                      <a:noFill/>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3F4F6">
                        <a:alpha val="100000"/>
                      </a:srgbClr>
                    </a:solidFill>
                  </a:tcPr>
                </a:tc>
                <a:tc>
                  <a:txBody>
                    <a:bodyPr/>
                    <a:lstStyle/>
                    <a:p>
                      <a:pPr marL="0" indent="0" algn="ctr">
                        <a:lnSpc>
                          <a:spcPct val="100000"/>
                        </a:lnSpc>
                        <a:defRPr/>
                      </a:pPr>
                      <a:r>
                        <a:rPr lang="en-US" sz="1500" b="1" i="0" u="none" strike="noStrike" dirty="0" err="1">
                          <a:solidFill>
                            <a:srgbClr val="374151"/>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推荐游览路线</a:t>
                      </a:r>
                      <a:endParaRPr lang="en-US" sz="1100" dirty="0">
                        <a:latin typeface="BlueakaBeta2GBK" panose="02000700000000000000" pitchFamily="2" charset="-122"/>
                      </a:endParaRPr>
                    </a:p>
                  </a:txBody>
                  <a:tcPr marL="101600" marR="101600" marT="101600" marB="101600">
                    <a:lnL>
                      <a:noFill/>
                    </a:lnL>
                    <a:lnR>
                      <a:noFill/>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3F4F6">
                        <a:alpha val="100000"/>
                      </a:srgbClr>
                    </a:solidFill>
                  </a:tcPr>
                </a:tc>
                <a:tc>
                  <a:txBody>
                    <a:bodyPr/>
                    <a:lstStyle/>
                    <a:p>
                      <a:pPr marL="190500" indent="0" algn="l">
                        <a:lnSpc>
                          <a:spcPct val="100000"/>
                        </a:lnSpc>
                        <a:defRPr/>
                      </a:pPr>
                      <a:r>
                        <a:rPr lang="en-US" sz="1400" b="0" i="0" u="none" strike="noStrike" dirty="0" err="1">
                          <a:solidFill>
                            <a:srgbClr val="4B5563"/>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应用最近邻启发式算法，根据用户选定的多个景点，智能规划最优游览顺序，有效减少折返路程，最大化提升游客的游览效率与体验</a:t>
                      </a:r>
                      <a:r>
                        <a:rPr lang="en-US" sz="1400" b="0" i="0" u="none" strike="noStrike" dirty="0">
                          <a:solidFill>
                            <a:srgbClr val="4B5563"/>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a:t>
                      </a:r>
                      <a:endParaRPr lang="en-US" sz="1100" dirty="0">
                        <a:latin typeface="BlueakaBeta2GBK" panose="02000700000000000000" pitchFamily="2" charset="-122"/>
                      </a:endParaRPr>
                    </a:p>
                  </a:txBody>
                  <a:tcPr marL="101600" marR="101600" marT="101600" marB="101600">
                    <a:lnL>
                      <a:noFill/>
                    </a:lnL>
                    <a:lnR>
                      <a:noFill/>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3F4F6">
                        <a:alpha val="100000"/>
                      </a:srgbClr>
                    </a:solidFill>
                  </a:tcPr>
                </a:tc>
                <a:extLst>
                  <a:ext uri="{0D108BD9-81ED-4DB2-BD59-A6C34878D82A}">
                    <a16:rowId xmlns:a16="http://schemas.microsoft.com/office/drawing/2014/main" val="10004"/>
                  </a:ext>
                </a:extLst>
              </a:tr>
              <a:tr h="660400">
                <a:tc>
                  <a:txBody>
                    <a:bodyPr/>
                    <a:lstStyle/>
                    <a:p>
                      <a:pPr marL="0" indent="0" algn="ctr">
                        <a:lnSpc>
                          <a:spcPct val="100000"/>
                        </a:lnSpc>
                        <a:defRPr/>
                      </a:pPr>
                      <a:r>
                        <a:rPr lang="en-US" sz="1500" b="1" i="0" u="none" strike="noStrike" dirty="0">
                          <a:solidFill>
                            <a:srgbClr val="10B981"/>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05</a:t>
                      </a:r>
                      <a:endParaRPr lang="en-US" sz="1100" dirty="0">
                        <a:latin typeface="BlueakaBeta2GBK" panose="02000700000000000000" pitchFamily="2" charset="-122"/>
                      </a:endParaRPr>
                    </a:p>
                  </a:txBody>
                  <a:tcPr marL="101600" marR="101600" marT="101600" marB="101600">
                    <a:lnL>
                      <a:noFill/>
                    </a:lnL>
                    <a:lnR>
                      <a:noFill/>
                    </a:lnR>
                    <a:lnT w="12700" cap="flat" cmpd="sng" algn="ctr">
                      <a:solidFill>
                        <a:srgbClr val="E5E7EB"/>
                      </a:solidFill>
                      <a:prstDash val="solid"/>
                      <a:round/>
                      <a:headEnd type="none" w="med" len="med"/>
                      <a:tailEnd type="none" w="med" len="med"/>
                    </a:lnT>
                    <a:lnB>
                      <a:noFill/>
                    </a:lnB>
                    <a:solidFill>
                      <a:srgbClr val="FFFFFF">
                        <a:alpha val="100000"/>
                      </a:srgbClr>
                    </a:solidFill>
                  </a:tcPr>
                </a:tc>
                <a:tc>
                  <a:txBody>
                    <a:bodyPr/>
                    <a:lstStyle/>
                    <a:p>
                      <a:pPr marL="0" indent="0" algn="ctr">
                        <a:lnSpc>
                          <a:spcPct val="100000"/>
                        </a:lnSpc>
                        <a:defRPr/>
                      </a:pPr>
                      <a:r>
                        <a:rPr lang="en-US" sz="1500" b="1" i="0" u="none" strike="noStrike" dirty="0" err="1">
                          <a:solidFill>
                            <a:srgbClr val="374151"/>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数据热重载</a:t>
                      </a:r>
                      <a:endParaRPr lang="en-US" sz="1100" dirty="0">
                        <a:latin typeface="BlueakaBeta2GBK" panose="02000700000000000000" pitchFamily="2" charset="-122"/>
                      </a:endParaRPr>
                    </a:p>
                  </a:txBody>
                  <a:tcPr marL="101600" marR="101600" marT="101600" marB="101600">
                    <a:lnL>
                      <a:noFill/>
                    </a:lnL>
                    <a:lnR>
                      <a:noFill/>
                    </a:lnR>
                    <a:lnT w="12700" cap="flat" cmpd="sng" algn="ctr">
                      <a:solidFill>
                        <a:srgbClr val="E5E7EB"/>
                      </a:solidFill>
                      <a:prstDash val="solid"/>
                      <a:round/>
                      <a:headEnd type="none" w="med" len="med"/>
                      <a:tailEnd type="none" w="med" len="med"/>
                    </a:lnT>
                    <a:lnB>
                      <a:noFill/>
                    </a:lnB>
                    <a:solidFill>
                      <a:srgbClr val="FFFFFF">
                        <a:alpha val="100000"/>
                      </a:srgbClr>
                    </a:solidFill>
                  </a:tcPr>
                </a:tc>
                <a:tc>
                  <a:txBody>
                    <a:bodyPr/>
                    <a:lstStyle/>
                    <a:p>
                      <a:pPr marL="190500" indent="0" algn="l">
                        <a:lnSpc>
                          <a:spcPct val="100000"/>
                        </a:lnSpc>
                        <a:defRPr/>
                      </a:pPr>
                      <a:r>
                        <a:rPr lang="en-US" sz="1400" b="0" i="0" u="none" strike="noStrike" dirty="0" err="1">
                          <a:solidFill>
                            <a:srgbClr val="4B5563"/>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支持在程序运行过程中动态加载更新后的景点与道路数据文件，无需重启服务即可生效，确保景区信息的实时同步与系统的高可用性</a:t>
                      </a:r>
                      <a:r>
                        <a:rPr lang="en-US" sz="1400" b="0" i="0" u="none" strike="noStrike" dirty="0">
                          <a:solidFill>
                            <a:srgbClr val="4B5563"/>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a:t>
                      </a:r>
                      <a:endParaRPr lang="en-US" sz="1100" dirty="0">
                        <a:latin typeface="BlueakaBeta2GBK" panose="02000700000000000000" pitchFamily="2" charset="-122"/>
                      </a:endParaRPr>
                    </a:p>
                  </a:txBody>
                  <a:tcPr marL="101600" marR="101600" marT="101600" marB="101600">
                    <a:lnL>
                      <a:noFill/>
                    </a:lnL>
                    <a:lnR>
                      <a:noFill/>
                    </a:lnR>
                    <a:lnT w="12700" cap="flat" cmpd="sng" algn="ctr">
                      <a:solidFill>
                        <a:srgbClr val="E5E7EB"/>
                      </a:solidFill>
                      <a:prstDash val="solid"/>
                      <a:round/>
                      <a:headEnd type="none" w="med" len="med"/>
                      <a:tailEnd type="none" w="med" len="med"/>
                    </a:lnT>
                    <a:lnB>
                      <a:noFill/>
                    </a:lnB>
                    <a:solidFill>
                      <a:srgbClr val="FFFFFF">
                        <a:alpha val="100000"/>
                      </a:srgbClr>
                    </a:solidFill>
                  </a:tcPr>
                </a:tc>
                <a:extLst>
                  <a:ext uri="{0D108BD9-81ED-4DB2-BD59-A6C34878D82A}">
                    <a16:rowId xmlns:a16="http://schemas.microsoft.com/office/drawing/2014/main" val="10005"/>
                  </a:ext>
                </a:extLst>
              </a:tr>
            </a:tbl>
          </a:graphicData>
        </a:graphic>
      </p:graphicFrame>
      <p:sp>
        <p:nvSpPr>
          <p:cNvPr id="7" name="AutoShape 7"/>
          <p:cNvSpPr/>
          <p:nvPr/>
        </p:nvSpPr>
        <p:spPr>
          <a:xfrm>
            <a:off x="508000" y="5778500"/>
            <a:ext cx="11176000" cy="762000"/>
          </a:xfrm>
          <a:prstGeom prst="roundRect">
            <a:avLst>
              <a:gd name="adj" fmla="val 0"/>
            </a:avLst>
          </a:prstGeom>
          <a:solidFill>
            <a:srgbClr val="10B981">
              <a:alpha val="8000"/>
            </a:srgbClr>
          </a:solidFill>
          <a:ln w="12700" cap="flat" cmpd="sng">
            <a:solidFill>
              <a:srgbClr val="10B981">
                <a:alpha val="20000"/>
              </a:srgbClr>
            </a:solidFill>
            <a:prstDash val="solid"/>
            <a:round/>
          </a:ln>
        </p:spPr>
        <p:txBody>
          <a:bodyPr vert="horz" wrap="square" lIns="63500" tIns="63500" rIns="63500" bIns="63500" rtlCol="0" anchor="ctr"/>
          <a:lstStyle/>
          <a:p>
            <a:pPr algn="ctr">
              <a:defRPr/>
            </a:pPr>
            <a:endParaRPr dirty="0">
              <a:latin typeface="BlueakaBeta2GBK" panose="02000700000000000000" pitchFamily="2" charset="-122"/>
              <a:ea typeface="BlueakaBeta2GBK" panose="02000700000000000000" pitchFamily="2" charset="-122"/>
            </a:endParaRPr>
          </a:p>
        </p:txBody>
      </p:sp>
      <p:sp>
        <p:nvSpPr>
          <p:cNvPr id="8" name="AutoShape 8"/>
          <p:cNvSpPr/>
          <p:nvPr/>
        </p:nvSpPr>
        <p:spPr>
          <a:xfrm>
            <a:off x="635000" y="5905500"/>
            <a:ext cx="10922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1" i="0" u="none" strike="noStrike" dirty="0">
                <a:solidFill>
                  <a:srgbClr val="059669"/>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 系统优势：</a:t>
            </a:r>
            <a:r>
              <a:rPr lang="en-US" sz="1400" b="0" i="0" u="none" strike="noStrike" dirty="0">
                <a:solidFill>
                  <a:srgbClr val="374151"/>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五大核心功能覆盖了从信息展示到智能规划的全流程需求，通过高效的图算法与动态数据机制，构建了一个轻量化、高响应、易维护的景区智能导览系统，为游客提供便捷、科学的游览指引。</a:t>
            </a:r>
            <a:endParaRPr lang="en-US" sz="1100" dirty="0">
              <a:latin typeface="BlueakaBeta2GBK" panose="02000700000000000000" pitchFamily="2" charset="-122"/>
              <a:ea typeface="BlueakaBeta2GBK" panose="02000700000000000000" pitchFamily="2"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9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9525000" y="-1270000"/>
            <a:ext cx="3810000" cy="3810000"/>
          </a:xfrm>
          <a:prstGeom prst="ellipse">
            <a:avLst/>
          </a:prstGeom>
          <a:solidFill>
            <a:srgbClr val="3B82F6">
              <a:alpha val="5000"/>
            </a:srgbClr>
          </a:solidFill>
          <a:ln w="25400" cap="flat" cmpd="sng">
            <a:noFill/>
            <a:prstDash val="solid"/>
            <a:round/>
          </a:ln>
        </p:spPr>
        <p:txBody>
          <a:bodyPr vert="horz" wrap="square" lIns="63500" tIns="63500" rIns="63500" bIns="63500" rtlCol="0" anchor="ctr"/>
          <a:lstStyle/>
          <a:p>
            <a:pPr algn="ctr">
              <a:defRPr/>
            </a:pPr>
            <a:endParaRPr dirty="0">
              <a:latin typeface="BlueakaBeta2GBK" panose="02000700000000000000" pitchFamily="2" charset="-122"/>
              <a:ea typeface="BlueakaBeta2GBK" panose="02000700000000000000" pitchFamily="2" charset="-122"/>
            </a:endParaRPr>
          </a:p>
        </p:txBody>
      </p:sp>
      <p:sp>
        <p:nvSpPr>
          <p:cNvPr id="3" name="AutoShape 3"/>
          <p:cNvSpPr/>
          <p:nvPr/>
        </p:nvSpPr>
        <p:spPr>
          <a:xfrm>
            <a:off x="-1016000" y="5080000"/>
            <a:ext cx="2540000" cy="2540000"/>
          </a:xfrm>
          <a:prstGeom prst="ellipse">
            <a:avLst/>
          </a:prstGeom>
          <a:solidFill>
            <a:srgbClr val="1E3A8A">
              <a:alpha val="5000"/>
            </a:srgbClr>
          </a:solidFill>
          <a:ln w="25400" cap="flat" cmpd="sng">
            <a:noFill/>
            <a:prstDash val="solid"/>
            <a:round/>
          </a:ln>
        </p:spPr>
        <p:txBody>
          <a:bodyPr vert="horz" wrap="square" lIns="63500" tIns="63500" rIns="63500" bIns="63500" rtlCol="0" anchor="ctr"/>
          <a:lstStyle/>
          <a:p>
            <a:pPr algn="ctr">
              <a:defRPr/>
            </a:pPr>
            <a:endParaRPr dirty="0">
              <a:latin typeface="BlueakaBeta2GBK" panose="02000700000000000000" pitchFamily="2" charset="-122"/>
              <a:ea typeface="BlueakaBeta2GBK" panose="02000700000000000000" pitchFamily="2" charset="-122"/>
            </a:endParaRPr>
          </a:p>
        </p:txBody>
      </p:sp>
      <p:sp>
        <p:nvSpPr>
          <p:cNvPr id="4" name="AutoShape 4"/>
          <p:cNvSpPr/>
          <p:nvPr/>
        </p:nvSpPr>
        <p:spPr>
          <a:xfrm>
            <a:off x="508000" y="381000"/>
            <a:ext cx="762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dirty="0" err="1">
                <a:solidFill>
                  <a:srgbClr val="1E3A8A"/>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三、系统设计</a:t>
            </a:r>
            <a:r>
              <a:rPr lang="en-US" sz="2400" b="1" i="0" u="none" strike="noStrike" dirty="0">
                <a:solidFill>
                  <a:srgbClr val="1E3A8A"/>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 - </a:t>
            </a:r>
            <a:r>
              <a:rPr lang="en-US" sz="2400" b="1" i="0" u="none" strike="noStrike" dirty="0" err="1">
                <a:solidFill>
                  <a:srgbClr val="1E3A8A"/>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数据流</a:t>
            </a:r>
            <a:endParaRPr lang="en-US" sz="1100" dirty="0">
              <a:latin typeface="BlueakaBeta2GBK" panose="02000700000000000000" pitchFamily="2" charset="-122"/>
              <a:ea typeface="BlueakaBeta2GBK" panose="02000700000000000000" pitchFamily="2" charset="-122"/>
            </a:endParaRPr>
          </a:p>
        </p:txBody>
      </p:sp>
      <p:sp>
        <p:nvSpPr>
          <p:cNvPr id="5" name="AutoShape 5"/>
          <p:cNvSpPr/>
          <p:nvPr/>
        </p:nvSpPr>
        <p:spPr>
          <a:xfrm>
            <a:off x="3556000" y="1270000"/>
            <a:ext cx="5080000" cy="825500"/>
          </a:xfrm>
          <a:prstGeom prst="roundRect">
            <a:avLst>
              <a:gd name="adj" fmla="val 15384"/>
            </a:avLst>
          </a:prstGeom>
          <a:solidFill>
            <a:srgbClr val="DBEAFE">
              <a:alpha val="100000"/>
            </a:srgbClr>
          </a:solidFill>
          <a:ln w="12700" cap="flat" cmpd="sng">
            <a:solidFill>
              <a:srgbClr val="BFDBFE">
                <a:alpha val="100000"/>
              </a:srgbClr>
            </a:solidFill>
            <a:prstDash val="solid"/>
            <a:round/>
          </a:ln>
        </p:spPr>
        <p:txBody>
          <a:bodyPr vert="horz" wrap="square" lIns="63500" tIns="63500" rIns="63500" bIns="63500" rtlCol="0" anchor="ctr"/>
          <a:lstStyle/>
          <a:p>
            <a:pPr algn="ctr">
              <a:defRPr/>
            </a:pPr>
            <a:endParaRPr dirty="0">
              <a:latin typeface="BlueakaBeta2GBK" panose="02000700000000000000" pitchFamily="2" charset="-122"/>
              <a:ea typeface="BlueakaBeta2GBK" panose="02000700000000000000" pitchFamily="2" charset="-122"/>
            </a:endParaRPr>
          </a:p>
        </p:txBody>
      </p:sp>
      <p:pic>
        <p:nvPicPr>
          <p:cNvPr id="6" name="Picture 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810000" y="1498600"/>
            <a:ext cx="355600" cy="355600"/>
          </a:xfrm>
          <a:prstGeom prst="rect">
            <a:avLst/>
          </a:prstGeom>
        </p:spPr>
      </p:pic>
      <p:sp>
        <p:nvSpPr>
          <p:cNvPr id="7" name="AutoShape 7"/>
          <p:cNvSpPr/>
          <p:nvPr/>
        </p:nvSpPr>
        <p:spPr>
          <a:xfrm>
            <a:off x="4318000" y="1371600"/>
            <a:ext cx="4191000" cy="698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dirty="0">
                <a:solidFill>
                  <a:srgbClr val="1E3A8A"/>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原始数据源：spots.txt / paths.txt</a:t>
            </a:r>
            <a:endParaRPr lang="en-US" sz="1100" dirty="0">
              <a:latin typeface="BlueakaBeta2GBK" panose="02000700000000000000" pitchFamily="2" charset="-122"/>
              <a:ea typeface="BlueakaBeta2GBK" panose="02000700000000000000" pitchFamily="2" charset="-122"/>
            </a:endParaRPr>
          </a:p>
          <a:p>
            <a:pPr marL="0" indent="0" algn="l">
              <a:lnSpc>
                <a:spcPct val="125000"/>
              </a:lnSpc>
            </a:pPr>
            <a:r>
              <a:rPr lang="en-US" sz="1200" b="0" i="0" u="none" strike="noStrike" dirty="0" err="1">
                <a:solidFill>
                  <a:srgbClr val="4B5563"/>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存储景区景点基础信息与路径拓扑关系的结构化文本文件</a:t>
            </a:r>
            <a:endParaRPr lang="en-US" sz="1200" b="0" i="0" u="none" strike="noStrike" dirty="0">
              <a:solidFill>
                <a:srgbClr val="4B5563"/>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endParaRPr>
          </a:p>
        </p:txBody>
      </p:sp>
      <p:cxnSp>
        <p:nvCxnSpPr>
          <p:cNvPr id="8" name="Connector 8"/>
          <p:cNvCxnSpPr/>
          <p:nvPr/>
        </p:nvCxnSpPr>
        <p:spPr>
          <a:xfrm rot="5262563">
            <a:off x="5937250" y="2248027"/>
            <a:ext cx="317500" cy="12700"/>
          </a:xfrm>
          <a:prstGeom prst="line">
            <a:avLst/>
          </a:prstGeom>
          <a:solidFill>
            <a:srgbClr val="DEE0E3">
              <a:alpha val="100000"/>
            </a:srgbClr>
          </a:solidFill>
          <a:ln w="25400" cap="flat" cmpd="sng">
            <a:solidFill>
              <a:srgbClr val="9CA3AF">
                <a:alpha val="100000"/>
              </a:srgbClr>
            </a:solidFill>
            <a:prstDash val="solid"/>
            <a:round/>
            <a:headEnd type="none" w="lg" len="lg"/>
            <a:tailEnd type="arrow" w="sm" len="sm"/>
          </a:ln>
        </p:spPr>
      </p:cxnSp>
      <p:sp>
        <p:nvSpPr>
          <p:cNvPr id="9" name="AutoShape 9"/>
          <p:cNvSpPr/>
          <p:nvPr/>
        </p:nvSpPr>
        <p:spPr>
          <a:xfrm>
            <a:off x="3556000" y="2413000"/>
            <a:ext cx="5080000" cy="825500"/>
          </a:xfrm>
          <a:prstGeom prst="roundRect">
            <a:avLst>
              <a:gd name="adj" fmla="val 15384"/>
            </a:avLst>
          </a:prstGeom>
          <a:solidFill>
            <a:srgbClr val="DBEAFE">
              <a:alpha val="100000"/>
            </a:srgbClr>
          </a:solidFill>
          <a:ln w="12700" cap="flat" cmpd="sng">
            <a:solidFill>
              <a:srgbClr val="BFDBFE">
                <a:alpha val="100000"/>
              </a:srgbClr>
            </a:solidFill>
            <a:prstDash val="solid"/>
            <a:round/>
          </a:ln>
        </p:spPr>
        <p:txBody>
          <a:bodyPr vert="horz" wrap="square" lIns="63500" tIns="63500" rIns="63500" bIns="63500" rtlCol="0" anchor="ctr"/>
          <a:lstStyle/>
          <a:p>
            <a:pPr algn="ctr">
              <a:defRPr/>
            </a:pPr>
            <a:endParaRPr dirty="0">
              <a:latin typeface="BlueakaBeta2GBK" panose="02000700000000000000" pitchFamily="2" charset="-122"/>
              <a:ea typeface="BlueakaBeta2GBK" panose="02000700000000000000" pitchFamily="2" charset="-122"/>
            </a:endParaRPr>
          </a:p>
        </p:txBody>
      </p:sp>
      <p:pic>
        <p:nvPicPr>
          <p:cNvPr id="10" name="Picture 10"/>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810000" y="2641600"/>
            <a:ext cx="355600" cy="355600"/>
          </a:xfrm>
          <a:prstGeom prst="rect">
            <a:avLst/>
          </a:prstGeom>
        </p:spPr>
      </p:pic>
      <p:sp>
        <p:nvSpPr>
          <p:cNvPr id="11" name="AutoShape 11"/>
          <p:cNvSpPr/>
          <p:nvPr/>
        </p:nvSpPr>
        <p:spPr>
          <a:xfrm>
            <a:off x="4318000" y="2514600"/>
            <a:ext cx="4191000" cy="698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dirty="0" err="1">
                <a:solidFill>
                  <a:srgbClr val="1E3A8A"/>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数据清洗与构建：data_load</a:t>
            </a:r>
            <a:r>
              <a:rPr lang="en-US" sz="1600" b="1" i="0" u="none" strike="noStrike" dirty="0">
                <a:solidFill>
                  <a:srgbClr val="1E3A8A"/>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a:t>
            </a:r>
            <a:endParaRPr lang="en-US" sz="1100" dirty="0">
              <a:latin typeface="BlueakaBeta2GBK" panose="02000700000000000000" pitchFamily="2" charset="-122"/>
              <a:ea typeface="BlueakaBeta2GBK" panose="02000700000000000000" pitchFamily="2" charset="-122"/>
            </a:endParaRPr>
          </a:p>
          <a:p>
            <a:pPr marL="0" indent="0" algn="l">
              <a:lnSpc>
                <a:spcPct val="125000"/>
              </a:lnSpc>
            </a:pPr>
            <a:r>
              <a:rPr lang="en-US" sz="1200" b="0" i="0" u="none" strike="noStrike" dirty="0" err="1">
                <a:solidFill>
                  <a:srgbClr val="4B5563"/>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解析文本格式数据，校验完整性，初始化内存图结构</a:t>
            </a:r>
            <a:endParaRPr lang="en-US" sz="1200" b="0" i="0" u="none" strike="noStrike" dirty="0">
              <a:solidFill>
                <a:srgbClr val="4B5563"/>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endParaRPr>
          </a:p>
        </p:txBody>
      </p:sp>
      <p:cxnSp>
        <p:nvCxnSpPr>
          <p:cNvPr id="12" name="Connector 12"/>
          <p:cNvCxnSpPr/>
          <p:nvPr/>
        </p:nvCxnSpPr>
        <p:spPr>
          <a:xfrm rot="5262563">
            <a:off x="5937250" y="3391027"/>
            <a:ext cx="317500" cy="12700"/>
          </a:xfrm>
          <a:prstGeom prst="line">
            <a:avLst/>
          </a:prstGeom>
          <a:solidFill>
            <a:srgbClr val="DEE0E3">
              <a:alpha val="100000"/>
            </a:srgbClr>
          </a:solidFill>
          <a:ln w="25400" cap="flat" cmpd="sng">
            <a:solidFill>
              <a:srgbClr val="9CA3AF">
                <a:alpha val="100000"/>
              </a:srgbClr>
            </a:solidFill>
            <a:prstDash val="solid"/>
            <a:round/>
            <a:headEnd type="none" w="lg" len="lg"/>
            <a:tailEnd type="arrow" w="sm" len="sm"/>
          </a:ln>
        </p:spPr>
      </p:cxnSp>
      <p:sp>
        <p:nvSpPr>
          <p:cNvPr id="13" name="AutoShape 13"/>
          <p:cNvSpPr/>
          <p:nvPr/>
        </p:nvSpPr>
        <p:spPr>
          <a:xfrm>
            <a:off x="2921000" y="3556000"/>
            <a:ext cx="6350000" cy="952500"/>
          </a:xfrm>
          <a:prstGeom prst="roundRect">
            <a:avLst>
              <a:gd name="adj" fmla="val 13333"/>
            </a:avLst>
          </a:prstGeom>
          <a:solidFill>
            <a:srgbClr val="1E3A8A">
              <a:alpha val="100000"/>
            </a:srgbClr>
          </a:solidFill>
          <a:ln w="12700" cap="flat" cmpd="sng">
            <a:solidFill>
              <a:srgbClr val="1E3A8A">
                <a:alpha val="100000"/>
              </a:srgbClr>
            </a:solidFill>
            <a:prstDash val="solid"/>
            <a:round/>
          </a:ln>
        </p:spPr>
        <p:txBody>
          <a:bodyPr vert="horz" wrap="square" lIns="63500" tIns="63500" rIns="63500" bIns="63500" rtlCol="0" anchor="ctr"/>
          <a:lstStyle/>
          <a:p>
            <a:pPr algn="ctr">
              <a:defRPr/>
            </a:pPr>
            <a:endParaRPr dirty="0">
              <a:latin typeface="BlueakaBeta2GBK" panose="02000700000000000000" pitchFamily="2" charset="-122"/>
              <a:ea typeface="BlueakaBeta2GBK" panose="02000700000000000000" pitchFamily="2" charset="-122"/>
            </a:endParaRPr>
          </a:p>
        </p:txBody>
      </p:sp>
      <p:pic>
        <p:nvPicPr>
          <p:cNvPr id="14" name="Picture 1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175000" y="3822700"/>
            <a:ext cx="406400" cy="406400"/>
          </a:xfrm>
          <a:prstGeom prst="rect">
            <a:avLst/>
          </a:prstGeom>
        </p:spPr>
      </p:pic>
      <p:sp>
        <p:nvSpPr>
          <p:cNvPr id="15" name="AutoShape 15"/>
          <p:cNvSpPr/>
          <p:nvPr/>
        </p:nvSpPr>
        <p:spPr>
          <a:xfrm>
            <a:off x="3746500" y="3657600"/>
            <a:ext cx="5461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700" b="1" i="0" u="none" strike="noStrike" dirty="0" err="1">
                <a:solidFill>
                  <a:srgbClr val="FFFFFF"/>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核心模型：Graph</a:t>
            </a:r>
            <a:r>
              <a:rPr lang="en-US" sz="1700" b="1" i="0" u="none" strike="noStrike" dirty="0">
                <a:solidFill>
                  <a:srgbClr val="FFFFFF"/>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 </a:t>
            </a:r>
            <a:r>
              <a:rPr lang="en-US" sz="1700" b="1" i="0" u="none" strike="noStrike" dirty="0" err="1">
                <a:solidFill>
                  <a:srgbClr val="FFFFFF"/>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图结构对象</a:t>
            </a:r>
            <a:endParaRPr lang="en-US" sz="1100" dirty="0">
              <a:latin typeface="BlueakaBeta2GBK" panose="02000700000000000000" pitchFamily="2" charset="-122"/>
              <a:ea typeface="BlueakaBeta2GBK" panose="02000700000000000000" pitchFamily="2" charset="-122"/>
            </a:endParaRPr>
          </a:p>
          <a:p>
            <a:pPr marL="0" indent="0" algn="l">
              <a:lnSpc>
                <a:spcPct val="125000"/>
              </a:lnSpc>
            </a:pPr>
            <a:r>
              <a:rPr lang="en-US" sz="1300" b="0" i="0" u="none" strike="noStrike" dirty="0" err="1">
                <a:solidFill>
                  <a:srgbClr val="FFFFFF">
                    <a:alpha val="80000"/>
                  </a:srgbClr>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包含：景点信息数组</a:t>
            </a:r>
            <a:r>
              <a:rPr lang="en-US" sz="1300" b="0" i="0" u="none" strike="noStrike" dirty="0">
                <a:solidFill>
                  <a:srgbClr val="FFFFFF">
                    <a:alpha val="80000"/>
                  </a:srgbClr>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(V) • </a:t>
            </a:r>
            <a:r>
              <a:rPr lang="en-US" sz="1300" b="0" i="0" u="none" strike="noStrike" dirty="0" err="1">
                <a:solidFill>
                  <a:srgbClr val="FFFFFF">
                    <a:alpha val="80000"/>
                  </a:srgbClr>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道路边集数组</a:t>
            </a:r>
            <a:r>
              <a:rPr lang="en-US" sz="1300" b="0" i="0" u="none" strike="noStrike" dirty="0">
                <a:solidFill>
                  <a:srgbClr val="FFFFFF">
                    <a:alpha val="80000"/>
                  </a:srgbClr>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(E) • </a:t>
            </a:r>
            <a:r>
              <a:rPr lang="en-US" sz="1300" b="0" i="0" u="none" strike="noStrike" dirty="0" err="1">
                <a:solidFill>
                  <a:srgbClr val="FFFFFF">
                    <a:alpha val="80000"/>
                  </a:srgbClr>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邻接矩阵</a:t>
            </a:r>
            <a:r>
              <a:rPr lang="en-US" sz="1300" b="0" i="0" u="none" strike="noStrike" dirty="0">
                <a:solidFill>
                  <a:srgbClr val="FFFFFF">
                    <a:alpha val="80000"/>
                  </a:srgbClr>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(Adj Matrix)</a:t>
            </a:r>
          </a:p>
        </p:txBody>
      </p:sp>
      <p:cxnSp>
        <p:nvCxnSpPr>
          <p:cNvPr id="16" name="Connector 16"/>
          <p:cNvCxnSpPr/>
          <p:nvPr/>
        </p:nvCxnSpPr>
        <p:spPr>
          <a:xfrm rot="10278040">
            <a:off x="1829871" y="4660903"/>
            <a:ext cx="2182221" cy="12700"/>
          </a:xfrm>
          <a:prstGeom prst="line">
            <a:avLst/>
          </a:prstGeom>
          <a:solidFill>
            <a:srgbClr val="DEE0E3">
              <a:alpha val="100000"/>
            </a:srgbClr>
          </a:solidFill>
          <a:ln w="12700" cap="flat" cmpd="sng">
            <a:solidFill>
              <a:srgbClr val="D1D5DB">
                <a:alpha val="100000"/>
              </a:srgbClr>
            </a:solidFill>
            <a:prstDash val="solid"/>
            <a:round/>
            <a:headEnd type="none" w="med" len="med"/>
            <a:tailEnd type="arrow" w="sm" len="sm"/>
          </a:ln>
        </p:spPr>
      </p:cxnSp>
      <p:cxnSp>
        <p:nvCxnSpPr>
          <p:cNvPr id="17" name="Connector 17"/>
          <p:cNvCxnSpPr/>
          <p:nvPr/>
        </p:nvCxnSpPr>
        <p:spPr>
          <a:xfrm rot="9276465">
            <a:off x="4728065" y="4660922"/>
            <a:ext cx="767273" cy="12700"/>
          </a:xfrm>
          <a:prstGeom prst="line">
            <a:avLst/>
          </a:prstGeom>
          <a:solidFill>
            <a:srgbClr val="DEE0E3">
              <a:alpha val="100000"/>
            </a:srgbClr>
          </a:solidFill>
          <a:ln w="12700" cap="flat" cmpd="sng">
            <a:solidFill>
              <a:srgbClr val="D1D5DB">
                <a:alpha val="100000"/>
              </a:srgbClr>
            </a:solidFill>
            <a:prstDash val="solid"/>
            <a:round/>
            <a:headEnd type="none" w="med" len="med"/>
            <a:tailEnd type="arrow" w="sm" len="sm"/>
          </a:ln>
        </p:spPr>
      </p:cxnSp>
      <p:cxnSp>
        <p:nvCxnSpPr>
          <p:cNvPr id="18" name="Connector 18"/>
          <p:cNvCxnSpPr/>
          <p:nvPr/>
        </p:nvCxnSpPr>
        <p:spPr>
          <a:xfrm rot="1532413">
            <a:off x="6947575" y="4660925"/>
            <a:ext cx="709952" cy="12700"/>
          </a:xfrm>
          <a:prstGeom prst="line">
            <a:avLst/>
          </a:prstGeom>
          <a:solidFill>
            <a:srgbClr val="DEE0E3">
              <a:alpha val="100000"/>
            </a:srgbClr>
          </a:solidFill>
          <a:ln w="12700" cap="flat" cmpd="sng">
            <a:solidFill>
              <a:srgbClr val="D1D5DB">
                <a:alpha val="100000"/>
              </a:srgbClr>
            </a:solidFill>
            <a:prstDash val="solid"/>
            <a:round/>
            <a:headEnd type="none" w="med" len="med"/>
            <a:tailEnd type="arrow" w="sm" len="sm"/>
          </a:ln>
        </p:spPr>
      </p:cxnSp>
      <p:cxnSp>
        <p:nvCxnSpPr>
          <p:cNvPr id="19" name="Connector 19"/>
          <p:cNvCxnSpPr/>
          <p:nvPr/>
        </p:nvCxnSpPr>
        <p:spPr>
          <a:xfrm rot="527845">
            <a:off x="8432800" y="4660903"/>
            <a:ext cx="1993940" cy="12700"/>
          </a:xfrm>
          <a:prstGeom prst="line">
            <a:avLst/>
          </a:prstGeom>
          <a:solidFill>
            <a:srgbClr val="DEE0E3">
              <a:alpha val="100000"/>
            </a:srgbClr>
          </a:solidFill>
          <a:ln w="12700" cap="flat" cmpd="sng">
            <a:solidFill>
              <a:srgbClr val="D1D5DB">
                <a:alpha val="100000"/>
              </a:srgbClr>
            </a:solidFill>
            <a:prstDash val="solid"/>
            <a:round/>
            <a:headEnd type="none" w="med" len="med"/>
            <a:tailEnd type="arrow" w="sm" len="sm"/>
          </a:ln>
        </p:spPr>
      </p:cxnSp>
      <p:sp>
        <p:nvSpPr>
          <p:cNvPr id="20" name="AutoShape 20"/>
          <p:cNvSpPr/>
          <p:nvPr/>
        </p:nvSpPr>
        <p:spPr>
          <a:xfrm>
            <a:off x="508000" y="4826000"/>
            <a:ext cx="2667000" cy="1587500"/>
          </a:xfrm>
          <a:prstGeom prst="roundRect">
            <a:avLst>
              <a:gd name="adj" fmla="val 8000"/>
            </a:avLst>
          </a:prstGeom>
          <a:solidFill>
            <a:srgbClr val="EFF6FF">
              <a:alpha val="100000"/>
            </a:srgbClr>
          </a:solidFill>
          <a:ln w="12700" cap="flat" cmpd="sng">
            <a:solidFill>
              <a:srgbClr val="BFDBFE">
                <a:alpha val="100000"/>
              </a:srgbClr>
            </a:solidFill>
            <a:prstDash val="solid"/>
            <a:round/>
          </a:ln>
        </p:spPr>
        <p:txBody>
          <a:bodyPr vert="horz" wrap="square" lIns="63500" tIns="63500" rIns="63500" bIns="63500" rtlCol="0" anchor="ctr"/>
          <a:lstStyle/>
          <a:p>
            <a:pPr algn="ctr">
              <a:defRPr/>
            </a:pPr>
            <a:endParaRPr dirty="0">
              <a:latin typeface="BlueakaBeta2GBK" panose="02000700000000000000" pitchFamily="2" charset="-122"/>
              <a:ea typeface="BlueakaBeta2GBK" panose="02000700000000000000" pitchFamily="2" charset="-122"/>
            </a:endParaRPr>
          </a:p>
        </p:txBody>
      </p:sp>
      <p:pic>
        <p:nvPicPr>
          <p:cNvPr id="21" name="Picture 2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60400" y="4978400"/>
            <a:ext cx="304800" cy="304800"/>
          </a:xfrm>
          <a:prstGeom prst="rect">
            <a:avLst/>
          </a:prstGeom>
        </p:spPr>
      </p:pic>
      <p:sp>
        <p:nvSpPr>
          <p:cNvPr id="22" name="AutoShape 22"/>
          <p:cNvSpPr/>
          <p:nvPr/>
        </p:nvSpPr>
        <p:spPr>
          <a:xfrm>
            <a:off x="1016000" y="4953000"/>
            <a:ext cx="20955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dirty="0" err="1">
                <a:solidFill>
                  <a:srgbClr val="1E3A8A"/>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最短路径计算</a:t>
            </a:r>
            <a:endParaRPr lang="en-US" sz="1100" dirty="0">
              <a:latin typeface="BlueakaBeta2GBK" panose="02000700000000000000" pitchFamily="2" charset="-122"/>
              <a:ea typeface="BlueakaBeta2GBK" panose="02000700000000000000" pitchFamily="2" charset="-122"/>
            </a:endParaRPr>
          </a:p>
          <a:p>
            <a:pPr marL="0" indent="0" algn="l">
              <a:lnSpc>
                <a:spcPct val="125000"/>
              </a:lnSpc>
            </a:pPr>
            <a:r>
              <a:rPr lang="en-US" sz="1200" b="1" i="0" u="none" strike="noStrike" dirty="0" err="1">
                <a:solidFill>
                  <a:srgbClr val="2563EB"/>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graph_dijkstra</a:t>
            </a:r>
            <a:r>
              <a:rPr lang="en-US" sz="1200" b="1" i="0" u="none" strike="noStrike" dirty="0">
                <a:solidFill>
                  <a:srgbClr val="2563EB"/>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a:t>
            </a:r>
          </a:p>
          <a:p>
            <a:pPr marL="0" indent="0" algn="l">
              <a:lnSpc>
                <a:spcPct val="100000"/>
              </a:lnSpc>
            </a:pPr>
            <a:r>
              <a:rPr lang="en-US" sz="1200" b="0" i="0" u="none" strike="noStrike" dirty="0" err="1">
                <a:solidFill>
                  <a:srgbClr val="6B7280"/>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基于贪心策略的经典算法，求解图中节点间的最短权值路径，支持多源点查询</a:t>
            </a:r>
            <a:r>
              <a:rPr lang="en-US" sz="1200" b="0" i="0" u="none" strike="noStrike" dirty="0">
                <a:solidFill>
                  <a:srgbClr val="6B7280"/>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a:t>
            </a:r>
          </a:p>
        </p:txBody>
      </p:sp>
      <p:sp>
        <p:nvSpPr>
          <p:cNvPr id="23" name="AutoShape 23"/>
          <p:cNvSpPr/>
          <p:nvPr/>
        </p:nvSpPr>
        <p:spPr>
          <a:xfrm>
            <a:off x="3365500" y="4826000"/>
            <a:ext cx="2667000" cy="1587500"/>
          </a:xfrm>
          <a:prstGeom prst="roundRect">
            <a:avLst>
              <a:gd name="adj" fmla="val 8000"/>
            </a:avLst>
          </a:prstGeom>
          <a:solidFill>
            <a:srgbClr val="EFF6FF">
              <a:alpha val="100000"/>
            </a:srgbClr>
          </a:solidFill>
          <a:ln w="12700" cap="flat" cmpd="sng">
            <a:solidFill>
              <a:srgbClr val="BFDBFE">
                <a:alpha val="100000"/>
              </a:srgbClr>
            </a:solidFill>
            <a:prstDash val="solid"/>
            <a:round/>
          </a:ln>
        </p:spPr>
        <p:txBody>
          <a:bodyPr vert="horz" wrap="square" lIns="63500" tIns="63500" rIns="63500" bIns="63500" rtlCol="0" anchor="ctr"/>
          <a:lstStyle/>
          <a:p>
            <a:pPr algn="ctr">
              <a:defRPr/>
            </a:pPr>
            <a:endParaRPr dirty="0">
              <a:latin typeface="BlueakaBeta2GBK" panose="02000700000000000000" pitchFamily="2" charset="-122"/>
              <a:ea typeface="BlueakaBeta2GBK" panose="02000700000000000000" pitchFamily="2" charset="-122"/>
            </a:endParaRPr>
          </a:p>
        </p:txBody>
      </p:sp>
      <p:pic>
        <p:nvPicPr>
          <p:cNvPr id="24" name="Picture 2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517900" y="4978400"/>
            <a:ext cx="304800" cy="304800"/>
          </a:xfrm>
          <a:prstGeom prst="rect">
            <a:avLst/>
          </a:prstGeom>
        </p:spPr>
      </p:pic>
      <p:sp>
        <p:nvSpPr>
          <p:cNvPr id="25" name="AutoShape 25"/>
          <p:cNvSpPr/>
          <p:nvPr/>
        </p:nvSpPr>
        <p:spPr>
          <a:xfrm>
            <a:off x="3873500" y="4953000"/>
            <a:ext cx="20955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dirty="0" err="1">
                <a:solidFill>
                  <a:srgbClr val="1E3A8A"/>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精准路径规划</a:t>
            </a:r>
            <a:endParaRPr lang="en-US" sz="1100" dirty="0">
              <a:latin typeface="BlueakaBeta2GBK" panose="02000700000000000000" pitchFamily="2" charset="-122"/>
              <a:ea typeface="BlueakaBeta2GBK" panose="02000700000000000000" pitchFamily="2" charset="-122"/>
            </a:endParaRPr>
          </a:p>
          <a:p>
            <a:pPr marL="0" indent="0" algn="l">
              <a:lnSpc>
                <a:spcPct val="125000"/>
              </a:lnSpc>
            </a:pPr>
            <a:r>
              <a:rPr lang="en-US" sz="1200" b="1" i="0" u="none" strike="noStrike" dirty="0" err="1">
                <a:solidFill>
                  <a:srgbClr val="2563EB"/>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graph_shortest_path</a:t>
            </a:r>
            <a:r>
              <a:rPr lang="en-US" sz="1200" b="1" i="0" u="none" strike="noStrike" dirty="0">
                <a:solidFill>
                  <a:srgbClr val="2563EB"/>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a:t>
            </a:r>
          </a:p>
          <a:p>
            <a:pPr marL="0" indent="0" algn="l">
              <a:lnSpc>
                <a:spcPct val="100000"/>
              </a:lnSpc>
            </a:pPr>
            <a:r>
              <a:rPr lang="en-US" sz="1200" b="0" i="0" u="none" strike="noStrike" dirty="0" err="1">
                <a:solidFill>
                  <a:srgbClr val="6B7280"/>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针对特定起点与终点，结合实时状态动态生成最优通行序列，解决点对点导航需求</a:t>
            </a:r>
            <a:r>
              <a:rPr lang="en-US" sz="1200" b="0" i="0" u="none" strike="noStrike" dirty="0">
                <a:solidFill>
                  <a:srgbClr val="6B7280"/>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a:t>
            </a:r>
          </a:p>
        </p:txBody>
      </p:sp>
      <p:sp>
        <p:nvSpPr>
          <p:cNvPr id="26" name="AutoShape 26"/>
          <p:cNvSpPr/>
          <p:nvPr/>
        </p:nvSpPr>
        <p:spPr>
          <a:xfrm>
            <a:off x="6223000" y="4826000"/>
            <a:ext cx="2667000" cy="1587500"/>
          </a:xfrm>
          <a:prstGeom prst="roundRect">
            <a:avLst>
              <a:gd name="adj" fmla="val 8000"/>
            </a:avLst>
          </a:prstGeom>
          <a:solidFill>
            <a:srgbClr val="EFF6FF">
              <a:alpha val="100000"/>
            </a:srgbClr>
          </a:solidFill>
          <a:ln w="12700" cap="flat" cmpd="sng">
            <a:solidFill>
              <a:srgbClr val="BFDBFE">
                <a:alpha val="100000"/>
              </a:srgbClr>
            </a:solidFill>
            <a:prstDash val="solid"/>
            <a:round/>
          </a:ln>
        </p:spPr>
        <p:txBody>
          <a:bodyPr vert="horz" wrap="square" lIns="63500" tIns="63500" rIns="63500" bIns="63500" rtlCol="0" anchor="ctr"/>
          <a:lstStyle/>
          <a:p>
            <a:pPr algn="ctr">
              <a:defRPr/>
            </a:pPr>
            <a:endParaRPr dirty="0">
              <a:latin typeface="BlueakaBeta2GBK" panose="02000700000000000000" pitchFamily="2" charset="-122"/>
              <a:ea typeface="BlueakaBeta2GBK" panose="02000700000000000000" pitchFamily="2" charset="-122"/>
            </a:endParaRPr>
          </a:p>
        </p:txBody>
      </p:sp>
      <p:pic>
        <p:nvPicPr>
          <p:cNvPr id="27" name="Picture 2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375400" y="4978400"/>
            <a:ext cx="304800" cy="304800"/>
          </a:xfrm>
          <a:prstGeom prst="rect">
            <a:avLst/>
          </a:prstGeom>
        </p:spPr>
      </p:pic>
      <p:sp>
        <p:nvSpPr>
          <p:cNvPr id="28" name="AutoShape 28"/>
          <p:cNvSpPr/>
          <p:nvPr/>
        </p:nvSpPr>
        <p:spPr>
          <a:xfrm>
            <a:off x="6731000" y="4953000"/>
            <a:ext cx="20955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dirty="0" err="1">
                <a:solidFill>
                  <a:srgbClr val="1E3A8A"/>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游览路线推荐</a:t>
            </a:r>
            <a:endParaRPr lang="en-US" sz="1100" dirty="0">
              <a:latin typeface="BlueakaBeta2GBK" panose="02000700000000000000" pitchFamily="2" charset="-122"/>
              <a:ea typeface="BlueakaBeta2GBK" panose="02000700000000000000" pitchFamily="2" charset="-122"/>
            </a:endParaRPr>
          </a:p>
          <a:p>
            <a:pPr marL="0" indent="0" algn="l">
              <a:lnSpc>
                <a:spcPct val="125000"/>
              </a:lnSpc>
            </a:pPr>
            <a:r>
              <a:rPr lang="en-US" sz="1200" b="1" i="0" u="none" strike="noStrike" dirty="0" err="1">
                <a:solidFill>
                  <a:srgbClr val="2563EB"/>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route_recommend</a:t>
            </a:r>
            <a:r>
              <a:rPr lang="en-US" sz="1200" b="1" i="0" u="none" strike="noStrike" dirty="0">
                <a:solidFill>
                  <a:srgbClr val="2563EB"/>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a:t>
            </a:r>
          </a:p>
          <a:p>
            <a:pPr marL="0" indent="0" algn="l">
              <a:lnSpc>
                <a:spcPct val="100000"/>
              </a:lnSpc>
            </a:pPr>
            <a:r>
              <a:rPr lang="en-US" sz="1200" b="0" i="0" u="none" strike="noStrike" dirty="0" err="1">
                <a:solidFill>
                  <a:srgbClr val="6B7280"/>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基于图遍历与评分算法，结合景点热度与停留时间，生成个性化的多景点游览动线</a:t>
            </a:r>
            <a:r>
              <a:rPr lang="en-US" sz="1200" b="0" i="0" u="none" strike="noStrike" dirty="0">
                <a:solidFill>
                  <a:srgbClr val="6B7280"/>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a:t>
            </a:r>
          </a:p>
        </p:txBody>
      </p:sp>
      <p:sp>
        <p:nvSpPr>
          <p:cNvPr id="29" name="AutoShape 29"/>
          <p:cNvSpPr/>
          <p:nvPr/>
        </p:nvSpPr>
        <p:spPr>
          <a:xfrm>
            <a:off x="9080500" y="4826000"/>
            <a:ext cx="2667000" cy="1587500"/>
          </a:xfrm>
          <a:prstGeom prst="roundRect">
            <a:avLst>
              <a:gd name="adj" fmla="val 8000"/>
            </a:avLst>
          </a:prstGeom>
          <a:solidFill>
            <a:srgbClr val="EFF6FF">
              <a:alpha val="100000"/>
            </a:srgbClr>
          </a:solidFill>
          <a:ln w="12700" cap="flat" cmpd="sng">
            <a:solidFill>
              <a:srgbClr val="BFDBFE">
                <a:alpha val="100000"/>
              </a:srgbClr>
            </a:solidFill>
            <a:prstDash val="solid"/>
            <a:round/>
          </a:ln>
        </p:spPr>
        <p:txBody>
          <a:bodyPr vert="horz" wrap="square" lIns="63500" tIns="63500" rIns="63500" bIns="63500" rtlCol="0" anchor="ctr"/>
          <a:lstStyle/>
          <a:p>
            <a:pPr algn="ctr">
              <a:defRPr/>
            </a:pPr>
            <a:endParaRPr dirty="0">
              <a:latin typeface="BlueakaBeta2GBK" panose="02000700000000000000" pitchFamily="2" charset="-122"/>
              <a:ea typeface="BlueakaBeta2GBK" panose="02000700000000000000" pitchFamily="2" charset="-122"/>
            </a:endParaRPr>
          </a:p>
        </p:txBody>
      </p:sp>
      <p:pic>
        <p:nvPicPr>
          <p:cNvPr id="30" name="Picture 30"/>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232900" y="4978400"/>
            <a:ext cx="304800" cy="304800"/>
          </a:xfrm>
          <a:prstGeom prst="rect">
            <a:avLst/>
          </a:prstGeom>
        </p:spPr>
      </p:pic>
      <p:sp>
        <p:nvSpPr>
          <p:cNvPr id="31" name="AutoShape 31"/>
          <p:cNvSpPr/>
          <p:nvPr/>
        </p:nvSpPr>
        <p:spPr>
          <a:xfrm>
            <a:off x="9588500" y="4953000"/>
            <a:ext cx="20955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dirty="0" err="1">
                <a:solidFill>
                  <a:srgbClr val="1E3A8A"/>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可视化地图渲染</a:t>
            </a:r>
            <a:endParaRPr lang="en-US" sz="1100" dirty="0">
              <a:latin typeface="BlueakaBeta2GBK" panose="02000700000000000000" pitchFamily="2" charset="-122"/>
              <a:ea typeface="BlueakaBeta2GBK" panose="02000700000000000000" pitchFamily="2" charset="-122"/>
            </a:endParaRPr>
          </a:p>
          <a:p>
            <a:pPr marL="0" indent="0" algn="l">
              <a:lnSpc>
                <a:spcPct val="125000"/>
              </a:lnSpc>
            </a:pPr>
            <a:r>
              <a:rPr lang="en-US" sz="1200" b="1" i="0" u="none" strike="noStrike" dirty="0" err="1">
                <a:solidFill>
                  <a:srgbClr val="2563EB"/>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map_render</a:t>
            </a:r>
            <a:r>
              <a:rPr lang="en-US" sz="1200" b="1" i="0" u="none" strike="noStrike" dirty="0">
                <a:solidFill>
                  <a:srgbClr val="2563EB"/>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a:t>
            </a:r>
          </a:p>
          <a:p>
            <a:pPr marL="0" indent="0" algn="l">
              <a:lnSpc>
                <a:spcPct val="100000"/>
              </a:lnSpc>
            </a:pPr>
            <a:r>
              <a:rPr lang="en-US" sz="1200" b="0" i="0" u="none" strike="noStrike" dirty="0" err="1">
                <a:solidFill>
                  <a:srgbClr val="6B7280"/>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将抽象的图结构数据转换为直观的可视化图层，包含节点标注、路径高亮与热力分布</a:t>
            </a:r>
            <a:r>
              <a:rPr lang="en-US" sz="1200" b="0" i="0" u="none" strike="noStrike" dirty="0">
                <a:solidFill>
                  <a:srgbClr val="6B7280"/>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AFC">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9525000" y="-1270000"/>
            <a:ext cx="3810000" cy="3810000"/>
          </a:xfrm>
          <a:prstGeom prst="ellipse">
            <a:avLst/>
          </a:prstGeom>
          <a:solidFill>
            <a:srgbClr val="3B82F6">
              <a:alpha val="5000"/>
            </a:srgbClr>
          </a:solidFill>
          <a:ln w="25400" cap="flat" cmpd="sng">
            <a:noFill/>
            <a:prstDash val="solid"/>
            <a:round/>
          </a:ln>
        </p:spPr>
        <p:txBody>
          <a:bodyPr vert="horz" wrap="square" lIns="63500" tIns="63500" rIns="63500" bIns="63500" rtlCol="0" anchor="ctr"/>
          <a:lstStyle/>
          <a:p>
            <a:pPr algn="ctr">
              <a:defRPr/>
            </a:pPr>
            <a:endParaRPr dirty="0">
              <a:latin typeface="BlueakaBeta2GBK" panose="02000700000000000000" pitchFamily="2" charset="-122"/>
              <a:ea typeface="BlueakaBeta2GBK" panose="02000700000000000000" pitchFamily="2" charset="-122"/>
            </a:endParaRPr>
          </a:p>
        </p:txBody>
      </p:sp>
      <p:sp>
        <p:nvSpPr>
          <p:cNvPr id="3" name="AutoShape 3"/>
          <p:cNvSpPr/>
          <p:nvPr/>
        </p:nvSpPr>
        <p:spPr>
          <a:xfrm>
            <a:off x="-1016000" y="5080000"/>
            <a:ext cx="2540000" cy="2540000"/>
          </a:xfrm>
          <a:prstGeom prst="ellipse">
            <a:avLst/>
          </a:prstGeom>
          <a:solidFill>
            <a:srgbClr val="10B981">
              <a:alpha val="5000"/>
            </a:srgbClr>
          </a:solidFill>
          <a:ln w="25400" cap="flat" cmpd="sng">
            <a:noFill/>
            <a:prstDash val="solid"/>
            <a:round/>
          </a:ln>
        </p:spPr>
        <p:txBody>
          <a:bodyPr vert="horz" wrap="square" lIns="63500" tIns="63500" rIns="63500" bIns="63500" rtlCol="0" anchor="ctr"/>
          <a:lstStyle/>
          <a:p>
            <a:pPr algn="ctr">
              <a:defRPr/>
            </a:pPr>
            <a:endParaRPr dirty="0">
              <a:latin typeface="BlueakaBeta2GBK" panose="02000700000000000000" pitchFamily="2" charset="-122"/>
              <a:ea typeface="BlueakaBeta2GBK" panose="02000700000000000000" pitchFamily="2" charset="-122"/>
            </a:endParaRPr>
          </a:p>
        </p:txBody>
      </p:sp>
      <p:sp>
        <p:nvSpPr>
          <p:cNvPr id="4" name="AutoShape 4"/>
          <p:cNvSpPr/>
          <p:nvPr/>
        </p:nvSpPr>
        <p:spPr>
          <a:xfrm>
            <a:off x="508000" y="381000"/>
            <a:ext cx="11176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dirty="0" err="1">
                <a:solidFill>
                  <a:srgbClr val="0F172A"/>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四、数据结构</a:t>
            </a:r>
            <a:r>
              <a:rPr lang="en-US" sz="2800" b="1" i="0" u="none" strike="noStrike" dirty="0">
                <a:solidFill>
                  <a:srgbClr val="0F172A"/>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 - </a:t>
            </a:r>
            <a:r>
              <a:rPr lang="en-US" sz="2800" b="1" i="0" u="none" strike="noStrike" dirty="0" err="1">
                <a:solidFill>
                  <a:srgbClr val="0F172A"/>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核心结构体</a:t>
            </a:r>
            <a:endParaRPr lang="en-US" sz="1100" dirty="0">
              <a:latin typeface="BlueakaBeta2GBK" panose="02000700000000000000" pitchFamily="2" charset="-122"/>
              <a:ea typeface="BlueakaBeta2GBK" panose="02000700000000000000" pitchFamily="2" charset="-122"/>
            </a:endParaRPr>
          </a:p>
        </p:txBody>
      </p:sp>
      <p:sp>
        <p:nvSpPr>
          <p:cNvPr id="5" name="AutoShape 5"/>
          <p:cNvSpPr/>
          <p:nvPr>
            <p:custDataLst>
              <p:tags r:id="rId1"/>
            </p:custDataLst>
          </p:nvPr>
        </p:nvSpPr>
        <p:spPr>
          <a:xfrm>
            <a:off x="508000" y="1270000"/>
            <a:ext cx="34925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dirty="0">
                <a:solidFill>
                  <a:srgbClr val="2563EB"/>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01 Spot </a:t>
            </a:r>
            <a:r>
              <a:rPr lang="en-US" sz="1800" b="1" i="0" u="none" strike="noStrike" dirty="0" err="1">
                <a:solidFill>
                  <a:srgbClr val="2563EB"/>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景点实体</a:t>
            </a:r>
            <a:endParaRPr lang="en-US" sz="1100" dirty="0">
              <a:latin typeface="BlueakaBeta2GBK" panose="02000700000000000000" pitchFamily="2" charset="-122"/>
              <a:ea typeface="BlueakaBeta2GBK" panose="02000700000000000000" pitchFamily="2" charset="-122"/>
            </a:endParaRPr>
          </a:p>
        </p:txBody>
      </p:sp>
      <p:sp>
        <p:nvSpPr>
          <p:cNvPr id="6" name="AutoShape 6"/>
          <p:cNvSpPr/>
          <p:nvPr>
            <p:custDataLst>
              <p:tags r:id="rId2"/>
            </p:custDataLst>
          </p:nvPr>
        </p:nvSpPr>
        <p:spPr>
          <a:xfrm>
            <a:off x="508000" y="1778000"/>
            <a:ext cx="508000" cy="38100"/>
          </a:xfrm>
          <a:prstGeom prst="roundRect">
            <a:avLst>
              <a:gd name="adj" fmla="val 0"/>
            </a:avLst>
          </a:prstGeom>
          <a:solidFill>
            <a:srgbClr val="2563EB">
              <a:alpha val="100000"/>
            </a:srgbClr>
          </a:solidFill>
          <a:ln w="25400" cap="flat" cmpd="sng">
            <a:noFill/>
            <a:prstDash val="solid"/>
            <a:round/>
          </a:ln>
        </p:spPr>
        <p:txBody>
          <a:bodyPr vert="horz" wrap="square" lIns="63500" tIns="63500" rIns="63500" bIns="63500" rtlCol="0" anchor="ctr"/>
          <a:lstStyle/>
          <a:p>
            <a:pPr algn="ctr">
              <a:defRPr/>
            </a:pPr>
            <a:endParaRPr dirty="0">
              <a:latin typeface="BlueakaBeta2GBK" panose="02000700000000000000" pitchFamily="2" charset="-122"/>
              <a:ea typeface="BlueakaBeta2GBK" panose="02000700000000000000" pitchFamily="2" charset="-122"/>
            </a:endParaRPr>
          </a:p>
        </p:txBody>
      </p:sp>
      <p:sp>
        <p:nvSpPr>
          <p:cNvPr id="7" name="AutoShape 7"/>
          <p:cNvSpPr/>
          <p:nvPr>
            <p:custDataLst>
              <p:tags r:id="rId3"/>
            </p:custDataLst>
          </p:nvPr>
        </p:nvSpPr>
        <p:spPr>
          <a:xfrm>
            <a:off x="508000" y="2032000"/>
            <a:ext cx="3492500" cy="2159000"/>
          </a:xfrm>
          <a:prstGeom prst="roundRect">
            <a:avLst>
              <a:gd name="adj" fmla="val 0"/>
            </a:avLst>
          </a:prstGeom>
          <a:solidFill>
            <a:srgbClr val="1E293B">
              <a:alpha val="100000"/>
            </a:srgbClr>
          </a:solidFill>
          <a:ln w="25400" cap="flat" cmpd="sng">
            <a:noFill/>
            <a:prstDash val="solid"/>
            <a:round/>
          </a:ln>
        </p:spPr>
        <p:txBody>
          <a:bodyPr vert="horz" wrap="square" lIns="63500" tIns="63500" rIns="63500" bIns="63500" rtlCol="0" anchor="ctr"/>
          <a:lstStyle/>
          <a:p>
            <a:pPr algn="ctr">
              <a:defRPr/>
            </a:pPr>
            <a:endParaRPr dirty="0">
              <a:latin typeface="BlueakaBeta2GBK" panose="02000700000000000000" pitchFamily="2" charset="-122"/>
              <a:ea typeface="BlueakaBeta2GBK" panose="02000700000000000000" pitchFamily="2" charset="-122"/>
            </a:endParaRPr>
          </a:p>
        </p:txBody>
      </p:sp>
      <p:sp>
        <p:nvSpPr>
          <p:cNvPr id="8" name="AutoShape 8"/>
          <p:cNvSpPr/>
          <p:nvPr>
            <p:custDataLst>
              <p:tags r:id="rId4"/>
            </p:custDataLst>
          </p:nvPr>
        </p:nvSpPr>
        <p:spPr>
          <a:xfrm>
            <a:off x="609600" y="2133600"/>
            <a:ext cx="3302000" cy="203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dirty="0">
                <a:solidFill>
                  <a:srgbClr val="94A3B8"/>
                </a:solidFill>
                <a:latin typeface="BlueakaBeta2GBK" panose="02000700000000000000" pitchFamily="2" charset="-122"/>
                <a:ea typeface="BlueakaBeta2GBK" panose="02000700000000000000" pitchFamily="2" charset="-122"/>
                <a:cs typeface="Source Code Pro"/>
                <a:sym typeface="Source Code Pro"/>
              </a:rPr>
              <a:t>typedef struct {</a:t>
            </a:r>
            <a:endParaRPr lang="en-US" sz="1100" dirty="0">
              <a:latin typeface="BlueakaBeta2GBK" panose="02000700000000000000" pitchFamily="2" charset="-122"/>
              <a:ea typeface="BlueakaBeta2GBK" panose="02000700000000000000" pitchFamily="2" charset="-122"/>
            </a:endParaRPr>
          </a:p>
          <a:p>
            <a:pPr marL="0" indent="0" algn="l">
              <a:lnSpc>
                <a:spcPct val="108000"/>
              </a:lnSpc>
            </a:pPr>
            <a:r>
              <a:rPr lang="en-US" sz="1300" b="0" i="0" u="none" strike="noStrike" dirty="0" err="1">
                <a:solidFill>
                  <a:srgbClr val="F87171"/>
                </a:solidFill>
                <a:latin typeface="BlueakaBeta2GBK" panose="02000700000000000000" pitchFamily="2" charset="-122"/>
                <a:ea typeface="BlueakaBeta2GBK" panose="02000700000000000000" pitchFamily="2" charset="-122"/>
                <a:cs typeface="Source Code Pro"/>
                <a:sym typeface="Source Code Pro"/>
              </a:rPr>
              <a:t>int </a:t>
            </a:r>
            <a:r>
              <a:rPr lang="en-US" sz="1300" b="0" i="0" u="none" strike="noStrike" dirty="0" err="1">
                <a:solidFill>
                  <a:srgbClr val="E2E8F0"/>
                </a:solidFill>
                <a:latin typeface="BlueakaBeta2GBK" panose="02000700000000000000" pitchFamily="2" charset="-122"/>
                <a:ea typeface="BlueakaBeta2GBK" panose="02000700000000000000" pitchFamily="2" charset="-122"/>
                <a:cs typeface="Source Code Pro"/>
                <a:sym typeface="Source Code Pro"/>
              </a:rPr>
              <a:t>id</a:t>
            </a:r>
            <a:r>
              <a:rPr lang="en-US" sz="1300" b="0" i="0" u="none" strike="noStrike" dirty="0">
                <a:solidFill>
                  <a:srgbClr val="E2E8F0"/>
                </a:solidFill>
                <a:latin typeface="BlueakaBeta2GBK" panose="02000700000000000000" pitchFamily="2" charset="-122"/>
                <a:ea typeface="BlueakaBeta2GBK" panose="02000700000000000000" pitchFamily="2" charset="-122"/>
                <a:cs typeface="Source Code Pro"/>
                <a:sym typeface="Source Code Pro"/>
              </a:rPr>
              <a:t>; // </a:t>
            </a:r>
            <a:r>
              <a:rPr lang="en-US" sz="1300" b="0" i="0" u="none" strike="noStrike" dirty="0" err="1">
                <a:solidFill>
                  <a:srgbClr val="E2E8F0"/>
                </a:solidFill>
                <a:latin typeface="BlueakaBeta2GBK" panose="02000700000000000000" pitchFamily="2" charset="-122"/>
                <a:ea typeface="BlueakaBeta2GBK" panose="02000700000000000000" pitchFamily="2" charset="-122"/>
                <a:cs typeface="Source Code Pro"/>
                <a:sym typeface="Source Code Pro"/>
              </a:rPr>
              <a:t>唯一标识</a:t>
            </a:r>
            <a:endParaRPr lang="en-US" sz="1300" b="0" i="0" u="none" strike="noStrike" dirty="0">
              <a:solidFill>
                <a:srgbClr val="E2E8F0"/>
              </a:solidFill>
              <a:latin typeface="BlueakaBeta2GBK" panose="02000700000000000000" pitchFamily="2" charset="-122"/>
              <a:ea typeface="BlueakaBeta2GBK" panose="02000700000000000000" pitchFamily="2" charset="-122"/>
              <a:cs typeface="Source Code Pro"/>
              <a:sym typeface="Source Code Pro"/>
            </a:endParaRPr>
          </a:p>
          <a:p>
            <a:pPr marL="0" indent="0" algn="l">
              <a:lnSpc>
                <a:spcPct val="108000"/>
              </a:lnSpc>
            </a:pPr>
            <a:r>
              <a:rPr lang="en-US" sz="1300" b="0" i="0" u="none" strike="noStrike" dirty="0" err="1">
                <a:solidFill>
                  <a:srgbClr val="FBBF24"/>
                </a:solidFill>
                <a:latin typeface="BlueakaBeta2GBK" panose="02000700000000000000" pitchFamily="2" charset="-122"/>
                <a:ea typeface="BlueakaBeta2GBK" panose="02000700000000000000" pitchFamily="2" charset="-122"/>
                <a:cs typeface="Source Code Pro"/>
                <a:sym typeface="Source Code Pro"/>
              </a:rPr>
              <a:t>char </a:t>
            </a:r>
            <a:r>
              <a:rPr lang="en-US" sz="1300" b="0" i="0" u="none" strike="noStrike" dirty="0" err="1">
                <a:solidFill>
                  <a:srgbClr val="E2E8F0"/>
                </a:solidFill>
                <a:latin typeface="BlueakaBeta2GBK" panose="02000700000000000000" pitchFamily="2" charset="-122"/>
                <a:ea typeface="BlueakaBeta2GBK" panose="02000700000000000000" pitchFamily="2" charset="-122"/>
                <a:cs typeface="Source Code Pro"/>
                <a:sym typeface="Source Code Pro"/>
              </a:rPr>
              <a:t>name</a:t>
            </a:r>
            <a:r>
              <a:rPr lang="en-US" sz="1300" b="0" i="0" u="none" strike="noStrike" dirty="0">
                <a:solidFill>
                  <a:srgbClr val="E2E8F0"/>
                </a:solidFill>
                <a:latin typeface="BlueakaBeta2GBK" panose="02000700000000000000" pitchFamily="2" charset="-122"/>
                <a:ea typeface="BlueakaBeta2GBK" panose="02000700000000000000" pitchFamily="2" charset="-122"/>
                <a:cs typeface="Source Code Pro"/>
                <a:sym typeface="Source Code Pro"/>
              </a:rPr>
              <a:t>[50]; // </a:t>
            </a:r>
            <a:r>
              <a:rPr lang="en-US" sz="1300" b="0" i="0" u="none" strike="noStrike" dirty="0" err="1">
                <a:solidFill>
                  <a:srgbClr val="E2E8F0"/>
                </a:solidFill>
                <a:latin typeface="BlueakaBeta2GBK" panose="02000700000000000000" pitchFamily="2" charset="-122"/>
                <a:ea typeface="BlueakaBeta2GBK" panose="02000700000000000000" pitchFamily="2" charset="-122"/>
                <a:cs typeface="Source Code Pro"/>
                <a:sym typeface="Source Code Pro"/>
              </a:rPr>
              <a:t>景点名称</a:t>
            </a:r>
            <a:endParaRPr lang="en-US" sz="1300" b="0" i="0" u="none" strike="noStrike" dirty="0">
              <a:solidFill>
                <a:srgbClr val="E2E8F0"/>
              </a:solidFill>
              <a:latin typeface="BlueakaBeta2GBK" panose="02000700000000000000" pitchFamily="2" charset="-122"/>
              <a:ea typeface="BlueakaBeta2GBK" panose="02000700000000000000" pitchFamily="2" charset="-122"/>
              <a:cs typeface="Source Code Pro"/>
              <a:sym typeface="Source Code Pro"/>
            </a:endParaRPr>
          </a:p>
          <a:p>
            <a:pPr marL="0" indent="0" algn="l">
              <a:lnSpc>
                <a:spcPct val="108000"/>
              </a:lnSpc>
            </a:pPr>
            <a:r>
              <a:rPr lang="en-US" sz="1300" b="0" i="0" u="none" strike="noStrike" dirty="0" err="1">
                <a:solidFill>
                  <a:srgbClr val="FBBF24"/>
                </a:solidFill>
                <a:latin typeface="BlueakaBeta2GBK" panose="02000700000000000000" pitchFamily="2" charset="-122"/>
                <a:ea typeface="BlueakaBeta2GBK" panose="02000700000000000000" pitchFamily="2" charset="-122"/>
                <a:cs typeface="Source Code Pro"/>
                <a:sym typeface="Source Code Pro"/>
              </a:rPr>
              <a:t>char </a:t>
            </a:r>
            <a:r>
              <a:rPr lang="en-US" sz="1300" b="0" i="0" u="none" strike="noStrike" dirty="0" err="1">
                <a:solidFill>
                  <a:srgbClr val="E2E8F0"/>
                </a:solidFill>
                <a:latin typeface="BlueakaBeta2GBK" panose="02000700000000000000" pitchFamily="2" charset="-122"/>
                <a:ea typeface="BlueakaBeta2GBK" panose="02000700000000000000" pitchFamily="2" charset="-122"/>
                <a:cs typeface="Source Code Pro"/>
                <a:sym typeface="Source Code Pro"/>
              </a:rPr>
              <a:t>cat</a:t>
            </a:r>
            <a:r>
              <a:rPr lang="en-US" sz="1300" b="0" i="0" u="none" strike="noStrike" dirty="0">
                <a:solidFill>
                  <a:srgbClr val="E2E8F0"/>
                </a:solidFill>
                <a:latin typeface="BlueakaBeta2GBK" panose="02000700000000000000" pitchFamily="2" charset="-122"/>
                <a:ea typeface="BlueakaBeta2GBK" panose="02000700000000000000" pitchFamily="2" charset="-122"/>
                <a:cs typeface="Source Code Pro"/>
                <a:sym typeface="Source Code Pro"/>
              </a:rPr>
              <a:t>[20]; // </a:t>
            </a:r>
            <a:r>
              <a:rPr lang="en-US" sz="1300" b="0" i="0" u="none" strike="noStrike" dirty="0" err="1">
                <a:solidFill>
                  <a:srgbClr val="E2E8F0"/>
                </a:solidFill>
                <a:latin typeface="BlueakaBeta2GBK" panose="02000700000000000000" pitchFamily="2" charset="-122"/>
                <a:ea typeface="BlueakaBeta2GBK" panose="02000700000000000000" pitchFamily="2" charset="-122"/>
                <a:cs typeface="Source Code Pro"/>
                <a:sym typeface="Source Code Pro"/>
              </a:rPr>
              <a:t>分类标签</a:t>
            </a:r>
            <a:endParaRPr lang="en-US" sz="1300" b="0" i="0" u="none" strike="noStrike" dirty="0">
              <a:solidFill>
                <a:srgbClr val="E2E8F0"/>
              </a:solidFill>
              <a:latin typeface="BlueakaBeta2GBK" panose="02000700000000000000" pitchFamily="2" charset="-122"/>
              <a:ea typeface="BlueakaBeta2GBK" panose="02000700000000000000" pitchFamily="2" charset="-122"/>
              <a:cs typeface="Source Code Pro"/>
              <a:sym typeface="Source Code Pro"/>
            </a:endParaRPr>
          </a:p>
          <a:p>
            <a:pPr marL="0" indent="0" algn="l">
              <a:lnSpc>
                <a:spcPct val="108000"/>
              </a:lnSpc>
            </a:pPr>
            <a:r>
              <a:rPr lang="en-US" sz="1300" b="0" i="0" u="none" strike="noStrike" dirty="0" err="1">
                <a:solidFill>
                  <a:srgbClr val="34D399"/>
                </a:solidFill>
                <a:latin typeface="BlueakaBeta2GBK" panose="02000700000000000000" pitchFamily="2" charset="-122"/>
                <a:ea typeface="BlueakaBeta2GBK" panose="02000700000000000000" pitchFamily="2" charset="-122"/>
                <a:cs typeface="Source Code Pro"/>
                <a:sym typeface="Source Code Pro"/>
              </a:rPr>
              <a:t>float </a:t>
            </a:r>
            <a:r>
              <a:rPr lang="en-US" sz="1300" b="0" i="0" u="none" strike="noStrike" dirty="0" err="1">
                <a:solidFill>
                  <a:srgbClr val="E2E8F0"/>
                </a:solidFill>
                <a:latin typeface="BlueakaBeta2GBK" panose="02000700000000000000" pitchFamily="2" charset="-122"/>
                <a:ea typeface="BlueakaBeta2GBK" panose="02000700000000000000" pitchFamily="2" charset="-122"/>
                <a:cs typeface="Source Code Pro"/>
                <a:sym typeface="Source Code Pro"/>
              </a:rPr>
              <a:t>x</a:t>
            </a:r>
            <a:r>
              <a:rPr lang="en-US" sz="1300" b="0" i="0" u="none" strike="noStrike" dirty="0">
                <a:solidFill>
                  <a:srgbClr val="E2E8F0"/>
                </a:solidFill>
                <a:latin typeface="BlueakaBeta2GBK" panose="02000700000000000000" pitchFamily="2" charset="-122"/>
                <a:ea typeface="BlueakaBeta2GBK" panose="02000700000000000000" pitchFamily="2" charset="-122"/>
                <a:cs typeface="Source Code Pro"/>
                <a:sym typeface="Source Code Pro"/>
              </a:rPr>
              <a:t>, y; // </a:t>
            </a:r>
            <a:r>
              <a:rPr lang="en-US" sz="1300" b="0" i="0" u="none" strike="noStrike" dirty="0" err="1">
                <a:solidFill>
                  <a:srgbClr val="E2E8F0"/>
                </a:solidFill>
                <a:latin typeface="BlueakaBeta2GBK" panose="02000700000000000000" pitchFamily="2" charset="-122"/>
                <a:ea typeface="BlueakaBeta2GBK" panose="02000700000000000000" pitchFamily="2" charset="-122"/>
                <a:cs typeface="Source Code Pro"/>
                <a:sym typeface="Source Code Pro"/>
              </a:rPr>
              <a:t>坐标</a:t>
            </a:r>
            <a:endParaRPr lang="en-US" sz="1300" b="0" i="0" u="none" strike="noStrike" dirty="0">
              <a:solidFill>
                <a:srgbClr val="E2E8F0"/>
              </a:solidFill>
              <a:latin typeface="BlueakaBeta2GBK" panose="02000700000000000000" pitchFamily="2" charset="-122"/>
              <a:ea typeface="BlueakaBeta2GBK" panose="02000700000000000000" pitchFamily="2" charset="-122"/>
              <a:cs typeface="Source Code Pro"/>
              <a:sym typeface="Source Code Pro"/>
            </a:endParaRPr>
          </a:p>
          <a:p>
            <a:pPr marL="0" indent="0" algn="l">
              <a:lnSpc>
                <a:spcPct val="108000"/>
              </a:lnSpc>
            </a:pPr>
            <a:r>
              <a:rPr lang="en-US" sz="1300" b="0" i="0" u="none" strike="noStrike" dirty="0">
                <a:solidFill>
                  <a:srgbClr val="94A3B8"/>
                </a:solidFill>
                <a:latin typeface="BlueakaBeta2GBK" panose="02000700000000000000" pitchFamily="2" charset="-122"/>
                <a:ea typeface="BlueakaBeta2GBK" panose="02000700000000000000" pitchFamily="2" charset="-122"/>
                <a:cs typeface="Source Code Pro"/>
                <a:sym typeface="Source Code Pro"/>
              </a:rPr>
              <a:t>} Spot;</a:t>
            </a:r>
          </a:p>
        </p:txBody>
      </p:sp>
      <p:sp>
        <p:nvSpPr>
          <p:cNvPr id="9" name="AutoShape 9"/>
          <p:cNvSpPr/>
          <p:nvPr>
            <p:custDataLst>
              <p:tags r:id="rId5"/>
            </p:custDataLst>
          </p:nvPr>
        </p:nvSpPr>
        <p:spPr>
          <a:xfrm>
            <a:off x="508000" y="4381500"/>
            <a:ext cx="34925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dirty="0" err="1">
                <a:solidFill>
                  <a:srgbClr val="475569"/>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地图数据的“基础原子单元”</a:t>
            </a:r>
            <a:r>
              <a:rPr lang="en-US" sz="1400" b="0" i="0" u="none" strike="noStrike" dirty="0">
                <a:solidFill>
                  <a:srgbClr val="475569"/>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a:t>
            </a:r>
            <a:r>
              <a:rPr lang="en-US" sz="1400" b="0" i="0" u="none" strike="noStrike" dirty="0" err="1">
                <a:solidFill>
                  <a:srgbClr val="475569"/>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封装了景点的静态属性。通过唯一ID建立索引，地理坐标为路径计算提供空间基础，分类字段支持后续的景点筛选与智能推荐</a:t>
            </a:r>
            <a:r>
              <a:rPr lang="en-US" sz="1400" b="0" i="0" u="none" strike="noStrike" dirty="0">
                <a:solidFill>
                  <a:srgbClr val="475569"/>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a:t>
            </a:r>
            <a:endParaRPr lang="en-US" sz="1100" dirty="0">
              <a:latin typeface="BlueakaBeta2GBK" panose="02000700000000000000" pitchFamily="2" charset="-122"/>
              <a:ea typeface="BlueakaBeta2GBK" panose="02000700000000000000" pitchFamily="2" charset="-122"/>
            </a:endParaRPr>
          </a:p>
        </p:txBody>
      </p:sp>
      <p:sp>
        <p:nvSpPr>
          <p:cNvPr id="10" name="AutoShape 10"/>
          <p:cNvSpPr/>
          <p:nvPr>
            <p:custDataLst>
              <p:tags r:id="rId6"/>
            </p:custDataLst>
          </p:nvPr>
        </p:nvSpPr>
        <p:spPr>
          <a:xfrm>
            <a:off x="4254500" y="1270000"/>
            <a:ext cx="34925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dirty="0">
                <a:solidFill>
                  <a:srgbClr val="2563EB"/>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02 Path </a:t>
            </a:r>
            <a:r>
              <a:rPr lang="en-US" sz="1800" b="1" i="0" u="none" strike="noStrike" dirty="0" err="1">
                <a:solidFill>
                  <a:srgbClr val="2563EB"/>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路径关系</a:t>
            </a:r>
            <a:endParaRPr lang="en-US" sz="1100" dirty="0">
              <a:latin typeface="BlueakaBeta2GBK" panose="02000700000000000000" pitchFamily="2" charset="-122"/>
              <a:ea typeface="BlueakaBeta2GBK" panose="02000700000000000000" pitchFamily="2" charset="-122"/>
            </a:endParaRPr>
          </a:p>
        </p:txBody>
      </p:sp>
      <p:sp>
        <p:nvSpPr>
          <p:cNvPr id="11" name="AutoShape 11"/>
          <p:cNvSpPr/>
          <p:nvPr>
            <p:custDataLst>
              <p:tags r:id="rId7"/>
            </p:custDataLst>
          </p:nvPr>
        </p:nvSpPr>
        <p:spPr>
          <a:xfrm>
            <a:off x="4254500" y="1778000"/>
            <a:ext cx="508000" cy="38100"/>
          </a:xfrm>
          <a:prstGeom prst="roundRect">
            <a:avLst>
              <a:gd name="adj" fmla="val 0"/>
            </a:avLst>
          </a:prstGeom>
          <a:solidFill>
            <a:srgbClr val="2563EB">
              <a:alpha val="100000"/>
            </a:srgbClr>
          </a:solidFill>
          <a:ln w="25400" cap="flat" cmpd="sng">
            <a:noFill/>
            <a:prstDash val="solid"/>
            <a:round/>
          </a:ln>
        </p:spPr>
        <p:txBody>
          <a:bodyPr vert="horz" wrap="square" lIns="63500" tIns="63500" rIns="63500" bIns="63500" rtlCol="0" anchor="ctr"/>
          <a:lstStyle/>
          <a:p>
            <a:pPr algn="ctr">
              <a:defRPr/>
            </a:pPr>
            <a:endParaRPr dirty="0">
              <a:latin typeface="BlueakaBeta2GBK" panose="02000700000000000000" pitchFamily="2" charset="-122"/>
              <a:ea typeface="BlueakaBeta2GBK" panose="02000700000000000000" pitchFamily="2" charset="-122"/>
            </a:endParaRPr>
          </a:p>
        </p:txBody>
      </p:sp>
      <p:sp>
        <p:nvSpPr>
          <p:cNvPr id="12" name="AutoShape 12"/>
          <p:cNvSpPr/>
          <p:nvPr>
            <p:custDataLst>
              <p:tags r:id="rId8"/>
            </p:custDataLst>
          </p:nvPr>
        </p:nvSpPr>
        <p:spPr>
          <a:xfrm>
            <a:off x="4254500" y="2032000"/>
            <a:ext cx="3492500" cy="2159000"/>
          </a:xfrm>
          <a:prstGeom prst="roundRect">
            <a:avLst>
              <a:gd name="adj" fmla="val 0"/>
            </a:avLst>
          </a:prstGeom>
          <a:solidFill>
            <a:srgbClr val="1E293B">
              <a:alpha val="100000"/>
            </a:srgbClr>
          </a:solidFill>
          <a:ln w="25400" cap="flat" cmpd="sng">
            <a:noFill/>
            <a:prstDash val="solid"/>
            <a:round/>
          </a:ln>
        </p:spPr>
        <p:txBody>
          <a:bodyPr vert="horz" wrap="square" lIns="63500" tIns="63500" rIns="63500" bIns="63500" rtlCol="0" anchor="ctr"/>
          <a:lstStyle/>
          <a:p>
            <a:pPr algn="ctr">
              <a:defRPr/>
            </a:pPr>
            <a:endParaRPr dirty="0">
              <a:latin typeface="BlueakaBeta2GBK" panose="02000700000000000000" pitchFamily="2" charset="-122"/>
              <a:ea typeface="BlueakaBeta2GBK" panose="02000700000000000000" pitchFamily="2" charset="-122"/>
            </a:endParaRPr>
          </a:p>
        </p:txBody>
      </p:sp>
      <p:sp>
        <p:nvSpPr>
          <p:cNvPr id="13" name="AutoShape 13"/>
          <p:cNvSpPr/>
          <p:nvPr>
            <p:custDataLst>
              <p:tags r:id="rId9"/>
            </p:custDataLst>
          </p:nvPr>
        </p:nvSpPr>
        <p:spPr>
          <a:xfrm>
            <a:off x="4356100" y="2133600"/>
            <a:ext cx="3302000" cy="203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dirty="0">
                <a:solidFill>
                  <a:srgbClr val="94A3B8"/>
                </a:solidFill>
                <a:latin typeface="BlueakaBeta2GBK" panose="02000700000000000000" pitchFamily="2" charset="-122"/>
                <a:ea typeface="BlueakaBeta2GBK" panose="02000700000000000000" pitchFamily="2" charset="-122"/>
                <a:cs typeface="Source Code Pro"/>
                <a:sym typeface="Source Code Pro"/>
              </a:rPr>
              <a:t>typedef struct {</a:t>
            </a:r>
            <a:endParaRPr lang="en-US" sz="1100" dirty="0">
              <a:latin typeface="BlueakaBeta2GBK" panose="02000700000000000000" pitchFamily="2" charset="-122"/>
              <a:ea typeface="BlueakaBeta2GBK" panose="02000700000000000000" pitchFamily="2" charset="-122"/>
            </a:endParaRPr>
          </a:p>
          <a:p>
            <a:pPr marL="0" indent="0" algn="l">
              <a:lnSpc>
                <a:spcPct val="108000"/>
              </a:lnSpc>
            </a:pPr>
            <a:r>
              <a:rPr lang="en-US" sz="1300" b="0" i="0" u="none" strike="noStrike" dirty="0" err="1">
                <a:solidFill>
                  <a:srgbClr val="F87171"/>
                </a:solidFill>
                <a:latin typeface="BlueakaBeta2GBK" panose="02000700000000000000" pitchFamily="2" charset="-122"/>
                <a:ea typeface="BlueakaBeta2GBK" panose="02000700000000000000" pitchFamily="2" charset="-122"/>
                <a:cs typeface="Source Code Pro"/>
                <a:sym typeface="Source Code Pro"/>
              </a:rPr>
              <a:t>int </a:t>
            </a:r>
            <a:r>
              <a:rPr lang="en-US" sz="1300" b="0" i="0" u="none" strike="noStrike" dirty="0" err="1">
                <a:solidFill>
                  <a:srgbClr val="E2E8F0"/>
                </a:solidFill>
                <a:latin typeface="BlueakaBeta2GBK" panose="02000700000000000000" pitchFamily="2" charset="-122"/>
                <a:ea typeface="BlueakaBeta2GBK" panose="02000700000000000000" pitchFamily="2" charset="-122"/>
                <a:cs typeface="Source Code Pro"/>
                <a:sym typeface="Source Code Pro"/>
              </a:rPr>
              <a:t>from</a:t>
            </a:r>
            <a:r>
              <a:rPr lang="en-US" sz="1300" b="0" i="0" u="none" strike="noStrike" dirty="0">
                <a:solidFill>
                  <a:srgbClr val="E2E8F0"/>
                </a:solidFill>
                <a:latin typeface="BlueakaBeta2GBK" panose="02000700000000000000" pitchFamily="2" charset="-122"/>
                <a:ea typeface="BlueakaBeta2GBK" panose="02000700000000000000" pitchFamily="2" charset="-122"/>
                <a:cs typeface="Source Code Pro"/>
                <a:sym typeface="Source Code Pro"/>
              </a:rPr>
              <a:t>, to; // </a:t>
            </a:r>
            <a:r>
              <a:rPr lang="en-US" sz="1300" b="0" i="0" u="none" strike="noStrike" dirty="0" err="1">
                <a:solidFill>
                  <a:srgbClr val="E2E8F0"/>
                </a:solidFill>
                <a:latin typeface="BlueakaBeta2GBK" panose="02000700000000000000" pitchFamily="2" charset="-122"/>
                <a:ea typeface="BlueakaBeta2GBK" panose="02000700000000000000" pitchFamily="2" charset="-122"/>
                <a:cs typeface="Source Code Pro"/>
                <a:sym typeface="Source Code Pro"/>
              </a:rPr>
              <a:t>起止ID</a:t>
            </a:r>
            <a:endParaRPr lang="en-US" sz="1300" b="0" i="0" u="none" strike="noStrike" dirty="0">
              <a:solidFill>
                <a:srgbClr val="E2E8F0"/>
              </a:solidFill>
              <a:latin typeface="BlueakaBeta2GBK" panose="02000700000000000000" pitchFamily="2" charset="-122"/>
              <a:ea typeface="BlueakaBeta2GBK" panose="02000700000000000000" pitchFamily="2" charset="-122"/>
              <a:cs typeface="Source Code Pro"/>
              <a:sym typeface="Source Code Pro"/>
            </a:endParaRPr>
          </a:p>
          <a:p>
            <a:pPr marL="0" indent="0" algn="l">
              <a:lnSpc>
                <a:spcPct val="108000"/>
              </a:lnSpc>
            </a:pPr>
            <a:r>
              <a:rPr lang="en-US" sz="1300" b="0" i="0" u="none" strike="noStrike" dirty="0" err="1">
                <a:solidFill>
                  <a:srgbClr val="34D399"/>
                </a:solidFill>
                <a:latin typeface="BlueakaBeta2GBK" panose="02000700000000000000" pitchFamily="2" charset="-122"/>
                <a:ea typeface="BlueakaBeta2GBK" panose="02000700000000000000" pitchFamily="2" charset="-122"/>
                <a:cs typeface="Source Code Pro"/>
                <a:sym typeface="Source Code Pro"/>
              </a:rPr>
              <a:t>float </a:t>
            </a:r>
            <a:r>
              <a:rPr lang="en-US" sz="1300" b="0" i="0" u="none" strike="noStrike" dirty="0" err="1">
                <a:solidFill>
                  <a:srgbClr val="E2E8F0"/>
                </a:solidFill>
                <a:latin typeface="BlueakaBeta2GBK" panose="02000700000000000000" pitchFamily="2" charset="-122"/>
                <a:ea typeface="BlueakaBeta2GBK" panose="02000700000000000000" pitchFamily="2" charset="-122"/>
                <a:cs typeface="Source Code Pro"/>
                <a:sym typeface="Source Code Pro"/>
              </a:rPr>
              <a:t>dist</a:t>
            </a:r>
            <a:r>
              <a:rPr lang="en-US" sz="1300" b="0" i="0" u="none" strike="noStrike" dirty="0">
                <a:solidFill>
                  <a:srgbClr val="E2E8F0"/>
                </a:solidFill>
                <a:latin typeface="BlueakaBeta2GBK" panose="02000700000000000000" pitchFamily="2" charset="-122"/>
                <a:ea typeface="BlueakaBeta2GBK" panose="02000700000000000000" pitchFamily="2" charset="-122"/>
                <a:cs typeface="Source Code Pro"/>
                <a:sym typeface="Source Code Pro"/>
              </a:rPr>
              <a:t>; // </a:t>
            </a:r>
            <a:r>
              <a:rPr lang="en-US" sz="1300" b="0" i="0" u="none" strike="noStrike" dirty="0" err="1">
                <a:solidFill>
                  <a:srgbClr val="E2E8F0"/>
                </a:solidFill>
                <a:latin typeface="BlueakaBeta2GBK" panose="02000700000000000000" pitchFamily="2" charset="-122"/>
                <a:ea typeface="BlueakaBeta2GBK" panose="02000700000000000000" pitchFamily="2" charset="-122"/>
                <a:cs typeface="Source Code Pro"/>
                <a:sym typeface="Source Code Pro"/>
              </a:rPr>
              <a:t>路径长度</a:t>
            </a:r>
            <a:endParaRPr lang="en-US" sz="1300" b="0" i="0" u="none" strike="noStrike" dirty="0">
              <a:solidFill>
                <a:srgbClr val="E2E8F0"/>
              </a:solidFill>
              <a:latin typeface="BlueakaBeta2GBK" panose="02000700000000000000" pitchFamily="2" charset="-122"/>
              <a:ea typeface="BlueakaBeta2GBK" panose="02000700000000000000" pitchFamily="2" charset="-122"/>
              <a:cs typeface="Source Code Pro"/>
              <a:sym typeface="Source Code Pro"/>
            </a:endParaRPr>
          </a:p>
          <a:p>
            <a:pPr marL="0" indent="0" algn="l">
              <a:lnSpc>
                <a:spcPct val="108000"/>
              </a:lnSpc>
            </a:pPr>
            <a:r>
              <a:rPr lang="en-US" sz="1300" b="0" i="0" u="none" strike="noStrike" dirty="0" err="1">
                <a:solidFill>
                  <a:srgbClr val="FBBF24"/>
                </a:solidFill>
                <a:latin typeface="BlueakaBeta2GBK" panose="02000700000000000000" pitchFamily="2" charset="-122"/>
                <a:ea typeface="BlueakaBeta2GBK" panose="02000700000000000000" pitchFamily="2" charset="-122"/>
                <a:cs typeface="Source Code Pro"/>
                <a:sym typeface="Source Code Pro"/>
              </a:rPr>
              <a:t>char </a:t>
            </a:r>
            <a:r>
              <a:rPr lang="en-US" sz="1300" b="0" i="0" u="none" strike="noStrike" dirty="0" err="1">
                <a:solidFill>
                  <a:srgbClr val="E2E8F0"/>
                </a:solidFill>
                <a:latin typeface="BlueakaBeta2GBK" panose="02000700000000000000" pitchFamily="2" charset="-122"/>
                <a:ea typeface="BlueakaBeta2GBK" panose="02000700000000000000" pitchFamily="2" charset="-122"/>
                <a:cs typeface="Source Code Pro"/>
                <a:sym typeface="Source Code Pro"/>
              </a:rPr>
              <a:t>type</a:t>
            </a:r>
            <a:r>
              <a:rPr lang="en-US" sz="1300" b="0" i="0" u="none" strike="noStrike" dirty="0">
                <a:solidFill>
                  <a:srgbClr val="E2E8F0"/>
                </a:solidFill>
                <a:latin typeface="BlueakaBeta2GBK" panose="02000700000000000000" pitchFamily="2" charset="-122"/>
                <a:ea typeface="BlueakaBeta2GBK" panose="02000700000000000000" pitchFamily="2" charset="-122"/>
                <a:cs typeface="Source Code Pro"/>
                <a:sym typeface="Source Code Pro"/>
              </a:rPr>
              <a:t>[15]; // </a:t>
            </a:r>
            <a:r>
              <a:rPr lang="en-US" sz="1300" b="0" i="0" u="none" strike="noStrike" dirty="0" err="1">
                <a:solidFill>
                  <a:srgbClr val="E2E8F0"/>
                </a:solidFill>
                <a:latin typeface="BlueakaBeta2GBK" panose="02000700000000000000" pitchFamily="2" charset="-122"/>
                <a:ea typeface="BlueakaBeta2GBK" panose="02000700000000000000" pitchFamily="2" charset="-122"/>
                <a:cs typeface="Source Code Pro"/>
                <a:sym typeface="Source Code Pro"/>
              </a:rPr>
              <a:t>道路类型</a:t>
            </a:r>
            <a:endParaRPr lang="en-US" sz="1300" b="0" i="0" u="none" strike="noStrike" dirty="0">
              <a:solidFill>
                <a:srgbClr val="E2E8F0"/>
              </a:solidFill>
              <a:latin typeface="BlueakaBeta2GBK" panose="02000700000000000000" pitchFamily="2" charset="-122"/>
              <a:ea typeface="BlueakaBeta2GBK" panose="02000700000000000000" pitchFamily="2" charset="-122"/>
              <a:cs typeface="Source Code Pro"/>
              <a:sym typeface="Source Code Pro"/>
            </a:endParaRPr>
          </a:p>
          <a:p>
            <a:pPr marL="0" indent="0" algn="l">
              <a:lnSpc>
                <a:spcPct val="108000"/>
              </a:lnSpc>
            </a:pPr>
            <a:r>
              <a:rPr lang="en-US" sz="1300" b="0" i="0" u="none" strike="noStrike" dirty="0">
                <a:solidFill>
                  <a:srgbClr val="94A3B8"/>
                </a:solidFill>
                <a:latin typeface="BlueakaBeta2GBK" panose="02000700000000000000" pitchFamily="2" charset="-122"/>
                <a:ea typeface="BlueakaBeta2GBK" panose="02000700000000000000" pitchFamily="2" charset="-122"/>
                <a:cs typeface="Source Code Pro"/>
                <a:sym typeface="Source Code Pro"/>
              </a:rPr>
              <a:t>} Path;</a:t>
            </a:r>
          </a:p>
        </p:txBody>
      </p:sp>
      <p:sp>
        <p:nvSpPr>
          <p:cNvPr id="14" name="AutoShape 14"/>
          <p:cNvSpPr/>
          <p:nvPr>
            <p:custDataLst>
              <p:tags r:id="rId10"/>
            </p:custDataLst>
          </p:nvPr>
        </p:nvSpPr>
        <p:spPr>
          <a:xfrm>
            <a:off x="4254500" y="4381500"/>
            <a:ext cx="34925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dirty="0" err="1">
                <a:solidFill>
                  <a:srgbClr val="475569"/>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定义图结构中的“边（Edge</a:t>
            </a:r>
            <a:r>
              <a:rPr lang="en-US" sz="1400" b="0" i="0" u="none" strike="noStrike" dirty="0">
                <a:solidFill>
                  <a:srgbClr val="475569"/>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a:t>
            </a:r>
            <a:r>
              <a:rPr lang="en-US" sz="1400" b="0" i="0" u="none" strike="noStrike" dirty="0" err="1">
                <a:solidFill>
                  <a:srgbClr val="475569"/>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描述两点间的连接</a:t>
            </a:r>
            <a:r>
              <a:rPr lang="en-US" sz="1400" b="0" i="0" u="none" strike="noStrike" dirty="0">
                <a:solidFill>
                  <a:srgbClr val="475569"/>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 dist </a:t>
            </a:r>
            <a:r>
              <a:rPr lang="en-US" sz="1400" b="0" i="0" u="none" strike="noStrike" dirty="0" err="1">
                <a:solidFill>
                  <a:srgbClr val="475569"/>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量化路径权重，是最短路径算法的核心依据</a:t>
            </a:r>
            <a:r>
              <a:rPr lang="en-US" sz="1400" b="0" i="0" u="none" strike="noStrike" dirty="0">
                <a:solidFill>
                  <a:srgbClr val="475569"/>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 </a:t>
            </a:r>
            <a:r>
              <a:rPr lang="en-US" sz="1400" b="0" i="0" u="none" strike="noStrike" dirty="0" err="1">
                <a:solidFill>
                  <a:srgbClr val="475569"/>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type 区分道路属性（如步行</a:t>
            </a:r>
            <a:r>
              <a:rPr lang="en-US" sz="1400" b="0" i="0" u="none" strike="noStrike" dirty="0">
                <a:solidFill>
                  <a:srgbClr val="475569"/>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a:t>
            </a:r>
            <a:r>
              <a:rPr lang="en-US" sz="1400" b="0" i="0" u="none" strike="noStrike" dirty="0" err="1">
                <a:solidFill>
                  <a:srgbClr val="475569"/>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车行</a:t>
            </a:r>
            <a:r>
              <a:rPr lang="en-US" sz="1400" b="0" i="0" u="none" strike="noStrike" dirty="0">
                <a:solidFill>
                  <a:srgbClr val="475569"/>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a:t>
            </a:r>
            <a:r>
              <a:rPr lang="en-US" sz="1400" b="0" i="0" u="none" strike="noStrike" dirty="0" err="1">
                <a:solidFill>
                  <a:srgbClr val="475569"/>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适配多样化的路径规划策略</a:t>
            </a:r>
            <a:r>
              <a:rPr lang="en-US" sz="1400" b="0" i="0" u="none" strike="noStrike" dirty="0">
                <a:solidFill>
                  <a:srgbClr val="475569"/>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a:t>
            </a:r>
            <a:endParaRPr lang="en-US" sz="1100" dirty="0">
              <a:latin typeface="BlueakaBeta2GBK" panose="02000700000000000000" pitchFamily="2" charset="-122"/>
              <a:ea typeface="BlueakaBeta2GBK" panose="02000700000000000000" pitchFamily="2" charset="-122"/>
            </a:endParaRPr>
          </a:p>
        </p:txBody>
      </p:sp>
      <p:sp>
        <p:nvSpPr>
          <p:cNvPr id="15" name="AutoShape 15"/>
          <p:cNvSpPr/>
          <p:nvPr>
            <p:custDataLst>
              <p:tags r:id="rId11"/>
            </p:custDataLst>
          </p:nvPr>
        </p:nvSpPr>
        <p:spPr>
          <a:xfrm>
            <a:off x="8001000" y="1270000"/>
            <a:ext cx="34925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dirty="0">
                <a:solidFill>
                  <a:srgbClr val="2563EB"/>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03 Graph </a:t>
            </a:r>
            <a:r>
              <a:rPr lang="en-US" sz="1800" b="1" i="0" u="none" strike="noStrike" dirty="0" err="1">
                <a:solidFill>
                  <a:srgbClr val="2563EB"/>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地图拓扑</a:t>
            </a:r>
            <a:endParaRPr lang="en-US" sz="1100" dirty="0">
              <a:latin typeface="BlueakaBeta2GBK" panose="02000700000000000000" pitchFamily="2" charset="-122"/>
              <a:ea typeface="BlueakaBeta2GBK" panose="02000700000000000000" pitchFamily="2" charset="-122"/>
            </a:endParaRPr>
          </a:p>
        </p:txBody>
      </p:sp>
      <p:sp>
        <p:nvSpPr>
          <p:cNvPr id="16" name="AutoShape 16"/>
          <p:cNvSpPr/>
          <p:nvPr>
            <p:custDataLst>
              <p:tags r:id="rId12"/>
            </p:custDataLst>
          </p:nvPr>
        </p:nvSpPr>
        <p:spPr>
          <a:xfrm>
            <a:off x="8001000" y="1778000"/>
            <a:ext cx="508000" cy="38100"/>
          </a:xfrm>
          <a:prstGeom prst="roundRect">
            <a:avLst>
              <a:gd name="adj" fmla="val 0"/>
            </a:avLst>
          </a:prstGeom>
          <a:solidFill>
            <a:srgbClr val="2563EB">
              <a:alpha val="100000"/>
            </a:srgbClr>
          </a:solidFill>
          <a:ln w="25400" cap="flat" cmpd="sng">
            <a:noFill/>
            <a:prstDash val="solid"/>
            <a:round/>
          </a:ln>
        </p:spPr>
        <p:txBody>
          <a:bodyPr vert="horz" wrap="square" lIns="63500" tIns="63500" rIns="63500" bIns="63500" rtlCol="0" anchor="ctr"/>
          <a:lstStyle/>
          <a:p>
            <a:pPr algn="ctr">
              <a:defRPr/>
            </a:pPr>
            <a:endParaRPr dirty="0">
              <a:latin typeface="BlueakaBeta2GBK" panose="02000700000000000000" pitchFamily="2" charset="-122"/>
              <a:ea typeface="BlueakaBeta2GBK" panose="02000700000000000000" pitchFamily="2" charset="-122"/>
            </a:endParaRPr>
          </a:p>
        </p:txBody>
      </p:sp>
      <p:sp>
        <p:nvSpPr>
          <p:cNvPr id="17" name="AutoShape 17"/>
          <p:cNvSpPr/>
          <p:nvPr>
            <p:custDataLst>
              <p:tags r:id="rId13"/>
            </p:custDataLst>
          </p:nvPr>
        </p:nvSpPr>
        <p:spPr>
          <a:xfrm>
            <a:off x="8001000" y="2032000"/>
            <a:ext cx="3492500" cy="2159000"/>
          </a:xfrm>
          <a:prstGeom prst="roundRect">
            <a:avLst>
              <a:gd name="adj" fmla="val 0"/>
            </a:avLst>
          </a:prstGeom>
          <a:solidFill>
            <a:srgbClr val="1E293B">
              <a:alpha val="100000"/>
            </a:srgbClr>
          </a:solidFill>
          <a:ln w="25400" cap="flat" cmpd="sng">
            <a:noFill/>
            <a:prstDash val="solid"/>
            <a:round/>
          </a:ln>
        </p:spPr>
        <p:txBody>
          <a:bodyPr vert="horz" wrap="square" lIns="63500" tIns="63500" rIns="63500" bIns="63500" rtlCol="0" anchor="ctr"/>
          <a:lstStyle/>
          <a:p>
            <a:pPr algn="ctr">
              <a:defRPr/>
            </a:pPr>
            <a:endParaRPr dirty="0">
              <a:latin typeface="BlueakaBeta2GBK" panose="02000700000000000000" pitchFamily="2" charset="-122"/>
              <a:ea typeface="BlueakaBeta2GBK" panose="02000700000000000000" pitchFamily="2" charset="-122"/>
            </a:endParaRPr>
          </a:p>
        </p:txBody>
      </p:sp>
      <p:sp>
        <p:nvSpPr>
          <p:cNvPr id="18" name="AutoShape 18"/>
          <p:cNvSpPr/>
          <p:nvPr>
            <p:custDataLst>
              <p:tags r:id="rId14"/>
            </p:custDataLst>
          </p:nvPr>
        </p:nvSpPr>
        <p:spPr>
          <a:xfrm>
            <a:off x="8102600" y="2133600"/>
            <a:ext cx="3302000" cy="203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dirty="0">
                <a:solidFill>
                  <a:srgbClr val="94A3B8"/>
                </a:solidFill>
                <a:latin typeface="BlueakaBeta2GBK" panose="02000700000000000000" pitchFamily="2" charset="-122"/>
                <a:ea typeface="BlueakaBeta2GBK" panose="02000700000000000000" pitchFamily="2" charset="-122"/>
                <a:cs typeface="Source Code Pro"/>
                <a:sym typeface="Source Code Pro"/>
              </a:rPr>
              <a:t>typedef struct {</a:t>
            </a:r>
            <a:endParaRPr lang="en-US" sz="1100" dirty="0">
              <a:latin typeface="BlueakaBeta2GBK" panose="02000700000000000000" pitchFamily="2" charset="-122"/>
              <a:ea typeface="BlueakaBeta2GBK" panose="02000700000000000000" pitchFamily="2" charset="-122"/>
            </a:endParaRPr>
          </a:p>
          <a:p>
            <a:pPr marL="0" indent="0" algn="l">
              <a:lnSpc>
                <a:spcPct val="108000"/>
              </a:lnSpc>
            </a:pPr>
            <a:r>
              <a:rPr lang="en-US" sz="1300" b="0" i="0" u="none" strike="noStrike" dirty="0" err="1">
                <a:solidFill>
                  <a:srgbClr val="22D3EE"/>
                </a:solidFill>
                <a:latin typeface="BlueakaBeta2GBK" panose="02000700000000000000" pitchFamily="2" charset="-122"/>
                <a:ea typeface="BlueakaBeta2GBK" panose="02000700000000000000" pitchFamily="2" charset="-122"/>
                <a:cs typeface="Source Code Pro"/>
                <a:sym typeface="Source Code Pro"/>
              </a:rPr>
              <a:t>Spot </a:t>
            </a:r>
            <a:r>
              <a:rPr lang="en-US" sz="1300" b="0" i="0" u="none" strike="noStrike" dirty="0" err="1">
                <a:solidFill>
                  <a:srgbClr val="E2E8F0"/>
                </a:solidFill>
                <a:latin typeface="BlueakaBeta2GBK" panose="02000700000000000000" pitchFamily="2" charset="-122"/>
                <a:ea typeface="BlueakaBeta2GBK" panose="02000700000000000000" pitchFamily="2" charset="-122"/>
                <a:cs typeface="Source Code Pro"/>
                <a:sym typeface="Source Code Pro"/>
              </a:rPr>
              <a:t>spots</a:t>
            </a:r>
            <a:r>
              <a:rPr lang="en-US" sz="1300" b="0" i="0" u="none" strike="noStrike" dirty="0">
                <a:solidFill>
                  <a:srgbClr val="E2E8F0"/>
                </a:solidFill>
                <a:latin typeface="BlueakaBeta2GBK" panose="02000700000000000000" pitchFamily="2" charset="-122"/>
                <a:ea typeface="BlueakaBeta2GBK" panose="02000700000000000000" pitchFamily="2" charset="-122"/>
                <a:cs typeface="Source Code Pro"/>
                <a:sym typeface="Source Code Pro"/>
              </a:rPr>
              <a:t>[120]; // </a:t>
            </a:r>
            <a:r>
              <a:rPr lang="en-US" sz="1300" b="0" i="0" u="none" strike="noStrike" dirty="0" err="1">
                <a:solidFill>
                  <a:srgbClr val="E2E8F0"/>
                </a:solidFill>
                <a:latin typeface="BlueakaBeta2GBK" panose="02000700000000000000" pitchFamily="2" charset="-122"/>
                <a:ea typeface="BlueakaBeta2GBK" panose="02000700000000000000" pitchFamily="2" charset="-122"/>
                <a:cs typeface="Source Code Pro"/>
                <a:sym typeface="Source Code Pro"/>
              </a:rPr>
              <a:t>景点集</a:t>
            </a:r>
            <a:endParaRPr lang="en-US" sz="1300" b="0" i="0" u="none" strike="noStrike" dirty="0">
              <a:solidFill>
                <a:srgbClr val="E2E8F0"/>
              </a:solidFill>
              <a:latin typeface="BlueakaBeta2GBK" panose="02000700000000000000" pitchFamily="2" charset="-122"/>
              <a:ea typeface="BlueakaBeta2GBK" panose="02000700000000000000" pitchFamily="2" charset="-122"/>
              <a:cs typeface="Source Code Pro"/>
              <a:sym typeface="Source Code Pro"/>
            </a:endParaRPr>
          </a:p>
          <a:p>
            <a:pPr marL="0" indent="0" algn="l">
              <a:lnSpc>
                <a:spcPct val="108000"/>
              </a:lnSpc>
            </a:pPr>
            <a:r>
              <a:rPr lang="en-US" sz="1300" b="0" i="0" u="none" strike="noStrike" dirty="0" err="1">
                <a:solidFill>
                  <a:srgbClr val="22D3EE"/>
                </a:solidFill>
                <a:latin typeface="BlueakaBeta2GBK" panose="02000700000000000000" pitchFamily="2" charset="-122"/>
                <a:ea typeface="BlueakaBeta2GBK" panose="02000700000000000000" pitchFamily="2" charset="-122"/>
                <a:cs typeface="Source Code Pro"/>
                <a:sym typeface="Source Code Pro"/>
              </a:rPr>
              <a:t>Path </a:t>
            </a:r>
            <a:r>
              <a:rPr lang="en-US" sz="1300" b="0" i="0" u="none" strike="noStrike" dirty="0" err="1">
                <a:solidFill>
                  <a:srgbClr val="E2E8F0"/>
                </a:solidFill>
                <a:latin typeface="BlueakaBeta2GBK" panose="02000700000000000000" pitchFamily="2" charset="-122"/>
                <a:ea typeface="BlueakaBeta2GBK" panose="02000700000000000000" pitchFamily="2" charset="-122"/>
                <a:cs typeface="Source Code Pro"/>
                <a:sym typeface="Source Code Pro"/>
              </a:rPr>
              <a:t>paths</a:t>
            </a:r>
            <a:r>
              <a:rPr lang="en-US" sz="1300" b="0" i="0" u="none" strike="noStrike" dirty="0">
                <a:solidFill>
                  <a:srgbClr val="E2E8F0"/>
                </a:solidFill>
                <a:latin typeface="BlueakaBeta2GBK" panose="02000700000000000000" pitchFamily="2" charset="-122"/>
                <a:ea typeface="BlueakaBeta2GBK" panose="02000700000000000000" pitchFamily="2" charset="-122"/>
                <a:cs typeface="Source Code Pro"/>
                <a:sym typeface="Source Code Pro"/>
              </a:rPr>
              <a:t>[500]; // </a:t>
            </a:r>
            <a:r>
              <a:rPr lang="en-US" sz="1300" b="0" i="0" u="none" strike="noStrike" dirty="0" err="1">
                <a:solidFill>
                  <a:srgbClr val="E2E8F0"/>
                </a:solidFill>
                <a:latin typeface="BlueakaBeta2GBK" panose="02000700000000000000" pitchFamily="2" charset="-122"/>
                <a:ea typeface="BlueakaBeta2GBK" panose="02000700000000000000" pitchFamily="2" charset="-122"/>
                <a:cs typeface="Source Code Pro"/>
                <a:sym typeface="Source Code Pro"/>
              </a:rPr>
              <a:t>路径集</a:t>
            </a:r>
            <a:endParaRPr lang="en-US" sz="1300" b="0" i="0" u="none" strike="noStrike" dirty="0">
              <a:solidFill>
                <a:srgbClr val="E2E8F0"/>
              </a:solidFill>
              <a:latin typeface="BlueakaBeta2GBK" panose="02000700000000000000" pitchFamily="2" charset="-122"/>
              <a:ea typeface="BlueakaBeta2GBK" panose="02000700000000000000" pitchFamily="2" charset="-122"/>
              <a:cs typeface="Source Code Pro"/>
              <a:sym typeface="Source Code Pro"/>
            </a:endParaRPr>
          </a:p>
          <a:p>
            <a:pPr marL="0" indent="0" algn="l">
              <a:lnSpc>
                <a:spcPct val="108000"/>
              </a:lnSpc>
            </a:pPr>
            <a:r>
              <a:rPr lang="en-US" sz="1300" b="0" i="0" u="none" strike="noStrike" dirty="0" err="1">
                <a:solidFill>
                  <a:srgbClr val="F87171"/>
                </a:solidFill>
                <a:latin typeface="BlueakaBeta2GBK" panose="02000700000000000000" pitchFamily="2" charset="-122"/>
                <a:ea typeface="BlueakaBeta2GBK" panose="02000700000000000000" pitchFamily="2" charset="-122"/>
                <a:cs typeface="Source Code Pro"/>
                <a:sym typeface="Source Code Pro"/>
              </a:rPr>
              <a:t>int </a:t>
            </a:r>
            <a:r>
              <a:rPr lang="en-US" sz="1300" b="0" i="0" u="none" strike="noStrike" dirty="0" err="1">
                <a:solidFill>
                  <a:srgbClr val="E2E8F0"/>
                </a:solidFill>
                <a:latin typeface="BlueakaBeta2GBK" panose="02000700000000000000" pitchFamily="2" charset="-122"/>
                <a:ea typeface="BlueakaBeta2GBK" panose="02000700000000000000" pitchFamily="2" charset="-122"/>
                <a:cs typeface="Source Code Pro"/>
                <a:sym typeface="Source Code Pro"/>
              </a:rPr>
              <a:t>adj</a:t>
            </a:r>
            <a:r>
              <a:rPr lang="en-US" sz="1300" b="0" i="0" u="none" strike="noStrike" dirty="0">
                <a:solidFill>
                  <a:srgbClr val="E2E8F0"/>
                </a:solidFill>
                <a:latin typeface="BlueakaBeta2GBK" panose="02000700000000000000" pitchFamily="2" charset="-122"/>
                <a:ea typeface="BlueakaBeta2GBK" panose="02000700000000000000" pitchFamily="2" charset="-122"/>
                <a:cs typeface="Source Code Pro"/>
                <a:sym typeface="Source Code Pro"/>
              </a:rPr>
              <a:t>[120][120]; // </a:t>
            </a:r>
            <a:r>
              <a:rPr lang="en-US" sz="1300" b="0" i="0" u="none" strike="noStrike" dirty="0" err="1">
                <a:solidFill>
                  <a:srgbClr val="E2E8F0"/>
                </a:solidFill>
                <a:latin typeface="BlueakaBeta2GBK" panose="02000700000000000000" pitchFamily="2" charset="-122"/>
                <a:ea typeface="BlueakaBeta2GBK" panose="02000700000000000000" pitchFamily="2" charset="-122"/>
                <a:cs typeface="Source Code Pro"/>
                <a:sym typeface="Source Code Pro"/>
              </a:rPr>
              <a:t>邻接矩阵</a:t>
            </a:r>
            <a:endParaRPr lang="en-US" sz="1300" b="0" i="0" u="none" strike="noStrike" dirty="0">
              <a:solidFill>
                <a:srgbClr val="E2E8F0"/>
              </a:solidFill>
              <a:latin typeface="BlueakaBeta2GBK" panose="02000700000000000000" pitchFamily="2" charset="-122"/>
              <a:ea typeface="BlueakaBeta2GBK" panose="02000700000000000000" pitchFamily="2" charset="-122"/>
              <a:cs typeface="Source Code Pro"/>
              <a:sym typeface="Source Code Pro"/>
            </a:endParaRPr>
          </a:p>
          <a:p>
            <a:pPr marL="0" indent="0" algn="l">
              <a:lnSpc>
                <a:spcPct val="108000"/>
              </a:lnSpc>
            </a:pPr>
            <a:r>
              <a:rPr lang="en-US" sz="1300" b="0" i="0" u="none" strike="noStrike" dirty="0">
                <a:solidFill>
                  <a:srgbClr val="94A3B8"/>
                </a:solidFill>
                <a:latin typeface="BlueakaBeta2GBK" panose="02000700000000000000" pitchFamily="2" charset="-122"/>
                <a:ea typeface="BlueakaBeta2GBK" panose="02000700000000000000" pitchFamily="2" charset="-122"/>
                <a:cs typeface="Source Code Pro"/>
                <a:sym typeface="Source Code Pro"/>
              </a:rPr>
              <a:t>} Graph;</a:t>
            </a:r>
          </a:p>
        </p:txBody>
      </p:sp>
      <p:sp>
        <p:nvSpPr>
          <p:cNvPr id="19" name="AutoShape 19"/>
          <p:cNvSpPr/>
          <p:nvPr>
            <p:custDataLst>
              <p:tags r:id="rId15"/>
            </p:custDataLst>
          </p:nvPr>
        </p:nvSpPr>
        <p:spPr>
          <a:xfrm>
            <a:off x="8001000" y="4381500"/>
            <a:ext cx="34925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dirty="0" err="1">
                <a:solidFill>
                  <a:srgbClr val="475569"/>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整合所有元素的“顶层容器”</a:t>
            </a:r>
            <a:r>
              <a:rPr lang="en-US" sz="1400" b="0" i="0" u="none" strike="noStrike" dirty="0">
                <a:solidFill>
                  <a:srgbClr val="475569"/>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a:t>
            </a:r>
            <a:r>
              <a:rPr lang="en-US" sz="1400" b="0" i="0" u="none" strike="noStrike" dirty="0" err="1">
                <a:solidFill>
                  <a:srgbClr val="475569"/>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数组存储便于顺序遍历，邻接矩阵则提供O</a:t>
            </a:r>
            <a:r>
              <a:rPr lang="en-US" sz="1400" b="0" i="0" u="none" strike="noStrike" dirty="0">
                <a:solidFill>
                  <a:srgbClr val="475569"/>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(1)</a:t>
            </a:r>
            <a:r>
              <a:rPr lang="en-US" sz="1400" b="0" i="0" u="none" strike="noStrike" dirty="0" err="1">
                <a:solidFill>
                  <a:srgbClr val="475569"/>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的连通性查询效率，是支撑地图遍历、路径搜索（如DFS、Dijkstra）等核心算法的基石</a:t>
            </a:r>
            <a:r>
              <a:rPr lang="en-US" sz="1400" b="0" i="0" u="none" strike="noStrike" dirty="0">
                <a:solidFill>
                  <a:srgbClr val="475569"/>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a:t>
            </a:r>
            <a:endParaRPr lang="en-US" sz="1100" dirty="0">
              <a:latin typeface="BlueakaBeta2GBK" panose="02000700000000000000" pitchFamily="2" charset="-122"/>
              <a:ea typeface="BlueakaBeta2GBK" panose="02000700000000000000" pitchFamily="2" charset="-122"/>
            </a:endParaRPr>
          </a:p>
        </p:txBody>
      </p:sp>
      <p:sp>
        <p:nvSpPr>
          <p:cNvPr id="20" name="AutoShape 20"/>
          <p:cNvSpPr/>
          <p:nvPr/>
        </p:nvSpPr>
        <p:spPr>
          <a:xfrm>
            <a:off x="508000" y="5905499"/>
            <a:ext cx="11176000" cy="745557"/>
          </a:xfrm>
          <a:prstGeom prst="roundRect">
            <a:avLst>
              <a:gd name="adj" fmla="val 0"/>
            </a:avLst>
          </a:prstGeom>
          <a:solidFill>
            <a:srgbClr val="CBD5E1">
              <a:alpha val="30000"/>
            </a:srgbClr>
          </a:solidFill>
          <a:ln w="25400" cap="flat" cmpd="sng">
            <a:noFill/>
            <a:prstDash val="solid"/>
            <a:round/>
          </a:ln>
        </p:spPr>
        <p:txBody>
          <a:bodyPr vert="horz" wrap="square" lIns="63500" tIns="63500" rIns="63500" bIns="63500" rtlCol="0" anchor="ctr"/>
          <a:lstStyle/>
          <a:p>
            <a:pPr algn="ctr">
              <a:defRPr/>
            </a:pPr>
            <a:endParaRPr dirty="0">
              <a:latin typeface="BlueakaBeta2GBK" panose="02000700000000000000" pitchFamily="2" charset="-122"/>
              <a:ea typeface="BlueakaBeta2GBK" panose="02000700000000000000" pitchFamily="2" charset="-122"/>
            </a:endParaRPr>
          </a:p>
        </p:txBody>
      </p:sp>
      <p:sp>
        <p:nvSpPr>
          <p:cNvPr id="21" name="AutoShape 21"/>
          <p:cNvSpPr/>
          <p:nvPr/>
        </p:nvSpPr>
        <p:spPr>
          <a:xfrm>
            <a:off x="635000" y="6007100"/>
            <a:ext cx="10922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dirty="0">
                <a:solidFill>
                  <a:srgbClr val="334155"/>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 设计亮点：</a:t>
            </a:r>
            <a:r>
              <a:rPr lang="en-US" sz="1400" b="0" i="0" u="none" strike="noStrike" dirty="0">
                <a:solidFill>
                  <a:srgbClr val="334155"/>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采用“结构体+数组+邻接矩阵”的混合模式，既保证了数据的结构化管理，又兼顾了图算法的执行效率，为后续的智能导航提供了坚实的数据基础。</a:t>
            </a:r>
            <a:endParaRPr lang="en-US" sz="1100" dirty="0">
              <a:latin typeface="BlueakaBeta2GBK" panose="02000700000000000000" pitchFamily="2" charset="-122"/>
              <a:ea typeface="BlueakaBeta2GBK" panose="02000700000000000000" pitchFamily="2"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AFC">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9525000" y="4445000"/>
            <a:ext cx="3810000" cy="3810000"/>
          </a:xfrm>
          <a:prstGeom prst="ellipse">
            <a:avLst/>
          </a:prstGeom>
          <a:solidFill>
            <a:srgbClr val="3B82F6">
              <a:alpha val="5000"/>
            </a:srgbClr>
          </a:solidFill>
          <a:ln w="25400" cap="flat" cmpd="sng">
            <a:noFill/>
            <a:prstDash val="solid"/>
            <a:round/>
          </a:ln>
        </p:spPr>
        <p:txBody>
          <a:bodyPr vert="horz" wrap="square" lIns="63500" tIns="63500" rIns="63500" bIns="63500" rtlCol="0" anchor="ctr"/>
          <a:lstStyle/>
          <a:p>
            <a:pPr algn="ctr">
              <a:defRPr/>
            </a:pPr>
            <a:endParaRPr dirty="0">
              <a:latin typeface="BlueakaBeta2GBK" panose="02000700000000000000" pitchFamily="2" charset="-122"/>
              <a:ea typeface="BlueakaBeta2GBK" panose="02000700000000000000" pitchFamily="2" charset="-122"/>
            </a:endParaRPr>
          </a:p>
        </p:txBody>
      </p:sp>
      <p:sp>
        <p:nvSpPr>
          <p:cNvPr id="3" name="AutoShape 3"/>
          <p:cNvSpPr/>
          <p:nvPr/>
        </p:nvSpPr>
        <p:spPr>
          <a:xfrm>
            <a:off x="-635000" y="-635000"/>
            <a:ext cx="2540000" cy="2540000"/>
          </a:xfrm>
          <a:prstGeom prst="ellipse">
            <a:avLst/>
          </a:prstGeom>
          <a:solidFill>
            <a:srgbClr val="10B981">
              <a:alpha val="5000"/>
            </a:srgbClr>
          </a:solidFill>
          <a:ln w="25400" cap="flat" cmpd="sng">
            <a:noFill/>
            <a:prstDash val="solid"/>
            <a:round/>
          </a:ln>
        </p:spPr>
        <p:txBody>
          <a:bodyPr vert="horz" wrap="square" lIns="63500" tIns="63500" rIns="63500" bIns="63500" rtlCol="0" anchor="ctr"/>
          <a:lstStyle/>
          <a:p>
            <a:pPr algn="ctr">
              <a:defRPr/>
            </a:pPr>
            <a:endParaRPr dirty="0">
              <a:latin typeface="BlueakaBeta2GBK" panose="02000700000000000000" pitchFamily="2" charset="-122"/>
              <a:ea typeface="BlueakaBeta2GBK" panose="02000700000000000000" pitchFamily="2" charset="-122"/>
            </a:endParaRPr>
          </a:p>
        </p:txBody>
      </p:sp>
      <p:sp>
        <p:nvSpPr>
          <p:cNvPr id="4" name="AutoShape 4"/>
          <p:cNvSpPr/>
          <p:nvPr/>
        </p:nvSpPr>
        <p:spPr>
          <a:xfrm>
            <a:off x="508000" y="508000"/>
            <a:ext cx="1143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dirty="0" err="1">
                <a:solidFill>
                  <a:srgbClr val="1E3A8A"/>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四、数据结构</a:t>
            </a:r>
            <a:r>
              <a:rPr lang="en-US" sz="2800" b="1" i="0" u="none" strike="noStrike" dirty="0">
                <a:solidFill>
                  <a:srgbClr val="1E3A8A"/>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 - </a:t>
            </a:r>
            <a:r>
              <a:rPr lang="en-US" sz="2800" b="1" i="0" u="none" strike="noStrike" dirty="0" err="1">
                <a:solidFill>
                  <a:srgbClr val="1E3A8A"/>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邻接矩阵设计</a:t>
            </a:r>
            <a:endParaRPr lang="en-US" sz="1100" dirty="0">
              <a:latin typeface="BlueakaBeta2GBK" panose="02000700000000000000" pitchFamily="2" charset="-122"/>
              <a:ea typeface="BlueakaBeta2GBK" panose="02000700000000000000" pitchFamily="2" charset="-122"/>
            </a:endParaRPr>
          </a:p>
        </p:txBody>
      </p:sp>
      <p:sp>
        <p:nvSpPr>
          <p:cNvPr id="5" name="AutoShape 5"/>
          <p:cNvSpPr/>
          <p:nvPr/>
        </p:nvSpPr>
        <p:spPr>
          <a:xfrm>
            <a:off x="508000" y="1397000"/>
            <a:ext cx="3556000" cy="889000"/>
          </a:xfrm>
          <a:prstGeom prst="roundRect">
            <a:avLst>
              <a:gd name="adj" fmla="val 0"/>
            </a:avLst>
          </a:prstGeom>
          <a:solidFill>
            <a:srgbClr val="DBEAFE">
              <a:alpha val="40000"/>
            </a:srgbClr>
          </a:solidFill>
          <a:ln w="12700" cap="flat" cmpd="sng">
            <a:solidFill>
              <a:srgbClr val="BFDBFE">
                <a:alpha val="100000"/>
              </a:srgbClr>
            </a:solidFill>
            <a:prstDash val="solid"/>
            <a:round/>
          </a:ln>
        </p:spPr>
        <p:txBody>
          <a:bodyPr vert="horz" wrap="square" lIns="63500" tIns="63500" rIns="63500" bIns="63500" rtlCol="0" anchor="ctr"/>
          <a:lstStyle/>
          <a:p>
            <a:pPr algn="ctr">
              <a:defRPr/>
            </a:pPr>
            <a:endParaRPr dirty="0">
              <a:latin typeface="BlueakaBeta2GBK" panose="02000700000000000000" pitchFamily="2" charset="-122"/>
              <a:ea typeface="BlueakaBeta2GBK" panose="02000700000000000000" pitchFamily="2" charset="-122"/>
            </a:endParaRPr>
          </a:p>
        </p:txBody>
      </p:sp>
      <p:pic>
        <p:nvPicPr>
          <p:cNvPr id="6" name="Picture 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98500" y="1562100"/>
            <a:ext cx="304800" cy="304800"/>
          </a:xfrm>
          <a:prstGeom prst="rect">
            <a:avLst/>
          </a:prstGeom>
        </p:spPr>
      </p:pic>
      <p:sp>
        <p:nvSpPr>
          <p:cNvPr id="7" name="AutoShape 7"/>
          <p:cNvSpPr/>
          <p:nvPr/>
        </p:nvSpPr>
        <p:spPr>
          <a:xfrm>
            <a:off x="1079500" y="1524000"/>
            <a:ext cx="2921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dirty="0">
                <a:solidFill>
                  <a:srgbClr val="1E3A8A"/>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0 = </a:t>
            </a:r>
            <a:r>
              <a:rPr lang="en-US" sz="1500" b="1" i="0" u="none" strike="noStrike" dirty="0" err="1">
                <a:solidFill>
                  <a:srgbClr val="1E3A8A"/>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自身节点</a:t>
            </a:r>
            <a:endParaRPr lang="en-US" sz="1100" dirty="0">
              <a:latin typeface="BlueakaBeta2GBK" panose="02000700000000000000" pitchFamily="2" charset="-122"/>
              <a:ea typeface="BlueakaBeta2GBK" panose="02000700000000000000" pitchFamily="2" charset="-122"/>
            </a:endParaRPr>
          </a:p>
          <a:p>
            <a:pPr marL="0" indent="0" algn="l">
              <a:lnSpc>
                <a:spcPct val="125000"/>
              </a:lnSpc>
            </a:pPr>
            <a:r>
              <a:rPr lang="en-US" sz="1300" b="0" i="0" u="none" strike="noStrike" dirty="0" err="1">
                <a:solidFill>
                  <a:srgbClr val="4B5563"/>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矩阵对角线元素，代表节点到自身的距离</a:t>
            </a:r>
            <a:endParaRPr lang="en-US" sz="1300" b="0" i="0" u="none" strike="noStrike" dirty="0">
              <a:solidFill>
                <a:srgbClr val="4B5563"/>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endParaRPr>
          </a:p>
        </p:txBody>
      </p:sp>
      <p:sp>
        <p:nvSpPr>
          <p:cNvPr id="8" name="AutoShape 8"/>
          <p:cNvSpPr/>
          <p:nvPr/>
        </p:nvSpPr>
        <p:spPr>
          <a:xfrm>
            <a:off x="4318000" y="1397000"/>
            <a:ext cx="3556000" cy="889000"/>
          </a:xfrm>
          <a:prstGeom prst="roundRect">
            <a:avLst>
              <a:gd name="adj" fmla="val 0"/>
            </a:avLst>
          </a:prstGeom>
          <a:solidFill>
            <a:srgbClr val="FEE2E2">
              <a:alpha val="40000"/>
            </a:srgbClr>
          </a:solidFill>
          <a:ln w="12700" cap="flat" cmpd="sng">
            <a:solidFill>
              <a:srgbClr val="FECACA">
                <a:alpha val="100000"/>
              </a:srgbClr>
            </a:solidFill>
            <a:prstDash val="solid"/>
            <a:round/>
          </a:ln>
        </p:spPr>
        <p:txBody>
          <a:bodyPr vert="horz" wrap="square" lIns="63500" tIns="63500" rIns="63500" bIns="63500" rtlCol="0" anchor="ctr"/>
          <a:lstStyle/>
          <a:p>
            <a:pPr algn="ctr">
              <a:defRPr/>
            </a:pPr>
            <a:endParaRPr dirty="0">
              <a:latin typeface="BlueakaBeta2GBK" panose="02000700000000000000" pitchFamily="2" charset="-122"/>
              <a:ea typeface="BlueakaBeta2GBK" panose="02000700000000000000" pitchFamily="2" charset="-122"/>
            </a:endParaRPr>
          </a:p>
        </p:txBody>
      </p:sp>
      <p:pic>
        <p:nvPicPr>
          <p:cNvPr id="9" name="Picture 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508500" y="1562100"/>
            <a:ext cx="304800" cy="304800"/>
          </a:xfrm>
          <a:prstGeom prst="rect">
            <a:avLst/>
          </a:prstGeom>
        </p:spPr>
      </p:pic>
      <p:sp>
        <p:nvSpPr>
          <p:cNvPr id="10" name="AutoShape 10"/>
          <p:cNvSpPr/>
          <p:nvPr/>
        </p:nvSpPr>
        <p:spPr>
          <a:xfrm>
            <a:off x="4889500" y="1524000"/>
            <a:ext cx="2921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dirty="0">
                <a:solidFill>
                  <a:srgbClr val="991B1B"/>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-1 = </a:t>
            </a:r>
            <a:r>
              <a:rPr lang="en-US" sz="1500" b="1" i="0" u="none" strike="noStrike" dirty="0" err="1">
                <a:solidFill>
                  <a:srgbClr val="991B1B"/>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无直接路径</a:t>
            </a:r>
            <a:endParaRPr lang="en-US" sz="1100" dirty="0">
              <a:latin typeface="BlueakaBeta2GBK" panose="02000700000000000000" pitchFamily="2" charset="-122"/>
              <a:ea typeface="BlueakaBeta2GBK" panose="02000700000000000000" pitchFamily="2" charset="-122"/>
            </a:endParaRPr>
          </a:p>
          <a:p>
            <a:pPr marL="0" indent="0" algn="l">
              <a:lnSpc>
                <a:spcPct val="125000"/>
              </a:lnSpc>
            </a:pPr>
            <a:r>
              <a:rPr lang="en-US" sz="1300" b="0" i="0" u="none" strike="noStrike" dirty="0" err="1">
                <a:solidFill>
                  <a:srgbClr val="4B5563"/>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表示两个景点之间没有直接相连的道路</a:t>
            </a:r>
            <a:endParaRPr lang="en-US" sz="1300" b="0" i="0" u="none" strike="noStrike" dirty="0">
              <a:solidFill>
                <a:srgbClr val="4B5563"/>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endParaRPr>
          </a:p>
        </p:txBody>
      </p:sp>
      <p:sp>
        <p:nvSpPr>
          <p:cNvPr id="11" name="AutoShape 11"/>
          <p:cNvSpPr/>
          <p:nvPr/>
        </p:nvSpPr>
        <p:spPr>
          <a:xfrm>
            <a:off x="8128000" y="1397000"/>
            <a:ext cx="3556000" cy="889000"/>
          </a:xfrm>
          <a:prstGeom prst="roundRect">
            <a:avLst>
              <a:gd name="adj" fmla="val 0"/>
            </a:avLst>
          </a:prstGeom>
          <a:solidFill>
            <a:srgbClr val="D1FAE5">
              <a:alpha val="40000"/>
            </a:srgbClr>
          </a:solidFill>
          <a:ln w="12700" cap="flat" cmpd="sng">
            <a:solidFill>
              <a:srgbClr val="A7F3D0">
                <a:alpha val="100000"/>
              </a:srgbClr>
            </a:solidFill>
            <a:prstDash val="solid"/>
            <a:round/>
          </a:ln>
        </p:spPr>
        <p:txBody>
          <a:bodyPr vert="horz" wrap="square" lIns="63500" tIns="63500" rIns="63500" bIns="63500" rtlCol="0" anchor="ctr"/>
          <a:lstStyle/>
          <a:p>
            <a:pPr algn="ctr">
              <a:defRPr/>
            </a:pPr>
            <a:endParaRPr dirty="0">
              <a:latin typeface="BlueakaBeta2GBK" panose="02000700000000000000" pitchFamily="2" charset="-122"/>
              <a:ea typeface="BlueakaBeta2GBK" panose="02000700000000000000" pitchFamily="2" charset="-122"/>
            </a:endParaRPr>
          </a:p>
        </p:txBody>
      </p:sp>
      <p:pic>
        <p:nvPicPr>
          <p:cNvPr id="12" name="Picture 1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318500" y="1562100"/>
            <a:ext cx="304800" cy="304800"/>
          </a:xfrm>
          <a:prstGeom prst="rect">
            <a:avLst/>
          </a:prstGeom>
        </p:spPr>
      </p:pic>
      <p:sp>
        <p:nvSpPr>
          <p:cNvPr id="13" name="AutoShape 13"/>
          <p:cNvSpPr/>
          <p:nvPr/>
        </p:nvSpPr>
        <p:spPr>
          <a:xfrm>
            <a:off x="8699500" y="1524000"/>
            <a:ext cx="2921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dirty="0">
                <a:solidFill>
                  <a:srgbClr val="065F46"/>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&gt;0 = </a:t>
            </a:r>
            <a:r>
              <a:rPr lang="en-US" sz="1500" b="1" i="0" u="none" strike="noStrike" dirty="0" err="1">
                <a:solidFill>
                  <a:srgbClr val="065F46"/>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实际距离</a:t>
            </a:r>
            <a:r>
              <a:rPr lang="en-US" sz="1500" b="1" i="0" u="none" strike="noStrike" dirty="0">
                <a:solidFill>
                  <a:srgbClr val="065F46"/>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(米)</a:t>
            </a:r>
            <a:endParaRPr lang="en-US" sz="1100" dirty="0">
              <a:latin typeface="BlueakaBeta2GBK" panose="02000700000000000000" pitchFamily="2" charset="-122"/>
              <a:ea typeface="BlueakaBeta2GBK" panose="02000700000000000000" pitchFamily="2" charset="-122"/>
            </a:endParaRPr>
          </a:p>
          <a:p>
            <a:pPr marL="0" indent="0" algn="l">
              <a:lnSpc>
                <a:spcPct val="125000"/>
              </a:lnSpc>
            </a:pPr>
            <a:r>
              <a:rPr lang="en-US" sz="1300" b="0" i="0" u="none" strike="noStrike" dirty="0" err="1">
                <a:solidFill>
                  <a:srgbClr val="4B5563"/>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存储两点间的欧几里得距离或实际路径长度</a:t>
            </a:r>
            <a:endParaRPr lang="en-US" sz="1300" b="0" i="0" u="none" strike="noStrike" dirty="0">
              <a:solidFill>
                <a:srgbClr val="4B5563"/>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endParaRPr>
          </a:p>
        </p:txBody>
      </p:sp>
      <p:sp>
        <p:nvSpPr>
          <p:cNvPr id="14" name="AutoShape 14"/>
          <p:cNvSpPr/>
          <p:nvPr/>
        </p:nvSpPr>
        <p:spPr>
          <a:xfrm>
            <a:off x="508000" y="2667000"/>
            <a:ext cx="5334000" cy="1206500"/>
          </a:xfrm>
          <a:prstGeom prst="roundRect">
            <a:avLst>
              <a:gd name="adj" fmla="val 0"/>
            </a:avLst>
          </a:prstGeom>
          <a:solidFill>
            <a:srgbClr val="FFFFFF">
              <a:alpha val="100000"/>
            </a:srgbClr>
          </a:solidFill>
          <a:ln w="12700" cap="flat" cmpd="sng">
            <a:solidFill>
              <a:srgbClr val="E2E8F0">
                <a:alpha val="100000"/>
              </a:srgbClr>
            </a:solidFill>
            <a:prstDash val="solid"/>
            <a:round/>
          </a:ln>
        </p:spPr>
        <p:txBody>
          <a:bodyPr vert="horz" wrap="square" lIns="63500" tIns="63500" rIns="63500" bIns="63500" rtlCol="0" anchor="ctr"/>
          <a:lstStyle/>
          <a:p>
            <a:pPr algn="ctr">
              <a:defRPr/>
            </a:pPr>
            <a:endParaRPr dirty="0">
              <a:latin typeface="BlueakaBeta2GBK" panose="02000700000000000000" pitchFamily="2" charset="-122"/>
              <a:ea typeface="BlueakaBeta2GBK" panose="02000700000000000000" pitchFamily="2" charset="-122"/>
            </a:endParaRPr>
          </a:p>
        </p:txBody>
      </p:sp>
      <p:sp>
        <p:nvSpPr>
          <p:cNvPr id="15" name="AutoShape 15"/>
          <p:cNvSpPr/>
          <p:nvPr/>
        </p:nvSpPr>
        <p:spPr>
          <a:xfrm>
            <a:off x="508000" y="2667000"/>
            <a:ext cx="76200" cy="1206500"/>
          </a:xfrm>
          <a:prstGeom prst="roundRect">
            <a:avLst>
              <a:gd name="adj" fmla="val 0"/>
            </a:avLst>
          </a:prstGeom>
          <a:solidFill>
            <a:srgbClr val="3B82F6">
              <a:alpha val="100000"/>
            </a:srgbClr>
          </a:solidFill>
          <a:ln w="25400" cap="flat" cmpd="sng">
            <a:noFill/>
            <a:prstDash val="solid"/>
            <a:round/>
          </a:ln>
        </p:spPr>
        <p:txBody>
          <a:bodyPr vert="horz" wrap="square" lIns="63500" tIns="63500" rIns="63500" bIns="63500" rtlCol="0" anchor="ctr"/>
          <a:lstStyle/>
          <a:p>
            <a:pPr algn="ctr">
              <a:defRPr/>
            </a:pPr>
            <a:endParaRPr dirty="0">
              <a:latin typeface="BlueakaBeta2GBK" panose="02000700000000000000" pitchFamily="2" charset="-122"/>
              <a:ea typeface="BlueakaBeta2GBK" panose="02000700000000000000" pitchFamily="2" charset="-122"/>
            </a:endParaRPr>
          </a:p>
        </p:txBody>
      </p:sp>
      <p:pic>
        <p:nvPicPr>
          <p:cNvPr id="16" name="Picture 1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62000" y="2857500"/>
            <a:ext cx="406400" cy="406400"/>
          </a:xfrm>
          <a:prstGeom prst="rect">
            <a:avLst/>
          </a:prstGeom>
        </p:spPr>
      </p:pic>
      <p:sp>
        <p:nvSpPr>
          <p:cNvPr id="17" name="AutoShape 17"/>
          <p:cNvSpPr/>
          <p:nvPr/>
        </p:nvSpPr>
        <p:spPr>
          <a:xfrm>
            <a:off x="1270000" y="2794000"/>
            <a:ext cx="4445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dirty="0" err="1">
                <a:solidFill>
                  <a:srgbClr val="1F2937"/>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规模适配：轻量低耗</a:t>
            </a:r>
            <a:endParaRPr lang="en-US" sz="1100" dirty="0">
              <a:latin typeface="BlueakaBeta2GBK" panose="02000700000000000000" pitchFamily="2" charset="-122"/>
              <a:ea typeface="BlueakaBeta2GBK" panose="02000700000000000000" pitchFamily="2" charset="-122"/>
            </a:endParaRPr>
          </a:p>
          <a:p>
            <a:pPr marL="0" indent="0" algn="l">
              <a:lnSpc>
                <a:spcPct val="108000"/>
              </a:lnSpc>
            </a:pPr>
            <a:r>
              <a:rPr lang="en-US" sz="1300" b="0" i="0" u="none" strike="noStrike" dirty="0">
                <a:solidFill>
                  <a:srgbClr val="6B7280"/>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景区景点数量通常≤64个，邻接矩阵作为二维数组存储，空间开销极小，完全不会造成系统内存压力，适合嵌入式或轻量级后端环境。</a:t>
            </a:r>
          </a:p>
        </p:txBody>
      </p:sp>
      <p:sp>
        <p:nvSpPr>
          <p:cNvPr id="18" name="AutoShape 18"/>
          <p:cNvSpPr/>
          <p:nvPr/>
        </p:nvSpPr>
        <p:spPr>
          <a:xfrm>
            <a:off x="508000" y="3937000"/>
            <a:ext cx="5334000" cy="1206500"/>
          </a:xfrm>
          <a:prstGeom prst="roundRect">
            <a:avLst>
              <a:gd name="adj" fmla="val 0"/>
            </a:avLst>
          </a:prstGeom>
          <a:solidFill>
            <a:srgbClr val="FFFFFF">
              <a:alpha val="100000"/>
            </a:srgbClr>
          </a:solidFill>
          <a:ln w="12700" cap="flat" cmpd="sng">
            <a:solidFill>
              <a:srgbClr val="E2E8F0">
                <a:alpha val="100000"/>
              </a:srgbClr>
            </a:solidFill>
            <a:prstDash val="solid"/>
            <a:round/>
          </a:ln>
        </p:spPr>
        <p:txBody>
          <a:bodyPr vert="horz" wrap="square" lIns="63500" tIns="63500" rIns="63500" bIns="63500" rtlCol="0" anchor="ctr"/>
          <a:lstStyle/>
          <a:p>
            <a:pPr algn="ctr">
              <a:defRPr/>
            </a:pPr>
            <a:endParaRPr dirty="0">
              <a:latin typeface="BlueakaBeta2GBK" panose="02000700000000000000" pitchFamily="2" charset="-122"/>
              <a:ea typeface="BlueakaBeta2GBK" panose="02000700000000000000" pitchFamily="2" charset="-122"/>
            </a:endParaRPr>
          </a:p>
        </p:txBody>
      </p:sp>
      <p:sp>
        <p:nvSpPr>
          <p:cNvPr id="19" name="AutoShape 19"/>
          <p:cNvSpPr/>
          <p:nvPr/>
        </p:nvSpPr>
        <p:spPr>
          <a:xfrm>
            <a:off x="508000" y="3937000"/>
            <a:ext cx="76200" cy="12065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endParaRPr dirty="0">
              <a:latin typeface="BlueakaBeta2GBK" panose="02000700000000000000" pitchFamily="2" charset="-122"/>
              <a:ea typeface="BlueakaBeta2GBK" panose="02000700000000000000" pitchFamily="2" charset="-122"/>
            </a:endParaRPr>
          </a:p>
        </p:txBody>
      </p:sp>
      <p:pic>
        <p:nvPicPr>
          <p:cNvPr id="20" name="Picture 20"/>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62000" y="4127500"/>
            <a:ext cx="406400" cy="406400"/>
          </a:xfrm>
          <a:prstGeom prst="rect">
            <a:avLst/>
          </a:prstGeom>
        </p:spPr>
      </p:pic>
      <p:sp>
        <p:nvSpPr>
          <p:cNvPr id="21" name="AutoShape 21"/>
          <p:cNvSpPr/>
          <p:nvPr/>
        </p:nvSpPr>
        <p:spPr>
          <a:xfrm>
            <a:off x="1270000" y="4064000"/>
            <a:ext cx="4445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dirty="0" err="1">
                <a:solidFill>
                  <a:srgbClr val="1F2937"/>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性能极致：O</a:t>
            </a:r>
            <a:r>
              <a:rPr lang="en-US" sz="1600" b="1" i="0" u="none" strike="noStrike" dirty="0">
                <a:solidFill>
                  <a:srgbClr val="1F2937"/>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(1) </a:t>
            </a:r>
            <a:r>
              <a:rPr lang="en-US" sz="1600" b="1" i="0" u="none" strike="noStrike" dirty="0" err="1">
                <a:solidFill>
                  <a:srgbClr val="1F2937"/>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随机访问</a:t>
            </a:r>
            <a:endParaRPr lang="en-US" sz="1100" dirty="0">
              <a:latin typeface="BlueakaBeta2GBK" panose="02000700000000000000" pitchFamily="2" charset="-122"/>
              <a:ea typeface="BlueakaBeta2GBK" panose="02000700000000000000" pitchFamily="2" charset="-122"/>
            </a:endParaRPr>
          </a:p>
          <a:p>
            <a:pPr marL="0" indent="0" algn="l">
              <a:lnSpc>
                <a:spcPct val="108000"/>
              </a:lnSpc>
            </a:pPr>
            <a:r>
              <a:rPr lang="en-US" sz="1300" b="0" i="0" u="none" strike="noStrike" dirty="0" err="1">
                <a:solidFill>
                  <a:srgbClr val="6B7280"/>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判断两点连通性或获取权值仅需一次数组索引，时间复杂度为O</a:t>
            </a:r>
            <a:r>
              <a:rPr lang="en-US" sz="1300" b="0" i="0" u="none" strike="noStrike" dirty="0">
                <a:solidFill>
                  <a:srgbClr val="6B7280"/>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(1)。</a:t>
            </a:r>
            <a:r>
              <a:rPr lang="en-US" sz="1300" b="0" i="0" u="none" strike="noStrike" dirty="0" err="1">
                <a:solidFill>
                  <a:srgbClr val="6B7280"/>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这极大加速了Dijkstra算法中的边松弛操作，是稠密图场景下的最优选择</a:t>
            </a:r>
            <a:r>
              <a:rPr lang="en-US" sz="1300" b="0" i="0" u="none" strike="noStrike" dirty="0">
                <a:solidFill>
                  <a:srgbClr val="6B7280"/>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a:t>
            </a:r>
          </a:p>
        </p:txBody>
      </p:sp>
      <p:sp>
        <p:nvSpPr>
          <p:cNvPr id="22" name="AutoShape 22"/>
          <p:cNvSpPr/>
          <p:nvPr/>
        </p:nvSpPr>
        <p:spPr>
          <a:xfrm>
            <a:off x="508000" y="5207000"/>
            <a:ext cx="5334000" cy="1206500"/>
          </a:xfrm>
          <a:prstGeom prst="roundRect">
            <a:avLst>
              <a:gd name="adj" fmla="val 0"/>
            </a:avLst>
          </a:prstGeom>
          <a:solidFill>
            <a:srgbClr val="FFFFFF">
              <a:alpha val="100000"/>
            </a:srgbClr>
          </a:solidFill>
          <a:ln w="12700" cap="flat" cmpd="sng">
            <a:solidFill>
              <a:srgbClr val="E2E8F0">
                <a:alpha val="100000"/>
              </a:srgbClr>
            </a:solidFill>
            <a:prstDash val="solid"/>
            <a:round/>
          </a:ln>
        </p:spPr>
        <p:txBody>
          <a:bodyPr vert="horz" wrap="square" lIns="63500" tIns="63500" rIns="63500" bIns="63500" rtlCol="0" anchor="ctr"/>
          <a:lstStyle/>
          <a:p>
            <a:pPr algn="ctr">
              <a:defRPr/>
            </a:pPr>
            <a:endParaRPr dirty="0">
              <a:latin typeface="BlueakaBeta2GBK" panose="02000700000000000000" pitchFamily="2" charset="-122"/>
              <a:ea typeface="BlueakaBeta2GBK" panose="02000700000000000000" pitchFamily="2" charset="-122"/>
            </a:endParaRPr>
          </a:p>
        </p:txBody>
      </p:sp>
      <p:sp>
        <p:nvSpPr>
          <p:cNvPr id="23" name="AutoShape 23"/>
          <p:cNvSpPr/>
          <p:nvPr/>
        </p:nvSpPr>
        <p:spPr>
          <a:xfrm>
            <a:off x="508000" y="5207000"/>
            <a:ext cx="76200" cy="1206500"/>
          </a:xfrm>
          <a:prstGeom prst="roundRect">
            <a:avLst>
              <a:gd name="adj" fmla="val 0"/>
            </a:avLst>
          </a:prstGeom>
          <a:solidFill>
            <a:srgbClr val="F59E0B">
              <a:alpha val="100000"/>
            </a:srgbClr>
          </a:solidFill>
          <a:ln w="25400" cap="flat" cmpd="sng">
            <a:noFill/>
            <a:prstDash val="solid"/>
            <a:round/>
          </a:ln>
        </p:spPr>
        <p:txBody>
          <a:bodyPr vert="horz" wrap="square" lIns="63500" tIns="63500" rIns="63500" bIns="63500" rtlCol="0" anchor="ctr"/>
          <a:lstStyle/>
          <a:p>
            <a:pPr algn="ctr">
              <a:defRPr/>
            </a:pPr>
            <a:endParaRPr dirty="0">
              <a:latin typeface="BlueakaBeta2GBK" panose="02000700000000000000" pitchFamily="2" charset="-122"/>
              <a:ea typeface="BlueakaBeta2GBK" panose="02000700000000000000" pitchFamily="2" charset="-122"/>
            </a:endParaRPr>
          </a:p>
        </p:txBody>
      </p:sp>
      <p:pic>
        <p:nvPicPr>
          <p:cNvPr id="24" name="Picture 2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762000" y="5397500"/>
            <a:ext cx="406400" cy="406400"/>
          </a:xfrm>
          <a:prstGeom prst="rect">
            <a:avLst/>
          </a:prstGeom>
        </p:spPr>
      </p:pic>
      <p:sp>
        <p:nvSpPr>
          <p:cNvPr id="25" name="AutoShape 25"/>
          <p:cNvSpPr/>
          <p:nvPr/>
        </p:nvSpPr>
        <p:spPr>
          <a:xfrm>
            <a:off x="1270000" y="5334000"/>
            <a:ext cx="4445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dirty="0" err="1">
                <a:solidFill>
                  <a:srgbClr val="1F2937"/>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易于维护：实现与调试</a:t>
            </a:r>
            <a:endParaRPr lang="en-US" sz="1100" dirty="0">
              <a:latin typeface="BlueakaBeta2GBK" panose="02000700000000000000" pitchFamily="2" charset="-122"/>
              <a:ea typeface="BlueakaBeta2GBK" panose="02000700000000000000" pitchFamily="2" charset="-122"/>
            </a:endParaRPr>
          </a:p>
          <a:p>
            <a:pPr marL="0" indent="0" algn="l">
              <a:lnSpc>
                <a:spcPct val="108000"/>
              </a:lnSpc>
            </a:pPr>
            <a:r>
              <a:rPr lang="en-US" sz="1300" b="0" i="0" u="none" strike="noStrike" dirty="0" err="1">
                <a:solidFill>
                  <a:srgbClr val="6B7280"/>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结构直观，代码实现简洁（仅需二维数组初始化与赋值</a:t>
            </a:r>
            <a:r>
              <a:rPr lang="en-US" sz="1300" b="0" i="0" u="none" strike="noStrike" dirty="0">
                <a:solidFill>
                  <a:srgbClr val="6B7280"/>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a:t>
            </a:r>
            <a:r>
              <a:rPr lang="en-US" sz="1300" b="0" i="0" u="none" strike="noStrike" dirty="0" err="1">
                <a:solidFill>
                  <a:srgbClr val="6B7280"/>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可读性强。对于教学演示、算法验证以及后期系统维护都非常友好</a:t>
            </a:r>
            <a:r>
              <a:rPr lang="en-US" sz="1300" b="0" i="0" u="none" strike="noStrike" dirty="0">
                <a:solidFill>
                  <a:srgbClr val="6B7280"/>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a:t>
            </a:r>
          </a:p>
        </p:txBody>
      </p:sp>
      <p:sp>
        <p:nvSpPr>
          <p:cNvPr id="26" name="AutoShape 26"/>
          <p:cNvSpPr/>
          <p:nvPr/>
        </p:nvSpPr>
        <p:spPr>
          <a:xfrm>
            <a:off x="6096000" y="2667000"/>
            <a:ext cx="558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dirty="0">
                <a:solidFill>
                  <a:srgbClr val="1E3A8A"/>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可视化示例：5节点景区连通矩阵</a:t>
            </a:r>
            <a:endParaRPr lang="en-US" sz="1100" dirty="0">
              <a:latin typeface="BlueakaBeta2GBK" panose="02000700000000000000" pitchFamily="2" charset="-122"/>
              <a:ea typeface="BlueakaBeta2GBK" panose="02000700000000000000" pitchFamily="2" charset="-122"/>
            </a:endParaRPr>
          </a:p>
        </p:txBody>
      </p:sp>
      <p:sp>
        <p:nvSpPr>
          <p:cNvPr id="27" name="AutoShape 27"/>
          <p:cNvSpPr/>
          <p:nvPr/>
        </p:nvSpPr>
        <p:spPr>
          <a:xfrm>
            <a:off x="6096000" y="3175000"/>
            <a:ext cx="5588000" cy="2159000"/>
          </a:xfrm>
          <a:prstGeom prst="roundRect">
            <a:avLst>
              <a:gd name="adj" fmla="val 0"/>
            </a:avLst>
          </a:prstGeom>
          <a:solidFill>
            <a:srgbClr val="F1F5F9">
              <a:alpha val="50000"/>
            </a:srgbClr>
          </a:solidFill>
          <a:ln w="25400" cap="flat" cmpd="sng">
            <a:noFill/>
            <a:prstDash val="solid"/>
            <a:round/>
          </a:ln>
        </p:spPr>
        <p:txBody>
          <a:bodyPr vert="horz" wrap="square" lIns="63500" tIns="63500" rIns="63500" bIns="63500" rtlCol="0" anchor="ctr"/>
          <a:lstStyle/>
          <a:p>
            <a:pPr algn="ctr">
              <a:defRPr/>
            </a:pPr>
            <a:endParaRPr dirty="0">
              <a:latin typeface="BlueakaBeta2GBK" panose="02000700000000000000" pitchFamily="2" charset="-122"/>
              <a:ea typeface="BlueakaBeta2GBK" panose="02000700000000000000" pitchFamily="2" charset="-122"/>
            </a:endParaRPr>
          </a:p>
        </p:txBody>
      </p:sp>
      <p:graphicFrame>
        <p:nvGraphicFramePr>
          <p:cNvPr id="28" name="Table 28"/>
          <p:cNvGraphicFramePr>
            <a:graphicFrameLocks noGrp="1"/>
          </p:cNvGraphicFramePr>
          <p:nvPr/>
        </p:nvGraphicFramePr>
        <p:xfrm>
          <a:off x="6223000" y="3302000"/>
          <a:ext cx="5207000" cy="2407920"/>
        </p:xfrm>
        <a:graphic>
          <a:graphicData uri="http://schemas.openxmlformats.org/drawingml/2006/table">
            <a:tbl>
              <a:tblPr>
                <a:effectLst/>
              </a:tblPr>
              <a:tblGrid>
                <a:gridCol w="762000">
                  <a:extLst>
                    <a:ext uri="{9D8B030D-6E8A-4147-A177-3AD203B41FA5}">
                      <a16:colId xmlns:a16="http://schemas.microsoft.com/office/drawing/2014/main" val="20000"/>
                    </a:ext>
                  </a:extLst>
                </a:gridCol>
                <a:gridCol w="889000">
                  <a:extLst>
                    <a:ext uri="{9D8B030D-6E8A-4147-A177-3AD203B41FA5}">
                      <a16:colId xmlns:a16="http://schemas.microsoft.com/office/drawing/2014/main" val="20001"/>
                    </a:ext>
                  </a:extLst>
                </a:gridCol>
                <a:gridCol w="889000">
                  <a:extLst>
                    <a:ext uri="{9D8B030D-6E8A-4147-A177-3AD203B41FA5}">
                      <a16:colId xmlns:a16="http://schemas.microsoft.com/office/drawing/2014/main" val="20002"/>
                    </a:ext>
                  </a:extLst>
                </a:gridCol>
                <a:gridCol w="889000">
                  <a:extLst>
                    <a:ext uri="{9D8B030D-6E8A-4147-A177-3AD203B41FA5}">
                      <a16:colId xmlns:a16="http://schemas.microsoft.com/office/drawing/2014/main" val="20003"/>
                    </a:ext>
                  </a:extLst>
                </a:gridCol>
                <a:gridCol w="889000">
                  <a:extLst>
                    <a:ext uri="{9D8B030D-6E8A-4147-A177-3AD203B41FA5}">
                      <a16:colId xmlns:a16="http://schemas.microsoft.com/office/drawing/2014/main" val="20004"/>
                    </a:ext>
                  </a:extLst>
                </a:gridCol>
                <a:gridCol w="889000">
                  <a:extLst>
                    <a:ext uri="{9D8B030D-6E8A-4147-A177-3AD203B41FA5}">
                      <a16:colId xmlns:a16="http://schemas.microsoft.com/office/drawing/2014/main" val="20005"/>
                    </a:ext>
                  </a:extLst>
                </a:gridCol>
              </a:tblGrid>
              <a:tr h="401320">
                <a:tc>
                  <a:txBody>
                    <a:bodyPr/>
                    <a:lstStyle/>
                    <a:p>
                      <a:pPr marL="0" indent="0" algn="ctr">
                        <a:lnSpc>
                          <a:spcPct val="100000"/>
                        </a:lnSpc>
                        <a:defRPr/>
                      </a:pPr>
                      <a:r>
                        <a:rPr lang="en-US" sz="1300" b="1" i="0" u="none" strike="noStrike" dirty="0" err="1">
                          <a:solidFill>
                            <a:srgbClr val="1F2329"/>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节点</a:t>
                      </a:r>
                      <a:endParaRPr lang="en-US" sz="1100" dirty="0">
                        <a:latin typeface="BlueakaBeta2GBK" panose="02000700000000000000" pitchFamily="2" charset="-122"/>
                      </a:endParaRPr>
                    </a:p>
                  </a:txBody>
                  <a:tcPr marL="101600" marR="101600" marT="101600" marB="101600">
                    <a:lnL>
                      <a:noFill/>
                    </a:lnL>
                    <a:lnR>
                      <a:noFill/>
                    </a:lnR>
                    <a:lnT>
                      <a:noFill/>
                    </a:lnT>
                    <a:lnB>
                      <a:noFill/>
                    </a:lnB>
                    <a:solidFill>
                      <a:srgbClr val="CBD5E1">
                        <a:alpha val="100000"/>
                      </a:srgbClr>
                    </a:solidFill>
                  </a:tcPr>
                </a:tc>
                <a:tc>
                  <a:txBody>
                    <a:bodyPr/>
                    <a:lstStyle/>
                    <a:p>
                      <a:pPr marL="0" indent="0" algn="ctr">
                        <a:lnSpc>
                          <a:spcPct val="100000"/>
                        </a:lnSpc>
                        <a:defRPr/>
                      </a:pPr>
                      <a:r>
                        <a:rPr lang="en-US" sz="1300" b="1" i="0" u="none" strike="noStrike" dirty="0">
                          <a:solidFill>
                            <a:srgbClr val="1F2329"/>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V0</a:t>
                      </a:r>
                      <a:endParaRPr lang="en-US" sz="1100" dirty="0">
                        <a:latin typeface="BlueakaBeta2GBK" panose="02000700000000000000" pitchFamily="2" charset="-122"/>
                      </a:endParaRPr>
                    </a:p>
                  </a:txBody>
                  <a:tcPr marL="101600" marR="101600" marT="101600" marB="101600">
                    <a:lnL>
                      <a:noFill/>
                    </a:lnL>
                    <a:lnR>
                      <a:noFill/>
                    </a:lnR>
                    <a:lnT>
                      <a:noFill/>
                    </a:lnT>
                    <a:lnB>
                      <a:noFill/>
                    </a:lnB>
                    <a:solidFill>
                      <a:srgbClr val="CBD5E1">
                        <a:alpha val="100000"/>
                      </a:srgbClr>
                    </a:solidFill>
                  </a:tcPr>
                </a:tc>
                <a:tc>
                  <a:txBody>
                    <a:bodyPr/>
                    <a:lstStyle/>
                    <a:p>
                      <a:pPr marL="0" indent="0" algn="ctr">
                        <a:lnSpc>
                          <a:spcPct val="100000"/>
                        </a:lnSpc>
                        <a:defRPr/>
                      </a:pPr>
                      <a:r>
                        <a:rPr lang="en-US" sz="1300" b="1" i="0" u="none" strike="noStrike" dirty="0">
                          <a:solidFill>
                            <a:srgbClr val="1F2329"/>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V1</a:t>
                      </a:r>
                      <a:endParaRPr lang="en-US" sz="1100" dirty="0">
                        <a:latin typeface="BlueakaBeta2GBK" panose="02000700000000000000" pitchFamily="2" charset="-122"/>
                      </a:endParaRPr>
                    </a:p>
                  </a:txBody>
                  <a:tcPr marL="101600" marR="101600" marT="101600" marB="101600">
                    <a:lnL>
                      <a:noFill/>
                    </a:lnL>
                    <a:lnR>
                      <a:noFill/>
                    </a:lnR>
                    <a:lnT>
                      <a:noFill/>
                    </a:lnT>
                    <a:lnB>
                      <a:noFill/>
                    </a:lnB>
                    <a:solidFill>
                      <a:srgbClr val="CBD5E1">
                        <a:alpha val="100000"/>
                      </a:srgbClr>
                    </a:solidFill>
                  </a:tcPr>
                </a:tc>
                <a:tc>
                  <a:txBody>
                    <a:bodyPr/>
                    <a:lstStyle/>
                    <a:p>
                      <a:pPr marL="0" indent="0" algn="ctr">
                        <a:lnSpc>
                          <a:spcPct val="100000"/>
                        </a:lnSpc>
                        <a:defRPr/>
                      </a:pPr>
                      <a:r>
                        <a:rPr lang="en-US" sz="1300" b="1" i="0" u="none" strike="noStrike" dirty="0">
                          <a:solidFill>
                            <a:srgbClr val="1F2329"/>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V2</a:t>
                      </a:r>
                      <a:endParaRPr lang="en-US" sz="1100" dirty="0">
                        <a:latin typeface="BlueakaBeta2GBK" panose="02000700000000000000" pitchFamily="2" charset="-122"/>
                      </a:endParaRPr>
                    </a:p>
                  </a:txBody>
                  <a:tcPr marL="101600" marR="101600" marT="101600" marB="101600">
                    <a:lnL>
                      <a:noFill/>
                    </a:lnL>
                    <a:lnR>
                      <a:noFill/>
                    </a:lnR>
                    <a:lnT>
                      <a:noFill/>
                    </a:lnT>
                    <a:lnB>
                      <a:noFill/>
                    </a:lnB>
                    <a:solidFill>
                      <a:srgbClr val="CBD5E1">
                        <a:alpha val="100000"/>
                      </a:srgbClr>
                    </a:solidFill>
                  </a:tcPr>
                </a:tc>
                <a:tc>
                  <a:txBody>
                    <a:bodyPr/>
                    <a:lstStyle/>
                    <a:p>
                      <a:pPr marL="0" indent="0" algn="ctr">
                        <a:lnSpc>
                          <a:spcPct val="100000"/>
                        </a:lnSpc>
                        <a:defRPr/>
                      </a:pPr>
                      <a:r>
                        <a:rPr lang="en-US" sz="1300" b="1" i="0" u="none" strike="noStrike" dirty="0">
                          <a:solidFill>
                            <a:srgbClr val="1F2329"/>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V3</a:t>
                      </a:r>
                      <a:endParaRPr lang="en-US" sz="1100" dirty="0">
                        <a:latin typeface="BlueakaBeta2GBK" panose="02000700000000000000" pitchFamily="2" charset="-122"/>
                      </a:endParaRPr>
                    </a:p>
                  </a:txBody>
                  <a:tcPr marL="101600" marR="101600" marT="101600" marB="101600">
                    <a:lnL>
                      <a:noFill/>
                    </a:lnL>
                    <a:lnR>
                      <a:noFill/>
                    </a:lnR>
                    <a:lnT>
                      <a:noFill/>
                    </a:lnT>
                    <a:lnB>
                      <a:noFill/>
                    </a:lnB>
                    <a:solidFill>
                      <a:srgbClr val="CBD5E1">
                        <a:alpha val="100000"/>
                      </a:srgbClr>
                    </a:solidFill>
                  </a:tcPr>
                </a:tc>
                <a:tc>
                  <a:txBody>
                    <a:bodyPr/>
                    <a:lstStyle/>
                    <a:p>
                      <a:pPr marL="0" indent="0" algn="ctr">
                        <a:lnSpc>
                          <a:spcPct val="100000"/>
                        </a:lnSpc>
                        <a:defRPr/>
                      </a:pPr>
                      <a:r>
                        <a:rPr lang="en-US" sz="1300" b="1" i="0" u="none" strike="noStrike" dirty="0">
                          <a:solidFill>
                            <a:srgbClr val="1F2329"/>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V4</a:t>
                      </a:r>
                      <a:endParaRPr lang="en-US" sz="1100" dirty="0">
                        <a:latin typeface="BlueakaBeta2GBK" panose="02000700000000000000" pitchFamily="2" charset="-122"/>
                      </a:endParaRPr>
                    </a:p>
                  </a:txBody>
                  <a:tcPr marL="101600" marR="101600" marT="101600" marB="101600">
                    <a:lnL>
                      <a:noFill/>
                    </a:lnL>
                    <a:lnR>
                      <a:noFill/>
                    </a:lnR>
                    <a:lnT>
                      <a:noFill/>
                    </a:lnT>
                    <a:lnB>
                      <a:noFill/>
                    </a:lnB>
                    <a:solidFill>
                      <a:srgbClr val="CBD5E1">
                        <a:alpha val="100000"/>
                      </a:srgbClr>
                    </a:solidFill>
                  </a:tcPr>
                </a:tc>
                <a:extLst>
                  <a:ext uri="{0D108BD9-81ED-4DB2-BD59-A6C34878D82A}">
                    <a16:rowId xmlns:a16="http://schemas.microsoft.com/office/drawing/2014/main" val="10000"/>
                  </a:ext>
                </a:extLst>
              </a:tr>
              <a:tr h="401320">
                <a:tc>
                  <a:txBody>
                    <a:bodyPr/>
                    <a:lstStyle/>
                    <a:p>
                      <a:pPr marL="0" indent="0" algn="ctr">
                        <a:lnSpc>
                          <a:spcPct val="100000"/>
                        </a:lnSpc>
                        <a:defRPr/>
                      </a:pPr>
                      <a:r>
                        <a:rPr lang="en-US" sz="1300" b="0" i="0" u="none" strike="noStrike" dirty="0">
                          <a:solidFill>
                            <a:srgbClr val="1F2329"/>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V0</a:t>
                      </a:r>
                      <a:endParaRPr lang="en-US" sz="1100" dirty="0">
                        <a:latin typeface="BlueakaBeta2GBK" panose="02000700000000000000" pitchFamily="2" charset="-122"/>
                      </a:endParaRPr>
                    </a:p>
                  </a:txBody>
                  <a:tcPr marL="101600" marR="101600" marT="101600" marB="101600">
                    <a:lnL>
                      <a:noFill/>
                    </a:lnL>
                    <a:lnR>
                      <a:noFill/>
                    </a:lnR>
                    <a:lnT>
                      <a:noFill/>
                    </a:lnT>
                    <a:lnB>
                      <a:noFill/>
                    </a:lnB>
                    <a:solidFill>
                      <a:srgbClr val="E2E8F0">
                        <a:alpha val="100000"/>
                      </a:srgbClr>
                    </a:solidFill>
                  </a:tcPr>
                </a:tc>
                <a:tc>
                  <a:txBody>
                    <a:bodyPr/>
                    <a:lstStyle/>
                    <a:p>
                      <a:pPr marL="0" indent="0" algn="ctr">
                        <a:lnSpc>
                          <a:spcPct val="100000"/>
                        </a:lnSpc>
                        <a:defRPr/>
                      </a:pPr>
                      <a:r>
                        <a:rPr lang="en-US" sz="1300" b="0" i="0" u="none" strike="noStrike" dirty="0">
                          <a:solidFill>
                            <a:srgbClr val="1F2329"/>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0</a:t>
                      </a:r>
                      <a:endParaRPr lang="en-US" sz="1100" dirty="0">
                        <a:latin typeface="BlueakaBeta2GBK" panose="02000700000000000000" pitchFamily="2" charset="-122"/>
                      </a:endParaRPr>
                    </a:p>
                  </a:txBody>
                  <a:tcPr marL="101600" marR="101600" marT="101600" marB="101600">
                    <a:lnL>
                      <a:noFill/>
                    </a:lnL>
                    <a:lnR>
                      <a:noFill/>
                    </a:lnR>
                    <a:lnT>
                      <a:noFill/>
                    </a:lnT>
                    <a:lnB>
                      <a:noFill/>
                    </a:lnB>
                    <a:solidFill>
                      <a:srgbClr val="E5E7EB">
                        <a:alpha val="100000"/>
                      </a:srgbClr>
                    </a:solidFill>
                  </a:tcPr>
                </a:tc>
                <a:tc>
                  <a:txBody>
                    <a:bodyPr/>
                    <a:lstStyle/>
                    <a:p>
                      <a:pPr marL="0" indent="0" algn="ctr">
                        <a:lnSpc>
                          <a:spcPct val="100000"/>
                        </a:lnSpc>
                        <a:defRPr/>
                      </a:pPr>
                      <a:r>
                        <a:rPr lang="en-US" sz="1300" b="0" i="0" u="none" strike="noStrike" dirty="0">
                          <a:solidFill>
                            <a:srgbClr val="065F46"/>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50</a:t>
                      </a:r>
                      <a:endParaRPr lang="en-US" sz="1100" dirty="0">
                        <a:latin typeface="BlueakaBeta2GBK" panose="02000700000000000000" pitchFamily="2" charset="-122"/>
                      </a:endParaRPr>
                    </a:p>
                  </a:txBody>
                  <a:tcPr marL="101600" marR="101600" marT="101600" marB="101600">
                    <a:lnL>
                      <a:noFill/>
                    </a:lnL>
                    <a:lnR>
                      <a:noFill/>
                    </a:lnR>
                    <a:lnT>
                      <a:noFill/>
                    </a:lnT>
                    <a:lnB>
                      <a:noFill/>
                    </a:lnB>
                    <a:solidFill>
                      <a:srgbClr val="D1FAE5">
                        <a:alpha val="100000"/>
                      </a:srgbClr>
                    </a:solidFill>
                  </a:tcPr>
                </a:tc>
                <a:tc>
                  <a:txBody>
                    <a:bodyPr/>
                    <a:lstStyle/>
                    <a:p>
                      <a:pPr marL="0" indent="0" algn="ctr">
                        <a:lnSpc>
                          <a:spcPct val="100000"/>
                        </a:lnSpc>
                        <a:defRPr/>
                      </a:pPr>
                      <a:r>
                        <a:rPr lang="en-US" sz="1300" b="0" i="0" u="none" strike="noStrike" dirty="0">
                          <a:solidFill>
                            <a:srgbClr val="B91C1C"/>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-1</a:t>
                      </a:r>
                      <a:endParaRPr lang="en-US" sz="1100" dirty="0">
                        <a:latin typeface="BlueakaBeta2GBK" panose="02000700000000000000" pitchFamily="2" charset="-122"/>
                      </a:endParaRPr>
                    </a:p>
                  </a:txBody>
                  <a:tcPr marL="101600" marR="101600" marT="101600" marB="101600">
                    <a:lnL>
                      <a:noFill/>
                    </a:lnL>
                    <a:lnR>
                      <a:noFill/>
                    </a:lnR>
                    <a:lnT>
                      <a:noFill/>
                    </a:lnT>
                    <a:lnB>
                      <a:noFill/>
                    </a:lnB>
                    <a:solidFill>
                      <a:srgbClr val="FEE2E2">
                        <a:alpha val="100000"/>
                      </a:srgbClr>
                    </a:solidFill>
                  </a:tcPr>
                </a:tc>
                <a:tc>
                  <a:txBody>
                    <a:bodyPr/>
                    <a:lstStyle/>
                    <a:p>
                      <a:pPr marL="0" indent="0" algn="ctr">
                        <a:lnSpc>
                          <a:spcPct val="100000"/>
                        </a:lnSpc>
                        <a:defRPr/>
                      </a:pPr>
                      <a:r>
                        <a:rPr lang="en-US" sz="1300" b="0" i="0" u="none" strike="noStrike" dirty="0">
                          <a:solidFill>
                            <a:srgbClr val="065F46"/>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80</a:t>
                      </a:r>
                      <a:endParaRPr lang="en-US" sz="1100" dirty="0">
                        <a:latin typeface="BlueakaBeta2GBK" panose="02000700000000000000" pitchFamily="2" charset="-122"/>
                      </a:endParaRPr>
                    </a:p>
                  </a:txBody>
                  <a:tcPr marL="101600" marR="101600" marT="101600" marB="101600">
                    <a:lnL>
                      <a:noFill/>
                    </a:lnL>
                    <a:lnR>
                      <a:noFill/>
                    </a:lnR>
                    <a:lnT>
                      <a:noFill/>
                    </a:lnT>
                    <a:lnB>
                      <a:noFill/>
                    </a:lnB>
                    <a:solidFill>
                      <a:srgbClr val="D1FAE5">
                        <a:alpha val="100000"/>
                      </a:srgbClr>
                    </a:solidFill>
                  </a:tcPr>
                </a:tc>
                <a:tc>
                  <a:txBody>
                    <a:bodyPr/>
                    <a:lstStyle/>
                    <a:p>
                      <a:pPr marL="0" indent="0" algn="ctr">
                        <a:lnSpc>
                          <a:spcPct val="100000"/>
                        </a:lnSpc>
                        <a:defRPr/>
                      </a:pPr>
                      <a:r>
                        <a:rPr lang="en-US" sz="1300" b="0" i="0" u="none" strike="noStrike" dirty="0">
                          <a:solidFill>
                            <a:srgbClr val="B91C1C"/>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-1</a:t>
                      </a:r>
                      <a:endParaRPr lang="en-US" sz="1100" dirty="0">
                        <a:latin typeface="BlueakaBeta2GBK" panose="02000700000000000000" pitchFamily="2" charset="-122"/>
                      </a:endParaRPr>
                    </a:p>
                  </a:txBody>
                  <a:tcPr marL="101600" marR="101600" marT="101600" marB="101600">
                    <a:lnL>
                      <a:noFill/>
                    </a:lnL>
                    <a:lnR>
                      <a:noFill/>
                    </a:lnR>
                    <a:lnT>
                      <a:noFill/>
                    </a:lnT>
                    <a:lnB>
                      <a:noFill/>
                    </a:lnB>
                    <a:solidFill>
                      <a:srgbClr val="FEE2E2">
                        <a:alpha val="100000"/>
                      </a:srgbClr>
                    </a:solidFill>
                  </a:tcPr>
                </a:tc>
                <a:extLst>
                  <a:ext uri="{0D108BD9-81ED-4DB2-BD59-A6C34878D82A}">
                    <a16:rowId xmlns:a16="http://schemas.microsoft.com/office/drawing/2014/main" val="10001"/>
                  </a:ext>
                </a:extLst>
              </a:tr>
              <a:tr h="401320">
                <a:tc>
                  <a:txBody>
                    <a:bodyPr/>
                    <a:lstStyle/>
                    <a:p>
                      <a:pPr marL="0" indent="0" algn="ctr">
                        <a:lnSpc>
                          <a:spcPct val="100000"/>
                        </a:lnSpc>
                        <a:defRPr/>
                      </a:pPr>
                      <a:r>
                        <a:rPr lang="en-US" sz="1300" b="0" i="0" u="none" strike="noStrike" dirty="0">
                          <a:solidFill>
                            <a:srgbClr val="1F2329"/>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V1</a:t>
                      </a:r>
                      <a:endParaRPr lang="en-US" sz="1100" dirty="0">
                        <a:latin typeface="BlueakaBeta2GBK" panose="02000700000000000000" pitchFamily="2" charset="-122"/>
                      </a:endParaRPr>
                    </a:p>
                  </a:txBody>
                  <a:tcPr marL="101600" marR="101600" marT="101600" marB="101600">
                    <a:lnL>
                      <a:noFill/>
                    </a:lnL>
                    <a:lnR>
                      <a:noFill/>
                    </a:lnR>
                    <a:lnT>
                      <a:noFill/>
                    </a:lnT>
                    <a:lnB>
                      <a:noFill/>
                    </a:lnB>
                    <a:solidFill>
                      <a:srgbClr val="E2E8F0">
                        <a:alpha val="100000"/>
                      </a:srgbClr>
                    </a:solidFill>
                  </a:tcPr>
                </a:tc>
                <a:tc>
                  <a:txBody>
                    <a:bodyPr/>
                    <a:lstStyle/>
                    <a:p>
                      <a:pPr marL="0" indent="0" algn="ctr">
                        <a:lnSpc>
                          <a:spcPct val="100000"/>
                        </a:lnSpc>
                        <a:defRPr/>
                      </a:pPr>
                      <a:r>
                        <a:rPr lang="en-US" sz="1300" b="0" i="0" u="none" strike="noStrike" dirty="0">
                          <a:solidFill>
                            <a:srgbClr val="065F46"/>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50</a:t>
                      </a:r>
                      <a:endParaRPr lang="en-US" sz="1100" dirty="0">
                        <a:latin typeface="BlueakaBeta2GBK" panose="02000700000000000000" pitchFamily="2" charset="-122"/>
                      </a:endParaRPr>
                    </a:p>
                  </a:txBody>
                  <a:tcPr marL="101600" marR="101600" marT="101600" marB="101600">
                    <a:lnL>
                      <a:noFill/>
                    </a:lnL>
                    <a:lnR>
                      <a:noFill/>
                    </a:lnR>
                    <a:lnT>
                      <a:noFill/>
                    </a:lnT>
                    <a:lnB>
                      <a:noFill/>
                    </a:lnB>
                    <a:solidFill>
                      <a:srgbClr val="D1FAE5">
                        <a:alpha val="100000"/>
                      </a:srgbClr>
                    </a:solidFill>
                  </a:tcPr>
                </a:tc>
                <a:tc>
                  <a:txBody>
                    <a:bodyPr/>
                    <a:lstStyle/>
                    <a:p>
                      <a:pPr marL="0" indent="0" algn="ctr">
                        <a:lnSpc>
                          <a:spcPct val="100000"/>
                        </a:lnSpc>
                        <a:defRPr/>
                      </a:pPr>
                      <a:r>
                        <a:rPr lang="en-US" sz="1300" b="0" i="0" u="none" strike="noStrike" dirty="0">
                          <a:solidFill>
                            <a:srgbClr val="1F2329"/>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0</a:t>
                      </a:r>
                      <a:endParaRPr lang="en-US" sz="1100" dirty="0">
                        <a:latin typeface="BlueakaBeta2GBK" panose="02000700000000000000" pitchFamily="2" charset="-122"/>
                      </a:endParaRPr>
                    </a:p>
                  </a:txBody>
                  <a:tcPr marL="101600" marR="101600" marT="101600" marB="101600">
                    <a:lnL>
                      <a:noFill/>
                    </a:lnL>
                    <a:lnR>
                      <a:noFill/>
                    </a:lnR>
                    <a:lnT>
                      <a:noFill/>
                    </a:lnT>
                    <a:lnB>
                      <a:noFill/>
                    </a:lnB>
                    <a:solidFill>
                      <a:srgbClr val="E5E7EB">
                        <a:alpha val="100000"/>
                      </a:srgbClr>
                    </a:solidFill>
                  </a:tcPr>
                </a:tc>
                <a:tc>
                  <a:txBody>
                    <a:bodyPr/>
                    <a:lstStyle/>
                    <a:p>
                      <a:pPr marL="0" indent="0" algn="ctr">
                        <a:lnSpc>
                          <a:spcPct val="100000"/>
                        </a:lnSpc>
                        <a:defRPr/>
                      </a:pPr>
                      <a:r>
                        <a:rPr lang="en-US" sz="1300" b="0" i="0" u="none" strike="noStrike" dirty="0">
                          <a:solidFill>
                            <a:srgbClr val="065F46"/>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120</a:t>
                      </a:r>
                      <a:endParaRPr lang="en-US" sz="1100" dirty="0">
                        <a:latin typeface="BlueakaBeta2GBK" panose="02000700000000000000" pitchFamily="2" charset="-122"/>
                      </a:endParaRPr>
                    </a:p>
                  </a:txBody>
                  <a:tcPr marL="101600" marR="101600" marT="101600" marB="101600">
                    <a:lnL>
                      <a:noFill/>
                    </a:lnL>
                    <a:lnR>
                      <a:noFill/>
                    </a:lnR>
                    <a:lnT>
                      <a:noFill/>
                    </a:lnT>
                    <a:lnB>
                      <a:noFill/>
                    </a:lnB>
                    <a:solidFill>
                      <a:srgbClr val="D1FAE5">
                        <a:alpha val="100000"/>
                      </a:srgbClr>
                    </a:solidFill>
                  </a:tcPr>
                </a:tc>
                <a:tc>
                  <a:txBody>
                    <a:bodyPr/>
                    <a:lstStyle/>
                    <a:p>
                      <a:pPr marL="0" indent="0" algn="ctr">
                        <a:lnSpc>
                          <a:spcPct val="100000"/>
                        </a:lnSpc>
                        <a:defRPr/>
                      </a:pPr>
                      <a:r>
                        <a:rPr lang="en-US" sz="1300" b="0" i="0" u="none" strike="noStrike" dirty="0">
                          <a:solidFill>
                            <a:srgbClr val="B91C1C"/>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-1</a:t>
                      </a:r>
                      <a:endParaRPr lang="en-US" sz="1100" dirty="0">
                        <a:latin typeface="BlueakaBeta2GBK" panose="02000700000000000000" pitchFamily="2" charset="-122"/>
                      </a:endParaRPr>
                    </a:p>
                  </a:txBody>
                  <a:tcPr marL="101600" marR="101600" marT="101600" marB="101600">
                    <a:lnL>
                      <a:noFill/>
                    </a:lnL>
                    <a:lnR>
                      <a:noFill/>
                    </a:lnR>
                    <a:lnT>
                      <a:noFill/>
                    </a:lnT>
                    <a:lnB>
                      <a:noFill/>
                    </a:lnB>
                    <a:solidFill>
                      <a:srgbClr val="FEE2E2">
                        <a:alpha val="100000"/>
                      </a:srgbClr>
                    </a:solidFill>
                  </a:tcPr>
                </a:tc>
                <a:tc>
                  <a:txBody>
                    <a:bodyPr/>
                    <a:lstStyle/>
                    <a:p>
                      <a:pPr marL="0" indent="0" algn="ctr">
                        <a:lnSpc>
                          <a:spcPct val="100000"/>
                        </a:lnSpc>
                        <a:defRPr/>
                      </a:pPr>
                      <a:r>
                        <a:rPr lang="en-US" sz="1300" b="0" i="0" u="none" strike="noStrike" dirty="0">
                          <a:solidFill>
                            <a:srgbClr val="065F46"/>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60</a:t>
                      </a:r>
                      <a:endParaRPr lang="en-US" sz="1100" dirty="0">
                        <a:latin typeface="BlueakaBeta2GBK" panose="02000700000000000000" pitchFamily="2" charset="-122"/>
                      </a:endParaRPr>
                    </a:p>
                  </a:txBody>
                  <a:tcPr marL="101600" marR="101600" marT="101600" marB="101600">
                    <a:lnL>
                      <a:noFill/>
                    </a:lnL>
                    <a:lnR>
                      <a:noFill/>
                    </a:lnR>
                    <a:lnT>
                      <a:noFill/>
                    </a:lnT>
                    <a:lnB>
                      <a:noFill/>
                    </a:lnB>
                    <a:solidFill>
                      <a:srgbClr val="D1FAE5">
                        <a:alpha val="100000"/>
                      </a:srgbClr>
                    </a:solidFill>
                  </a:tcPr>
                </a:tc>
                <a:extLst>
                  <a:ext uri="{0D108BD9-81ED-4DB2-BD59-A6C34878D82A}">
                    <a16:rowId xmlns:a16="http://schemas.microsoft.com/office/drawing/2014/main" val="10002"/>
                  </a:ext>
                </a:extLst>
              </a:tr>
              <a:tr h="401320">
                <a:tc>
                  <a:txBody>
                    <a:bodyPr/>
                    <a:lstStyle/>
                    <a:p>
                      <a:pPr marL="0" indent="0" algn="ctr">
                        <a:lnSpc>
                          <a:spcPct val="100000"/>
                        </a:lnSpc>
                        <a:defRPr/>
                      </a:pPr>
                      <a:r>
                        <a:rPr lang="en-US" sz="1300" b="0" i="0" u="none" strike="noStrike" dirty="0">
                          <a:solidFill>
                            <a:srgbClr val="1F2329"/>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V2</a:t>
                      </a:r>
                      <a:endParaRPr lang="en-US" sz="1100" dirty="0">
                        <a:latin typeface="BlueakaBeta2GBK" panose="02000700000000000000" pitchFamily="2" charset="-122"/>
                      </a:endParaRPr>
                    </a:p>
                  </a:txBody>
                  <a:tcPr marL="101600" marR="101600" marT="101600" marB="101600">
                    <a:lnL>
                      <a:noFill/>
                    </a:lnL>
                    <a:lnR>
                      <a:noFill/>
                    </a:lnR>
                    <a:lnT>
                      <a:noFill/>
                    </a:lnT>
                    <a:lnB>
                      <a:noFill/>
                    </a:lnB>
                    <a:solidFill>
                      <a:srgbClr val="E2E8F0">
                        <a:alpha val="100000"/>
                      </a:srgbClr>
                    </a:solidFill>
                  </a:tcPr>
                </a:tc>
                <a:tc>
                  <a:txBody>
                    <a:bodyPr/>
                    <a:lstStyle/>
                    <a:p>
                      <a:pPr marL="0" indent="0" algn="ctr">
                        <a:lnSpc>
                          <a:spcPct val="100000"/>
                        </a:lnSpc>
                        <a:defRPr/>
                      </a:pPr>
                      <a:r>
                        <a:rPr lang="en-US" sz="1300" b="0" i="0" u="none" strike="noStrike" dirty="0">
                          <a:solidFill>
                            <a:srgbClr val="B91C1C"/>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-1</a:t>
                      </a:r>
                      <a:endParaRPr lang="en-US" sz="1100" dirty="0">
                        <a:latin typeface="BlueakaBeta2GBK" panose="02000700000000000000" pitchFamily="2" charset="-122"/>
                      </a:endParaRPr>
                    </a:p>
                  </a:txBody>
                  <a:tcPr marL="101600" marR="101600" marT="101600" marB="101600">
                    <a:lnL>
                      <a:noFill/>
                    </a:lnL>
                    <a:lnR>
                      <a:noFill/>
                    </a:lnR>
                    <a:lnT>
                      <a:noFill/>
                    </a:lnT>
                    <a:lnB>
                      <a:noFill/>
                    </a:lnB>
                    <a:solidFill>
                      <a:srgbClr val="FEE2E2">
                        <a:alpha val="100000"/>
                      </a:srgbClr>
                    </a:solidFill>
                  </a:tcPr>
                </a:tc>
                <a:tc>
                  <a:txBody>
                    <a:bodyPr/>
                    <a:lstStyle/>
                    <a:p>
                      <a:pPr marL="0" indent="0" algn="ctr">
                        <a:lnSpc>
                          <a:spcPct val="100000"/>
                        </a:lnSpc>
                        <a:defRPr/>
                      </a:pPr>
                      <a:r>
                        <a:rPr lang="en-US" sz="1300" b="0" i="0" u="none" strike="noStrike" dirty="0">
                          <a:solidFill>
                            <a:srgbClr val="065F46"/>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120</a:t>
                      </a:r>
                      <a:endParaRPr lang="en-US" sz="1100" dirty="0">
                        <a:latin typeface="BlueakaBeta2GBK" panose="02000700000000000000" pitchFamily="2" charset="-122"/>
                      </a:endParaRPr>
                    </a:p>
                  </a:txBody>
                  <a:tcPr marL="101600" marR="101600" marT="101600" marB="101600">
                    <a:lnL>
                      <a:noFill/>
                    </a:lnL>
                    <a:lnR>
                      <a:noFill/>
                    </a:lnR>
                    <a:lnT>
                      <a:noFill/>
                    </a:lnT>
                    <a:lnB>
                      <a:noFill/>
                    </a:lnB>
                    <a:solidFill>
                      <a:srgbClr val="D1FAE5">
                        <a:alpha val="100000"/>
                      </a:srgbClr>
                    </a:solidFill>
                  </a:tcPr>
                </a:tc>
                <a:tc>
                  <a:txBody>
                    <a:bodyPr/>
                    <a:lstStyle/>
                    <a:p>
                      <a:pPr marL="0" indent="0" algn="ctr">
                        <a:lnSpc>
                          <a:spcPct val="100000"/>
                        </a:lnSpc>
                        <a:defRPr/>
                      </a:pPr>
                      <a:r>
                        <a:rPr lang="en-US" sz="1300" b="0" i="0" u="none" strike="noStrike" dirty="0">
                          <a:solidFill>
                            <a:srgbClr val="1F2329"/>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0</a:t>
                      </a:r>
                      <a:endParaRPr lang="en-US" sz="1100" dirty="0">
                        <a:latin typeface="BlueakaBeta2GBK" panose="02000700000000000000" pitchFamily="2" charset="-122"/>
                      </a:endParaRPr>
                    </a:p>
                  </a:txBody>
                  <a:tcPr marL="101600" marR="101600" marT="101600" marB="101600">
                    <a:lnL>
                      <a:noFill/>
                    </a:lnL>
                    <a:lnR>
                      <a:noFill/>
                    </a:lnR>
                    <a:lnT>
                      <a:noFill/>
                    </a:lnT>
                    <a:lnB>
                      <a:noFill/>
                    </a:lnB>
                    <a:solidFill>
                      <a:srgbClr val="E5E7EB">
                        <a:alpha val="100000"/>
                      </a:srgbClr>
                    </a:solidFill>
                  </a:tcPr>
                </a:tc>
                <a:tc>
                  <a:txBody>
                    <a:bodyPr/>
                    <a:lstStyle/>
                    <a:p>
                      <a:pPr marL="0" indent="0" algn="ctr">
                        <a:lnSpc>
                          <a:spcPct val="100000"/>
                        </a:lnSpc>
                        <a:defRPr/>
                      </a:pPr>
                      <a:r>
                        <a:rPr lang="en-US" sz="1300" b="0" i="0" u="none" strike="noStrike" dirty="0">
                          <a:solidFill>
                            <a:srgbClr val="065F46"/>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40</a:t>
                      </a:r>
                      <a:endParaRPr lang="en-US" sz="1100" dirty="0">
                        <a:latin typeface="BlueakaBeta2GBK" panose="02000700000000000000" pitchFamily="2" charset="-122"/>
                      </a:endParaRPr>
                    </a:p>
                  </a:txBody>
                  <a:tcPr marL="101600" marR="101600" marT="101600" marB="101600">
                    <a:lnL>
                      <a:noFill/>
                    </a:lnL>
                    <a:lnR>
                      <a:noFill/>
                    </a:lnR>
                    <a:lnT>
                      <a:noFill/>
                    </a:lnT>
                    <a:lnB>
                      <a:noFill/>
                    </a:lnB>
                    <a:solidFill>
                      <a:srgbClr val="D1FAE5">
                        <a:alpha val="100000"/>
                      </a:srgbClr>
                    </a:solidFill>
                  </a:tcPr>
                </a:tc>
                <a:tc>
                  <a:txBody>
                    <a:bodyPr/>
                    <a:lstStyle/>
                    <a:p>
                      <a:pPr marL="0" indent="0" algn="ctr">
                        <a:lnSpc>
                          <a:spcPct val="100000"/>
                        </a:lnSpc>
                        <a:defRPr/>
                      </a:pPr>
                      <a:r>
                        <a:rPr lang="en-US" sz="1300" b="0" i="0" u="none" strike="noStrike" dirty="0">
                          <a:solidFill>
                            <a:srgbClr val="B91C1C"/>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-1</a:t>
                      </a:r>
                      <a:endParaRPr lang="en-US" sz="1100" dirty="0">
                        <a:latin typeface="BlueakaBeta2GBK" panose="02000700000000000000" pitchFamily="2" charset="-122"/>
                      </a:endParaRPr>
                    </a:p>
                  </a:txBody>
                  <a:tcPr marL="101600" marR="101600" marT="101600" marB="101600">
                    <a:lnL>
                      <a:noFill/>
                    </a:lnL>
                    <a:lnR>
                      <a:noFill/>
                    </a:lnR>
                    <a:lnT>
                      <a:noFill/>
                    </a:lnT>
                    <a:lnB>
                      <a:noFill/>
                    </a:lnB>
                    <a:solidFill>
                      <a:srgbClr val="FEE2E2">
                        <a:alpha val="100000"/>
                      </a:srgbClr>
                    </a:solidFill>
                  </a:tcPr>
                </a:tc>
                <a:extLst>
                  <a:ext uri="{0D108BD9-81ED-4DB2-BD59-A6C34878D82A}">
                    <a16:rowId xmlns:a16="http://schemas.microsoft.com/office/drawing/2014/main" val="10003"/>
                  </a:ext>
                </a:extLst>
              </a:tr>
              <a:tr h="401320">
                <a:tc>
                  <a:txBody>
                    <a:bodyPr/>
                    <a:lstStyle/>
                    <a:p>
                      <a:pPr marL="0" indent="0" algn="ctr">
                        <a:lnSpc>
                          <a:spcPct val="100000"/>
                        </a:lnSpc>
                        <a:defRPr/>
                      </a:pPr>
                      <a:r>
                        <a:rPr lang="en-US" sz="1300" b="0" i="0" u="none" strike="noStrike" dirty="0">
                          <a:solidFill>
                            <a:srgbClr val="1F2329"/>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V3</a:t>
                      </a:r>
                      <a:endParaRPr lang="en-US" sz="1100" dirty="0">
                        <a:latin typeface="BlueakaBeta2GBK" panose="02000700000000000000" pitchFamily="2" charset="-122"/>
                      </a:endParaRPr>
                    </a:p>
                  </a:txBody>
                  <a:tcPr marL="101600" marR="101600" marT="101600" marB="101600">
                    <a:lnL>
                      <a:noFill/>
                    </a:lnL>
                    <a:lnR>
                      <a:noFill/>
                    </a:lnR>
                    <a:lnT>
                      <a:noFill/>
                    </a:lnT>
                    <a:lnB>
                      <a:noFill/>
                    </a:lnB>
                    <a:solidFill>
                      <a:srgbClr val="E2E8F0">
                        <a:alpha val="100000"/>
                      </a:srgbClr>
                    </a:solidFill>
                  </a:tcPr>
                </a:tc>
                <a:tc>
                  <a:txBody>
                    <a:bodyPr/>
                    <a:lstStyle/>
                    <a:p>
                      <a:pPr marL="0" indent="0" algn="ctr">
                        <a:lnSpc>
                          <a:spcPct val="100000"/>
                        </a:lnSpc>
                        <a:defRPr/>
                      </a:pPr>
                      <a:r>
                        <a:rPr lang="en-US" sz="1300" b="0" i="0" u="none" strike="noStrike" dirty="0">
                          <a:solidFill>
                            <a:srgbClr val="065F46"/>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80</a:t>
                      </a:r>
                      <a:endParaRPr lang="en-US" sz="1100" dirty="0">
                        <a:latin typeface="BlueakaBeta2GBK" panose="02000700000000000000" pitchFamily="2" charset="-122"/>
                      </a:endParaRPr>
                    </a:p>
                  </a:txBody>
                  <a:tcPr marL="101600" marR="101600" marT="101600" marB="101600">
                    <a:lnL>
                      <a:noFill/>
                    </a:lnL>
                    <a:lnR>
                      <a:noFill/>
                    </a:lnR>
                    <a:lnT>
                      <a:noFill/>
                    </a:lnT>
                    <a:lnB>
                      <a:noFill/>
                    </a:lnB>
                    <a:solidFill>
                      <a:srgbClr val="D1FAE5">
                        <a:alpha val="100000"/>
                      </a:srgbClr>
                    </a:solidFill>
                  </a:tcPr>
                </a:tc>
                <a:tc>
                  <a:txBody>
                    <a:bodyPr/>
                    <a:lstStyle/>
                    <a:p>
                      <a:pPr marL="0" indent="0" algn="ctr">
                        <a:lnSpc>
                          <a:spcPct val="100000"/>
                        </a:lnSpc>
                        <a:defRPr/>
                      </a:pPr>
                      <a:r>
                        <a:rPr lang="en-US" sz="1300" b="0" i="0" u="none" strike="noStrike" dirty="0">
                          <a:solidFill>
                            <a:srgbClr val="B91C1C"/>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-1</a:t>
                      </a:r>
                      <a:endParaRPr lang="en-US" sz="1100" dirty="0">
                        <a:latin typeface="BlueakaBeta2GBK" panose="02000700000000000000" pitchFamily="2" charset="-122"/>
                      </a:endParaRPr>
                    </a:p>
                  </a:txBody>
                  <a:tcPr marL="101600" marR="101600" marT="101600" marB="101600">
                    <a:lnL>
                      <a:noFill/>
                    </a:lnL>
                    <a:lnR>
                      <a:noFill/>
                    </a:lnR>
                    <a:lnT>
                      <a:noFill/>
                    </a:lnT>
                    <a:lnB>
                      <a:noFill/>
                    </a:lnB>
                    <a:solidFill>
                      <a:srgbClr val="FEE2E2">
                        <a:alpha val="100000"/>
                      </a:srgbClr>
                    </a:solidFill>
                  </a:tcPr>
                </a:tc>
                <a:tc>
                  <a:txBody>
                    <a:bodyPr/>
                    <a:lstStyle/>
                    <a:p>
                      <a:pPr marL="0" indent="0" algn="ctr">
                        <a:lnSpc>
                          <a:spcPct val="100000"/>
                        </a:lnSpc>
                        <a:defRPr/>
                      </a:pPr>
                      <a:r>
                        <a:rPr lang="en-US" sz="1300" b="0" i="0" u="none" strike="noStrike" dirty="0">
                          <a:solidFill>
                            <a:srgbClr val="065F46"/>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40</a:t>
                      </a:r>
                      <a:endParaRPr lang="en-US" sz="1100" dirty="0">
                        <a:latin typeface="BlueakaBeta2GBK" panose="02000700000000000000" pitchFamily="2" charset="-122"/>
                      </a:endParaRPr>
                    </a:p>
                  </a:txBody>
                  <a:tcPr marL="101600" marR="101600" marT="101600" marB="101600">
                    <a:lnL>
                      <a:noFill/>
                    </a:lnL>
                    <a:lnR>
                      <a:noFill/>
                    </a:lnR>
                    <a:lnT>
                      <a:noFill/>
                    </a:lnT>
                    <a:lnB>
                      <a:noFill/>
                    </a:lnB>
                    <a:solidFill>
                      <a:srgbClr val="D1FAE5">
                        <a:alpha val="100000"/>
                      </a:srgbClr>
                    </a:solidFill>
                  </a:tcPr>
                </a:tc>
                <a:tc>
                  <a:txBody>
                    <a:bodyPr/>
                    <a:lstStyle/>
                    <a:p>
                      <a:pPr marL="0" indent="0" algn="ctr">
                        <a:lnSpc>
                          <a:spcPct val="100000"/>
                        </a:lnSpc>
                        <a:defRPr/>
                      </a:pPr>
                      <a:r>
                        <a:rPr lang="en-US" sz="1300" b="0" i="0" u="none" strike="noStrike" dirty="0">
                          <a:solidFill>
                            <a:srgbClr val="1F2329"/>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0</a:t>
                      </a:r>
                      <a:endParaRPr lang="en-US" sz="1100" dirty="0">
                        <a:latin typeface="BlueakaBeta2GBK" panose="02000700000000000000" pitchFamily="2" charset="-122"/>
                      </a:endParaRPr>
                    </a:p>
                  </a:txBody>
                  <a:tcPr marL="101600" marR="101600" marT="101600" marB="101600">
                    <a:lnL>
                      <a:noFill/>
                    </a:lnL>
                    <a:lnR>
                      <a:noFill/>
                    </a:lnR>
                    <a:lnT>
                      <a:noFill/>
                    </a:lnT>
                    <a:lnB>
                      <a:noFill/>
                    </a:lnB>
                    <a:solidFill>
                      <a:srgbClr val="E5E7EB">
                        <a:alpha val="100000"/>
                      </a:srgbClr>
                    </a:solidFill>
                  </a:tcPr>
                </a:tc>
                <a:tc>
                  <a:txBody>
                    <a:bodyPr/>
                    <a:lstStyle/>
                    <a:p>
                      <a:pPr marL="0" indent="0" algn="ctr">
                        <a:lnSpc>
                          <a:spcPct val="100000"/>
                        </a:lnSpc>
                        <a:defRPr/>
                      </a:pPr>
                      <a:r>
                        <a:rPr lang="en-US" sz="1300" b="0" i="0" u="none" strike="noStrike" dirty="0">
                          <a:solidFill>
                            <a:srgbClr val="065F46"/>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90</a:t>
                      </a:r>
                      <a:endParaRPr lang="en-US" sz="1100" dirty="0">
                        <a:latin typeface="BlueakaBeta2GBK" panose="02000700000000000000" pitchFamily="2" charset="-122"/>
                      </a:endParaRPr>
                    </a:p>
                  </a:txBody>
                  <a:tcPr marL="101600" marR="101600" marT="101600" marB="101600">
                    <a:lnL>
                      <a:noFill/>
                    </a:lnL>
                    <a:lnR>
                      <a:noFill/>
                    </a:lnR>
                    <a:lnT>
                      <a:noFill/>
                    </a:lnT>
                    <a:lnB>
                      <a:noFill/>
                    </a:lnB>
                    <a:solidFill>
                      <a:srgbClr val="D1FAE5">
                        <a:alpha val="100000"/>
                      </a:srgbClr>
                    </a:solidFill>
                  </a:tcPr>
                </a:tc>
                <a:extLst>
                  <a:ext uri="{0D108BD9-81ED-4DB2-BD59-A6C34878D82A}">
                    <a16:rowId xmlns:a16="http://schemas.microsoft.com/office/drawing/2014/main" val="10004"/>
                  </a:ext>
                </a:extLst>
              </a:tr>
              <a:tr h="401320">
                <a:tc>
                  <a:txBody>
                    <a:bodyPr/>
                    <a:lstStyle/>
                    <a:p>
                      <a:pPr marL="0" indent="0" algn="ctr">
                        <a:lnSpc>
                          <a:spcPct val="100000"/>
                        </a:lnSpc>
                        <a:buNone/>
                        <a:defRPr/>
                      </a:pPr>
                      <a:r>
                        <a:rPr lang="en-US" sz="1300" b="1" dirty="0">
                          <a:solidFill>
                            <a:srgbClr val="1F2329"/>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V4</a:t>
                      </a:r>
                      <a:endParaRPr lang="en-US" altLang="en-US" sz="1300" dirty="0">
                        <a:latin typeface="BlueakaBeta2GBK" panose="02000700000000000000" pitchFamily="2" charset="-122"/>
                      </a:endParaRPr>
                    </a:p>
                  </a:txBody>
                  <a:tcPr marL="101600" marR="101600" marT="101600" marB="101600">
                    <a:lnL>
                      <a:noFill/>
                    </a:lnL>
                    <a:lnR>
                      <a:noFill/>
                    </a:lnR>
                    <a:lnT>
                      <a:noFill/>
                    </a:lnT>
                    <a:lnB>
                      <a:noFill/>
                    </a:lnB>
                    <a:solidFill>
                      <a:srgbClr val="E2E8F0">
                        <a:alpha val="100000"/>
                      </a:srgbClr>
                    </a:solidFill>
                  </a:tcPr>
                </a:tc>
                <a:tc>
                  <a:txBody>
                    <a:bodyPr/>
                    <a:lstStyle/>
                    <a:p>
                      <a:pPr marL="0" indent="0" algn="ctr">
                        <a:lnSpc>
                          <a:spcPct val="100000"/>
                        </a:lnSpc>
                        <a:defRPr/>
                      </a:pPr>
                      <a:r>
                        <a:rPr lang="en-US" sz="1300" dirty="0">
                          <a:solidFill>
                            <a:srgbClr val="B91C1C"/>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-1</a:t>
                      </a:r>
                      <a:endParaRPr lang="en-US" altLang="en-US" sz="1300" dirty="0">
                        <a:solidFill>
                          <a:srgbClr val="FF0000"/>
                        </a:solidFill>
                        <a:latin typeface="BlueakaBeta2GBK" panose="02000700000000000000" pitchFamily="2" charset="-122"/>
                      </a:endParaRPr>
                    </a:p>
                  </a:txBody>
                  <a:tcPr marL="101600" marR="101600" marT="101600" marB="101600">
                    <a:lnL>
                      <a:noFill/>
                    </a:lnL>
                    <a:lnR>
                      <a:noFill/>
                    </a:lnR>
                    <a:lnT>
                      <a:noFill/>
                    </a:lnT>
                    <a:lnB>
                      <a:noFill/>
                    </a:lnB>
                    <a:solidFill>
                      <a:srgbClr val="FEE2E2"/>
                    </a:solidFill>
                  </a:tcPr>
                </a:tc>
                <a:tc>
                  <a:txBody>
                    <a:bodyPr/>
                    <a:lstStyle/>
                    <a:p>
                      <a:pPr marL="0" indent="0" algn="ctr">
                        <a:lnSpc>
                          <a:spcPct val="100000"/>
                        </a:lnSpc>
                        <a:defRPr/>
                      </a:pPr>
                      <a:r>
                        <a:rPr lang="en-US" sz="1300" dirty="0">
                          <a:solidFill>
                            <a:srgbClr val="065F46"/>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60</a:t>
                      </a:r>
                      <a:endParaRPr lang="en-US" altLang="en-US" sz="1300" dirty="0">
                        <a:latin typeface="BlueakaBeta2GBK" panose="02000700000000000000" pitchFamily="2" charset="-122"/>
                      </a:endParaRPr>
                    </a:p>
                  </a:txBody>
                  <a:tcPr marL="101600" marR="101600" marT="101600" marB="101600">
                    <a:lnL>
                      <a:noFill/>
                    </a:lnL>
                    <a:lnR>
                      <a:noFill/>
                    </a:lnR>
                    <a:lnT>
                      <a:noFill/>
                    </a:lnT>
                    <a:lnB>
                      <a:noFill/>
                    </a:lnB>
                    <a:solidFill>
                      <a:srgbClr val="D1FAE5"/>
                    </a:solidFill>
                  </a:tcPr>
                </a:tc>
                <a:tc>
                  <a:txBody>
                    <a:bodyPr/>
                    <a:lstStyle/>
                    <a:p>
                      <a:pPr marL="0" indent="0" algn="ctr">
                        <a:lnSpc>
                          <a:spcPct val="100000"/>
                        </a:lnSpc>
                        <a:buNone/>
                        <a:defRPr/>
                      </a:pPr>
                      <a:r>
                        <a:rPr lang="en-US" sz="1300" dirty="0">
                          <a:solidFill>
                            <a:srgbClr val="B91C1C"/>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-1</a:t>
                      </a:r>
                      <a:endParaRPr lang="en-US" altLang="en-US" sz="1300" dirty="0">
                        <a:latin typeface="BlueakaBeta2GBK" panose="02000700000000000000" pitchFamily="2" charset="-122"/>
                      </a:endParaRPr>
                    </a:p>
                  </a:txBody>
                  <a:tcPr marL="101600" marR="101600" marT="101600" marB="101600">
                    <a:lnL>
                      <a:noFill/>
                    </a:lnL>
                    <a:lnR>
                      <a:noFill/>
                    </a:lnR>
                    <a:lnT>
                      <a:noFill/>
                    </a:lnT>
                    <a:lnB>
                      <a:noFill/>
                    </a:lnB>
                    <a:solidFill>
                      <a:srgbClr val="FEE2E2"/>
                    </a:solidFill>
                  </a:tcPr>
                </a:tc>
                <a:tc>
                  <a:txBody>
                    <a:bodyPr/>
                    <a:lstStyle/>
                    <a:p>
                      <a:pPr marL="0" indent="0" algn="ctr">
                        <a:lnSpc>
                          <a:spcPct val="100000"/>
                        </a:lnSpc>
                        <a:buNone/>
                        <a:defRPr/>
                      </a:pPr>
                      <a:r>
                        <a:rPr lang="en-US" sz="1300" dirty="0">
                          <a:solidFill>
                            <a:srgbClr val="065F46"/>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90</a:t>
                      </a:r>
                      <a:endParaRPr lang="en-US" altLang="en-US" sz="1300" dirty="0">
                        <a:latin typeface="BlueakaBeta2GBK" panose="02000700000000000000" pitchFamily="2" charset="-122"/>
                      </a:endParaRPr>
                    </a:p>
                  </a:txBody>
                  <a:tcPr marL="101600" marR="101600" marT="101600" marB="101600">
                    <a:lnL>
                      <a:noFill/>
                    </a:lnL>
                    <a:lnR>
                      <a:noFill/>
                    </a:lnR>
                    <a:lnT>
                      <a:noFill/>
                    </a:lnT>
                    <a:lnB>
                      <a:noFill/>
                    </a:lnB>
                    <a:solidFill>
                      <a:srgbClr val="D1FAE5"/>
                    </a:solidFill>
                  </a:tcPr>
                </a:tc>
                <a:tc>
                  <a:txBody>
                    <a:bodyPr/>
                    <a:lstStyle/>
                    <a:p>
                      <a:pPr marL="0" indent="0" algn="ctr">
                        <a:lnSpc>
                          <a:spcPct val="100000"/>
                        </a:lnSpc>
                        <a:buNone/>
                        <a:defRPr/>
                      </a:pPr>
                      <a:r>
                        <a:rPr lang="en-US" sz="1300" dirty="0">
                          <a:solidFill>
                            <a:srgbClr val="1F2329"/>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0</a:t>
                      </a:r>
                      <a:endParaRPr lang="en-US" altLang="en-US" sz="1300" dirty="0">
                        <a:latin typeface="BlueakaBeta2GBK" panose="02000700000000000000" pitchFamily="2" charset="-122"/>
                      </a:endParaRPr>
                    </a:p>
                  </a:txBody>
                  <a:tcPr marL="101600" marR="101600" marT="101600" marB="101600">
                    <a:lnL>
                      <a:noFill/>
                    </a:lnL>
                    <a:lnR>
                      <a:noFill/>
                    </a:lnR>
                    <a:lnT>
                      <a:noFill/>
                    </a:lnT>
                    <a:lnB>
                      <a:noFill/>
                    </a:lnB>
                    <a:solidFill>
                      <a:srgbClr val="E5E7EB"/>
                    </a:solidFill>
                  </a:tcPr>
                </a:tc>
                <a:extLst>
                  <a:ext uri="{0D108BD9-81ED-4DB2-BD59-A6C34878D82A}">
                    <a16:rowId xmlns:a16="http://schemas.microsoft.com/office/drawing/2014/main" val="10005"/>
                  </a:ext>
                </a:extLst>
              </a:tr>
            </a:tbl>
          </a:graphicData>
        </a:graphic>
      </p:graphicFrame>
      <p:sp>
        <p:nvSpPr>
          <p:cNvPr id="29" name="AutoShape 29"/>
          <p:cNvSpPr/>
          <p:nvPr/>
        </p:nvSpPr>
        <p:spPr>
          <a:xfrm>
            <a:off x="6096000" y="5911850"/>
            <a:ext cx="5588000" cy="552450"/>
          </a:xfrm>
          <a:prstGeom prst="roundRect">
            <a:avLst>
              <a:gd name="adj" fmla="val 0"/>
            </a:avLst>
          </a:prstGeom>
          <a:solidFill>
            <a:srgbClr val="F8FAFC">
              <a:alpha val="100000"/>
            </a:srgbClr>
          </a:solidFill>
          <a:ln w="12700" cap="flat" cmpd="sng">
            <a:solidFill>
              <a:srgbClr val="E2E8F0">
                <a:alpha val="100000"/>
              </a:srgbClr>
            </a:solidFill>
            <a:prstDash val="solid"/>
            <a:round/>
          </a:ln>
        </p:spPr>
        <p:txBody>
          <a:bodyPr vert="horz" wrap="square" lIns="63500" tIns="63500" rIns="63500" bIns="63500" rtlCol="0" anchor="ctr"/>
          <a:lstStyle/>
          <a:p>
            <a:pPr algn="ctr">
              <a:defRPr/>
            </a:pPr>
            <a:endParaRPr dirty="0">
              <a:latin typeface="BlueakaBeta2GBK" panose="02000700000000000000" pitchFamily="2" charset="-122"/>
              <a:ea typeface="BlueakaBeta2GBK" panose="02000700000000000000" pitchFamily="2" charset="-122"/>
            </a:endParaRPr>
          </a:p>
        </p:txBody>
      </p:sp>
      <p:sp>
        <p:nvSpPr>
          <p:cNvPr id="30" name="AutoShape 30"/>
          <p:cNvSpPr/>
          <p:nvPr/>
        </p:nvSpPr>
        <p:spPr>
          <a:xfrm>
            <a:off x="6286500" y="6102350"/>
            <a:ext cx="152400" cy="152400"/>
          </a:xfrm>
          <a:prstGeom prst="roundRect">
            <a:avLst>
              <a:gd name="adj" fmla="val 0"/>
            </a:avLst>
          </a:prstGeom>
          <a:solidFill>
            <a:srgbClr val="E5E7EB">
              <a:alpha val="100000"/>
            </a:srgbClr>
          </a:solidFill>
          <a:ln w="25400" cap="flat" cmpd="sng">
            <a:noFill/>
            <a:prstDash val="solid"/>
            <a:round/>
          </a:ln>
        </p:spPr>
        <p:txBody>
          <a:bodyPr vert="horz" wrap="square" lIns="63500" tIns="63500" rIns="63500" bIns="63500" rtlCol="0" anchor="ctr"/>
          <a:lstStyle/>
          <a:p>
            <a:pPr algn="ctr">
              <a:defRPr/>
            </a:pPr>
            <a:endParaRPr dirty="0">
              <a:latin typeface="BlueakaBeta2GBK" panose="02000700000000000000" pitchFamily="2" charset="-122"/>
              <a:ea typeface="BlueakaBeta2GBK" panose="02000700000000000000" pitchFamily="2" charset="-122"/>
            </a:endParaRPr>
          </a:p>
        </p:txBody>
      </p:sp>
      <p:sp>
        <p:nvSpPr>
          <p:cNvPr id="31" name="AutoShape 31"/>
          <p:cNvSpPr/>
          <p:nvPr/>
        </p:nvSpPr>
        <p:spPr>
          <a:xfrm>
            <a:off x="6502400" y="6076950"/>
            <a:ext cx="15240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dirty="0" err="1">
                <a:solidFill>
                  <a:srgbClr val="4B5563"/>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灰色：自身节点</a:t>
            </a:r>
            <a:endParaRPr lang="en-US" sz="1100" dirty="0">
              <a:latin typeface="BlueakaBeta2GBK" panose="02000700000000000000" pitchFamily="2" charset="-122"/>
              <a:ea typeface="BlueakaBeta2GBK" panose="02000700000000000000" pitchFamily="2" charset="-122"/>
            </a:endParaRPr>
          </a:p>
        </p:txBody>
      </p:sp>
      <p:sp>
        <p:nvSpPr>
          <p:cNvPr id="32" name="AutoShape 32"/>
          <p:cNvSpPr/>
          <p:nvPr/>
        </p:nvSpPr>
        <p:spPr>
          <a:xfrm>
            <a:off x="7937500" y="6102350"/>
            <a:ext cx="152400" cy="152400"/>
          </a:xfrm>
          <a:prstGeom prst="roundRect">
            <a:avLst>
              <a:gd name="adj" fmla="val 0"/>
            </a:avLst>
          </a:prstGeom>
          <a:solidFill>
            <a:srgbClr val="D1FAE5">
              <a:alpha val="100000"/>
            </a:srgbClr>
          </a:solidFill>
          <a:ln w="25400" cap="flat" cmpd="sng">
            <a:noFill/>
            <a:prstDash val="solid"/>
            <a:round/>
          </a:ln>
        </p:spPr>
        <p:txBody>
          <a:bodyPr vert="horz" wrap="square" lIns="63500" tIns="63500" rIns="63500" bIns="63500" rtlCol="0" anchor="ctr"/>
          <a:lstStyle/>
          <a:p>
            <a:pPr algn="ctr">
              <a:defRPr/>
            </a:pPr>
            <a:endParaRPr dirty="0">
              <a:latin typeface="BlueakaBeta2GBK" panose="02000700000000000000" pitchFamily="2" charset="-122"/>
              <a:ea typeface="BlueakaBeta2GBK" panose="02000700000000000000" pitchFamily="2" charset="-122"/>
            </a:endParaRPr>
          </a:p>
        </p:txBody>
      </p:sp>
      <p:sp>
        <p:nvSpPr>
          <p:cNvPr id="33" name="AutoShape 33"/>
          <p:cNvSpPr/>
          <p:nvPr/>
        </p:nvSpPr>
        <p:spPr>
          <a:xfrm>
            <a:off x="8153400" y="6076950"/>
            <a:ext cx="15240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dirty="0" err="1">
                <a:solidFill>
                  <a:srgbClr val="4B5563"/>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绿色：连通且有权值</a:t>
            </a:r>
            <a:endParaRPr lang="en-US" sz="1100" dirty="0">
              <a:latin typeface="BlueakaBeta2GBK" panose="02000700000000000000" pitchFamily="2" charset="-122"/>
              <a:ea typeface="BlueakaBeta2GBK" panose="02000700000000000000" pitchFamily="2" charset="-122"/>
            </a:endParaRPr>
          </a:p>
        </p:txBody>
      </p:sp>
      <p:sp>
        <p:nvSpPr>
          <p:cNvPr id="34" name="AutoShape 34"/>
          <p:cNvSpPr/>
          <p:nvPr/>
        </p:nvSpPr>
        <p:spPr>
          <a:xfrm>
            <a:off x="9588500" y="6102350"/>
            <a:ext cx="152400" cy="152400"/>
          </a:xfrm>
          <a:prstGeom prst="roundRect">
            <a:avLst>
              <a:gd name="adj" fmla="val 0"/>
            </a:avLst>
          </a:prstGeom>
          <a:solidFill>
            <a:srgbClr val="FEE2E2">
              <a:alpha val="100000"/>
            </a:srgbClr>
          </a:solidFill>
          <a:ln w="25400" cap="flat" cmpd="sng">
            <a:noFill/>
            <a:prstDash val="solid"/>
            <a:round/>
          </a:ln>
        </p:spPr>
        <p:txBody>
          <a:bodyPr vert="horz" wrap="square" lIns="63500" tIns="63500" rIns="63500" bIns="63500" rtlCol="0" anchor="ctr"/>
          <a:lstStyle/>
          <a:p>
            <a:pPr algn="ctr">
              <a:defRPr/>
            </a:pPr>
            <a:endParaRPr dirty="0">
              <a:latin typeface="BlueakaBeta2GBK" panose="02000700000000000000" pitchFamily="2" charset="-122"/>
              <a:ea typeface="BlueakaBeta2GBK" panose="02000700000000000000" pitchFamily="2" charset="-122"/>
            </a:endParaRPr>
          </a:p>
        </p:txBody>
      </p:sp>
      <p:sp>
        <p:nvSpPr>
          <p:cNvPr id="35" name="AutoShape 35"/>
          <p:cNvSpPr/>
          <p:nvPr/>
        </p:nvSpPr>
        <p:spPr>
          <a:xfrm>
            <a:off x="9804400" y="6076950"/>
            <a:ext cx="15240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dirty="0" err="1">
                <a:solidFill>
                  <a:srgbClr val="4B5563"/>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红色：节点间不连通</a:t>
            </a:r>
            <a:endParaRPr lang="en-US" sz="1100" dirty="0">
              <a:latin typeface="BlueakaBeta2GBK" panose="02000700000000000000" pitchFamily="2" charset="-122"/>
              <a:ea typeface="BlueakaBeta2GBK" panose="02000700000000000000" pitchFamily="2"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9525000" y="-1270000"/>
            <a:ext cx="3810000" cy="3810000"/>
          </a:xfrm>
          <a:prstGeom prst="ellipse">
            <a:avLst/>
          </a:prstGeom>
          <a:solidFill>
            <a:srgbClr val="3B82F6">
              <a:alpha val="5000"/>
            </a:srgbClr>
          </a:solidFill>
          <a:ln w="25400" cap="flat" cmpd="sng">
            <a:noFill/>
            <a:prstDash val="solid"/>
            <a:round/>
          </a:ln>
        </p:spPr>
        <p:txBody>
          <a:bodyPr vert="horz" wrap="square" lIns="63500" tIns="63500" rIns="63500" bIns="63500" rtlCol="0" anchor="ctr"/>
          <a:lstStyle/>
          <a:p>
            <a:pPr algn="ctr">
              <a:defRPr/>
            </a:pPr>
            <a:endParaRPr dirty="0">
              <a:latin typeface="BlueakaBeta2GBK" panose="02000700000000000000" pitchFamily="2" charset="-122"/>
              <a:ea typeface="BlueakaBeta2GBK" panose="02000700000000000000" pitchFamily="2" charset="-122"/>
            </a:endParaRPr>
          </a:p>
        </p:txBody>
      </p:sp>
      <p:sp>
        <p:nvSpPr>
          <p:cNvPr id="3" name="AutoShape 3"/>
          <p:cNvSpPr/>
          <p:nvPr/>
        </p:nvSpPr>
        <p:spPr>
          <a:xfrm>
            <a:off x="-635000" y="5080000"/>
            <a:ext cx="2540000" cy="2540000"/>
          </a:xfrm>
          <a:prstGeom prst="ellipse">
            <a:avLst/>
          </a:prstGeom>
          <a:solidFill>
            <a:srgbClr val="10B981">
              <a:alpha val="5000"/>
            </a:srgbClr>
          </a:solidFill>
          <a:ln w="25400" cap="flat" cmpd="sng">
            <a:noFill/>
            <a:prstDash val="solid"/>
            <a:round/>
          </a:ln>
        </p:spPr>
        <p:txBody>
          <a:bodyPr vert="horz" wrap="square" lIns="63500" tIns="63500" rIns="63500" bIns="63500" rtlCol="0" anchor="ctr"/>
          <a:lstStyle/>
          <a:p>
            <a:pPr algn="ctr">
              <a:defRPr/>
            </a:pPr>
            <a:endParaRPr dirty="0">
              <a:latin typeface="BlueakaBeta2GBK" panose="02000700000000000000" pitchFamily="2" charset="-122"/>
              <a:ea typeface="BlueakaBeta2GBK" panose="02000700000000000000" pitchFamily="2" charset="-122"/>
            </a:endParaRPr>
          </a:p>
        </p:txBody>
      </p:sp>
      <p:sp>
        <p:nvSpPr>
          <p:cNvPr id="4" name="AutoShape 4"/>
          <p:cNvSpPr/>
          <p:nvPr/>
        </p:nvSpPr>
        <p:spPr>
          <a:xfrm>
            <a:off x="381000" y="381000"/>
            <a:ext cx="11430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dirty="0" err="1">
                <a:solidFill>
                  <a:srgbClr val="1E3A8A"/>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五、核心算法</a:t>
            </a:r>
            <a:r>
              <a:rPr lang="en-US" sz="2800" b="1" i="0" u="none" strike="noStrike" dirty="0">
                <a:solidFill>
                  <a:srgbClr val="1E3A8A"/>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 - </a:t>
            </a:r>
            <a:r>
              <a:rPr lang="en-US" sz="2800" b="1" i="0" u="none" strike="noStrike" dirty="0" err="1">
                <a:solidFill>
                  <a:srgbClr val="1E3A8A"/>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Dijkstra最短路径</a:t>
            </a:r>
            <a:endParaRPr lang="en-US" sz="1100" dirty="0">
              <a:latin typeface="BlueakaBeta2GBK" panose="02000700000000000000" pitchFamily="2" charset="-122"/>
              <a:ea typeface="BlueakaBeta2GBK" panose="02000700000000000000" pitchFamily="2" charset="-122"/>
            </a:endParaRPr>
          </a:p>
        </p:txBody>
      </p:sp>
      <p:sp>
        <p:nvSpPr>
          <p:cNvPr id="5" name="AutoShape 5"/>
          <p:cNvSpPr/>
          <p:nvPr/>
        </p:nvSpPr>
        <p:spPr>
          <a:xfrm>
            <a:off x="508000" y="1270000"/>
            <a:ext cx="5461000" cy="1206500"/>
          </a:xfrm>
          <a:prstGeom prst="roundRect">
            <a:avLst>
              <a:gd name="adj" fmla="val 0"/>
            </a:avLst>
          </a:prstGeom>
          <a:solidFill>
            <a:srgbClr val="3B82F6">
              <a:alpha val="8000"/>
            </a:srgbClr>
          </a:solidFill>
          <a:ln w="12700" cap="flat" cmpd="sng">
            <a:solidFill>
              <a:srgbClr val="3B82F6">
                <a:alpha val="20000"/>
              </a:srgbClr>
            </a:solidFill>
            <a:prstDash val="solid"/>
            <a:round/>
          </a:ln>
        </p:spPr>
        <p:txBody>
          <a:bodyPr vert="horz" wrap="square" lIns="63500" tIns="63500" rIns="63500" bIns="63500" rtlCol="0" anchor="ctr"/>
          <a:lstStyle/>
          <a:p>
            <a:pPr algn="ctr">
              <a:defRPr/>
            </a:pPr>
            <a:endParaRPr dirty="0">
              <a:latin typeface="BlueakaBeta2GBK" panose="02000700000000000000" pitchFamily="2" charset="-122"/>
              <a:ea typeface="BlueakaBeta2GBK" panose="02000700000000000000" pitchFamily="2" charset="-122"/>
            </a:endParaRPr>
          </a:p>
        </p:txBody>
      </p:sp>
      <p:pic>
        <p:nvPicPr>
          <p:cNvPr id="6" name="Picture 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98500" y="1460500"/>
            <a:ext cx="406400" cy="406400"/>
          </a:xfrm>
          <a:prstGeom prst="rect">
            <a:avLst/>
          </a:prstGeom>
        </p:spPr>
      </p:pic>
      <p:sp>
        <p:nvSpPr>
          <p:cNvPr id="7" name="AutoShape 7"/>
          <p:cNvSpPr/>
          <p:nvPr/>
        </p:nvSpPr>
        <p:spPr>
          <a:xfrm>
            <a:off x="1206500" y="1422400"/>
            <a:ext cx="4572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dirty="0">
                <a:solidFill>
                  <a:srgbClr val="1E3A8A"/>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01. </a:t>
            </a:r>
            <a:r>
              <a:rPr lang="en-US" sz="1600" b="1" i="0" u="none" strike="noStrike" dirty="0" err="1">
                <a:solidFill>
                  <a:srgbClr val="1E3A8A"/>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初始化状态</a:t>
            </a:r>
            <a:r>
              <a:rPr lang="en-US" sz="1600" b="1" i="0" u="none" strike="noStrike" dirty="0">
                <a:solidFill>
                  <a:srgbClr val="1E3A8A"/>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 (Initialization)</a:t>
            </a:r>
            <a:endParaRPr lang="en-US" sz="1100" dirty="0">
              <a:latin typeface="BlueakaBeta2GBK" panose="02000700000000000000" pitchFamily="2" charset="-122"/>
              <a:ea typeface="BlueakaBeta2GBK" panose="02000700000000000000" pitchFamily="2" charset="-122"/>
            </a:endParaRPr>
          </a:p>
        </p:txBody>
      </p:sp>
      <p:sp>
        <p:nvSpPr>
          <p:cNvPr id="8" name="AutoShape 8"/>
          <p:cNvSpPr/>
          <p:nvPr/>
        </p:nvSpPr>
        <p:spPr>
          <a:xfrm>
            <a:off x="698500" y="1841500"/>
            <a:ext cx="4953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300" b="0" i="0" u="none" strike="noStrike" dirty="0" err="1">
                <a:solidFill>
                  <a:srgbClr val="4B5563"/>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初始化距离数组</a:t>
            </a:r>
            <a:r>
              <a:rPr lang="en-US" sz="1300" b="0" i="0" u="none" strike="noStrike" dirty="0">
                <a:solidFill>
                  <a:srgbClr val="4B5563"/>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 </a:t>
            </a:r>
            <a:r>
              <a:rPr lang="en-US" sz="1300" b="0" i="0" u="none" strike="noStrike" dirty="0" err="1">
                <a:solidFill>
                  <a:srgbClr val="4B5563"/>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dist</a:t>
            </a:r>
            <a:r>
              <a:rPr lang="en-US" sz="1300" b="0" i="0" u="none" strike="noStrike" dirty="0">
                <a:solidFill>
                  <a:srgbClr val="4B5563"/>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 为 ∞（用 -1 </a:t>
            </a:r>
            <a:r>
              <a:rPr lang="en-US" sz="1300" b="0" i="0" u="none" strike="noStrike" dirty="0" err="1">
                <a:solidFill>
                  <a:srgbClr val="4B5563"/>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表示</a:t>
            </a:r>
            <a:r>
              <a:rPr lang="en-US" sz="1300" b="0" i="0" u="none" strike="noStrike" dirty="0">
                <a:solidFill>
                  <a:srgbClr val="4B5563"/>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a:t>
            </a:r>
            <a:r>
              <a:rPr lang="en-US" sz="1300" b="0" i="0" u="none" strike="noStrike" dirty="0" err="1">
                <a:solidFill>
                  <a:srgbClr val="4B5563"/>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起点</a:t>
            </a:r>
            <a:r>
              <a:rPr lang="en-US" sz="1300" b="0" i="0" u="none" strike="noStrike" dirty="0">
                <a:solidFill>
                  <a:srgbClr val="4B5563"/>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 </a:t>
            </a:r>
            <a:r>
              <a:rPr lang="en-US" sz="1300" b="0" i="0" u="none" strike="noStrike" dirty="0" err="1">
                <a:solidFill>
                  <a:srgbClr val="4B5563"/>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dist</a:t>
            </a:r>
            <a:r>
              <a:rPr lang="en-US" sz="1300" b="0" i="0" u="none" strike="noStrike" dirty="0">
                <a:solidFill>
                  <a:srgbClr val="4B5563"/>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a:t>
            </a:r>
            <a:r>
              <a:rPr lang="en-US" sz="1300" b="0" i="0" u="none" strike="noStrike" dirty="0" err="1">
                <a:solidFill>
                  <a:srgbClr val="4B5563"/>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src</a:t>
            </a:r>
            <a:r>
              <a:rPr lang="en-US" sz="1300" b="0" i="0" u="none" strike="noStrike" dirty="0">
                <a:solidFill>
                  <a:srgbClr val="4B5563"/>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 = 0；访问数组 visited[] </a:t>
            </a:r>
            <a:r>
              <a:rPr lang="en-US" sz="1300" b="0" i="0" u="none" strike="noStrike" dirty="0" err="1">
                <a:solidFill>
                  <a:srgbClr val="4B5563"/>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全置</a:t>
            </a:r>
            <a:r>
              <a:rPr lang="en-US" sz="1300" b="0" i="0" u="none" strike="noStrike" dirty="0">
                <a:solidFill>
                  <a:srgbClr val="4B5563"/>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 0（未访问）；</a:t>
            </a:r>
            <a:r>
              <a:rPr lang="en-US" sz="1300" b="0" i="0" u="none" strike="noStrike" dirty="0" err="1">
                <a:solidFill>
                  <a:srgbClr val="4B5563"/>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前驱数组</a:t>
            </a:r>
            <a:r>
              <a:rPr lang="en-US" sz="1300" b="0" i="0" u="none" strike="noStrike" dirty="0">
                <a:solidFill>
                  <a:srgbClr val="4B5563"/>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 </a:t>
            </a:r>
            <a:r>
              <a:rPr lang="en-US" sz="1300" b="0" i="0" u="none" strike="noStrike" dirty="0" err="1">
                <a:solidFill>
                  <a:srgbClr val="4B5563"/>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prev</a:t>
            </a:r>
            <a:r>
              <a:rPr lang="en-US" sz="1300" b="0" i="0" u="none" strike="noStrike" dirty="0">
                <a:solidFill>
                  <a:srgbClr val="4B5563"/>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 </a:t>
            </a:r>
            <a:r>
              <a:rPr lang="en-US" sz="1300" b="0" i="0" u="none" strike="noStrike" dirty="0" err="1">
                <a:solidFill>
                  <a:srgbClr val="4B5563"/>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全置</a:t>
            </a:r>
            <a:r>
              <a:rPr lang="en-US" sz="1300" b="0" i="0" u="none" strike="noStrike" dirty="0">
                <a:solidFill>
                  <a:srgbClr val="4B5563"/>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 -1。</a:t>
            </a:r>
            <a:endParaRPr lang="en-US" sz="1100" dirty="0">
              <a:latin typeface="BlueakaBeta2GBK" panose="02000700000000000000" pitchFamily="2" charset="-122"/>
              <a:ea typeface="BlueakaBeta2GBK" panose="02000700000000000000" pitchFamily="2" charset="-122"/>
            </a:endParaRPr>
          </a:p>
        </p:txBody>
      </p:sp>
      <p:sp>
        <p:nvSpPr>
          <p:cNvPr id="9" name="AutoShape 9"/>
          <p:cNvSpPr/>
          <p:nvPr/>
        </p:nvSpPr>
        <p:spPr>
          <a:xfrm>
            <a:off x="508000" y="2667000"/>
            <a:ext cx="5461000" cy="1460500"/>
          </a:xfrm>
          <a:prstGeom prst="roundRect">
            <a:avLst>
              <a:gd name="adj" fmla="val 0"/>
            </a:avLst>
          </a:prstGeom>
          <a:solidFill>
            <a:srgbClr val="10B981">
              <a:alpha val="8000"/>
            </a:srgbClr>
          </a:solidFill>
          <a:ln w="12700" cap="flat" cmpd="sng">
            <a:solidFill>
              <a:srgbClr val="10B981">
                <a:alpha val="30000"/>
              </a:srgbClr>
            </a:solidFill>
            <a:prstDash val="solid"/>
            <a:round/>
          </a:ln>
        </p:spPr>
        <p:txBody>
          <a:bodyPr vert="horz" wrap="square" lIns="63500" tIns="63500" rIns="63500" bIns="63500" rtlCol="0" anchor="ctr"/>
          <a:lstStyle/>
          <a:p>
            <a:pPr algn="ctr">
              <a:defRPr/>
            </a:pPr>
            <a:endParaRPr dirty="0">
              <a:latin typeface="BlueakaBeta2GBK" panose="02000700000000000000" pitchFamily="2" charset="-122"/>
              <a:ea typeface="BlueakaBeta2GBK" panose="02000700000000000000" pitchFamily="2" charset="-122"/>
            </a:endParaRPr>
          </a:p>
        </p:txBody>
      </p:sp>
      <p:pic>
        <p:nvPicPr>
          <p:cNvPr id="10" name="Picture 10"/>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98500" y="2857500"/>
            <a:ext cx="406400" cy="406400"/>
          </a:xfrm>
          <a:prstGeom prst="rect">
            <a:avLst/>
          </a:prstGeom>
        </p:spPr>
      </p:pic>
      <p:sp>
        <p:nvSpPr>
          <p:cNvPr id="11" name="AutoShape 11"/>
          <p:cNvSpPr/>
          <p:nvPr/>
        </p:nvSpPr>
        <p:spPr>
          <a:xfrm>
            <a:off x="1206500" y="2819400"/>
            <a:ext cx="4572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dirty="0">
                <a:solidFill>
                  <a:srgbClr val="065F46"/>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02. </a:t>
            </a:r>
            <a:r>
              <a:rPr lang="en-US" sz="1600" b="1" i="0" u="none" strike="noStrike" dirty="0" err="1">
                <a:solidFill>
                  <a:srgbClr val="065F46"/>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贪心迭代与松弛</a:t>
            </a:r>
            <a:r>
              <a:rPr lang="en-US" sz="1600" b="1" i="0" u="none" strike="noStrike" dirty="0">
                <a:solidFill>
                  <a:srgbClr val="065F46"/>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 (Core Loop)</a:t>
            </a:r>
            <a:endParaRPr lang="en-US" sz="1100" dirty="0">
              <a:latin typeface="BlueakaBeta2GBK" panose="02000700000000000000" pitchFamily="2" charset="-122"/>
              <a:ea typeface="BlueakaBeta2GBK" panose="02000700000000000000" pitchFamily="2" charset="-122"/>
            </a:endParaRPr>
          </a:p>
        </p:txBody>
      </p:sp>
      <p:sp>
        <p:nvSpPr>
          <p:cNvPr id="12" name="AutoShape 12"/>
          <p:cNvSpPr/>
          <p:nvPr/>
        </p:nvSpPr>
        <p:spPr>
          <a:xfrm>
            <a:off x="698500" y="3238500"/>
            <a:ext cx="4953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300" b="0" i="0" u="none" strike="noStrike" dirty="0" err="1">
                <a:solidFill>
                  <a:srgbClr val="4B5563"/>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循环</a:t>
            </a:r>
            <a:r>
              <a:rPr lang="en-US" sz="1300" b="0" i="0" u="none" strike="noStrike" dirty="0">
                <a:solidFill>
                  <a:srgbClr val="4B5563"/>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 V </a:t>
            </a:r>
            <a:r>
              <a:rPr lang="en-US" sz="1300" b="0" i="0" u="none" strike="noStrike" dirty="0" err="1">
                <a:solidFill>
                  <a:srgbClr val="4B5563"/>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次：每次选出未访问且</a:t>
            </a:r>
            <a:r>
              <a:rPr lang="en-US" sz="1300" b="0" i="0" u="none" strike="noStrike" dirty="0">
                <a:solidFill>
                  <a:srgbClr val="4B5563"/>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 </a:t>
            </a:r>
            <a:r>
              <a:rPr lang="en-US" sz="1300" b="0" i="0" u="none" strike="noStrike" dirty="0" err="1">
                <a:solidFill>
                  <a:srgbClr val="4B5563"/>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dist</a:t>
            </a:r>
            <a:r>
              <a:rPr lang="en-US" sz="1300" b="0" i="0" u="none" strike="noStrike" dirty="0">
                <a:solidFill>
                  <a:srgbClr val="4B5563"/>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 </a:t>
            </a:r>
            <a:r>
              <a:rPr lang="en-US" sz="1300" b="0" i="0" u="none" strike="noStrike" dirty="0" err="1">
                <a:solidFill>
                  <a:srgbClr val="4B5563"/>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最小的顶点</a:t>
            </a:r>
            <a:r>
              <a:rPr lang="en-US" sz="1300" b="0" i="0" u="none" strike="noStrike" dirty="0">
                <a:solidFill>
                  <a:srgbClr val="4B5563"/>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 </a:t>
            </a:r>
            <a:r>
              <a:rPr lang="en-US" sz="1300" b="0" i="0" u="none" strike="noStrike" dirty="0" err="1">
                <a:solidFill>
                  <a:srgbClr val="4B5563"/>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u，标记为已确定。对</a:t>
            </a:r>
            <a:r>
              <a:rPr lang="en-US" sz="1300" b="0" i="0" u="none" strike="noStrike" dirty="0">
                <a:solidFill>
                  <a:srgbClr val="4B5563"/>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 u </a:t>
            </a:r>
            <a:r>
              <a:rPr lang="en-US" sz="1300" b="0" i="0" u="none" strike="noStrike" dirty="0" err="1">
                <a:solidFill>
                  <a:srgbClr val="4B5563"/>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的邻居</a:t>
            </a:r>
            <a:r>
              <a:rPr lang="en-US" sz="1300" b="0" i="0" u="none" strike="noStrike" dirty="0">
                <a:solidFill>
                  <a:srgbClr val="4B5563"/>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 v </a:t>
            </a:r>
            <a:r>
              <a:rPr lang="en-US" sz="1300" b="0" i="0" u="none" strike="noStrike" dirty="0" err="1">
                <a:solidFill>
                  <a:srgbClr val="4B5563"/>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执行</a:t>
            </a:r>
            <a:r>
              <a:rPr lang="en-US" sz="1300" b="1" i="0" u="none" strike="noStrike" dirty="0" err="1">
                <a:solidFill>
                  <a:srgbClr val="10B981"/>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松弛操作</a:t>
            </a:r>
            <a:r>
              <a:rPr lang="en-US" sz="1300" b="0" i="0" u="none" strike="noStrike" dirty="0" err="1">
                <a:solidFill>
                  <a:srgbClr val="4B5563"/>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：若</a:t>
            </a:r>
            <a:r>
              <a:rPr lang="en-US" sz="1300" b="0" i="0" u="none" strike="noStrike" dirty="0">
                <a:solidFill>
                  <a:srgbClr val="4B5563"/>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 </a:t>
            </a:r>
            <a:r>
              <a:rPr lang="en-US" sz="1300" b="0" i="0" u="none" strike="noStrike" dirty="0" err="1">
                <a:solidFill>
                  <a:srgbClr val="4B5563"/>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dist</a:t>
            </a:r>
            <a:r>
              <a:rPr lang="en-US" sz="1300" b="0" i="0" u="none" strike="noStrike" dirty="0">
                <a:solidFill>
                  <a:srgbClr val="4B5563"/>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[v] &gt; </a:t>
            </a:r>
            <a:r>
              <a:rPr lang="en-US" sz="1300" b="0" i="0" u="none" strike="noStrike" dirty="0" err="1">
                <a:solidFill>
                  <a:srgbClr val="4B5563"/>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dist</a:t>
            </a:r>
            <a:r>
              <a:rPr lang="en-US" sz="1300" b="0" i="0" u="none" strike="noStrike" dirty="0">
                <a:solidFill>
                  <a:srgbClr val="4B5563"/>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[u] + w(</a:t>
            </a:r>
            <a:r>
              <a:rPr lang="en-US" sz="1300" b="0" i="0" u="none" strike="noStrike" dirty="0" err="1">
                <a:solidFill>
                  <a:srgbClr val="4B5563"/>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u,v</a:t>
            </a:r>
            <a:r>
              <a:rPr lang="en-US" sz="1300" b="0" i="0" u="none" strike="noStrike" dirty="0">
                <a:solidFill>
                  <a:srgbClr val="4B5563"/>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a:t>
            </a:r>
            <a:r>
              <a:rPr lang="en-US" sz="1300" b="0" i="0" u="none" strike="noStrike" dirty="0" err="1">
                <a:solidFill>
                  <a:srgbClr val="4B5563"/>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则更新</a:t>
            </a:r>
            <a:r>
              <a:rPr lang="en-US" sz="1300" b="0" i="0" u="none" strike="noStrike" dirty="0">
                <a:solidFill>
                  <a:srgbClr val="4B5563"/>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 </a:t>
            </a:r>
            <a:r>
              <a:rPr lang="en-US" sz="1300" b="0" i="0" u="none" strike="noStrike" dirty="0" err="1">
                <a:solidFill>
                  <a:srgbClr val="4B5563"/>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dist</a:t>
            </a:r>
            <a:r>
              <a:rPr lang="en-US" sz="1300" b="0" i="0" u="none" strike="noStrike" dirty="0">
                <a:solidFill>
                  <a:srgbClr val="4B5563"/>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[v] </a:t>
            </a:r>
            <a:r>
              <a:rPr lang="en-US" sz="1300" b="0" i="0" u="none" strike="noStrike" dirty="0" err="1">
                <a:solidFill>
                  <a:srgbClr val="4B5563"/>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并记录</a:t>
            </a:r>
            <a:r>
              <a:rPr lang="en-US" sz="1300" b="0" i="0" u="none" strike="noStrike" dirty="0">
                <a:solidFill>
                  <a:srgbClr val="4B5563"/>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 </a:t>
            </a:r>
            <a:r>
              <a:rPr lang="en-US" sz="1300" b="0" i="0" u="none" strike="noStrike" dirty="0" err="1">
                <a:solidFill>
                  <a:srgbClr val="4B5563"/>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prev</a:t>
            </a:r>
            <a:r>
              <a:rPr lang="en-US" sz="1300" b="0" i="0" u="none" strike="noStrike" dirty="0">
                <a:solidFill>
                  <a:srgbClr val="4B5563"/>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[v] = u。</a:t>
            </a:r>
            <a:endParaRPr lang="en-US" sz="1100" dirty="0">
              <a:latin typeface="BlueakaBeta2GBK" panose="02000700000000000000" pitchFamily="2" charset="-122"/>
              <a:ea typeface="BlueakaBeta2GBK" panose="02000700000000000000" pitchFamily="2" charset="-122"/>
            </a:endParaRPr>
          </a:p>
        </p:txBody>
      </p:sp>
      <p:sp>
        <p:nvSpPr>
          <p:cNvPr id="13" name="AutoShape 13"/>
          <p:cNvSpPr/>
          <p:nvPr/>
        </p:nvSpPr>
        <p:spPr>
          <a:xfrm>
            <a:off x="508000" y="4254500"/>
            <a:ext cx="5461000" cy="1206500"/>
          </a:xfrm>
          <a:prstGeom prst="roundRect">
            <a:avLst>
              <a:gd name="adj" fmla="val 0"/>
            </a:avLst>
          </a:prstGeom>
          <a:solidFill>
            <a:srgbClr val="8B5CF6">
              <a:alpha val="8000"/>
            </a:srgbClr>
          </a:solidFill>
          <a:ln w="12700" cap="flat" cmpd="sng">
            <a:solidFill>
              <a:srgbClr val="8B5CF6">
                <a:alpha val="20000"/>
              </a:srgbClr>
            </a:solidFill>
            <a:prstDash val="solid"/>
            <a:round/>
          </a:ln>
        </p:spPr>
        <p:txBody>
          <a:bodyPr vert="horz" wrap="square" lIns="63500" tIns="63500" rIns="63500" bIns="63500" rtlCol="0" anchor="ctr"/>
          <a:lstStyle/>
          <a:p>
            <a:pPr algn="ctr">
              <a:defRPr/>
            </a:pPr>
            <a:endParaRPr dirty="0">
              <a:latin typeface="BlueakaBeta2GBK" panose="02000700000000000000" pitchFamily="2" charset="-122"/>
              <a:ea typeface="BlueakaBeta2GBK" panose="02000700000000000000" pitchFamily="2" charset="-122"/>
            </a:endParaRPr>
          </a:p>
        </p:txBody>
      </p:sp>
      <p:pic>
        <p:nvPicPr>
          <p:cNvPr id="14" name="Picture 1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98500" y="4445000"/>
            <a:ext cx="406400" cy="406400"/>
          </a:xfrm>
          <a:prstGeom prst="rect">
            <a:avLst/>
          </a:prstGeom>
        </p:spPr>
      </p:pic>
      <p:sp>
        <p:nvSpPr>
          <p:cNvPr id="15" name="AutoShape 15"/>
          <p:cNvSpPr/>
          <p:nvPr/>
        </p:nvSpPr>
        <p:spPr>
          <a:xfrm>
            <a:off x="1206500" y="4406900"/>
            <a:ext cx="4572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dirty="0">
                <a:solidFill>
                  <a:srgbClr val="4C1D95"/>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03. </a:t>
            </a:r>
            <a:r>
              <a:rPr lang="en-US" sz="1600" b="1" i="0" u="none" strike="noStrike" dirty="0" err="1">
                <a:solidFill>
                  <a:srgbClr val="4C1D95"/>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结果输出</a:t>
            </a:r>
            <a:r>
              <a:rPr lang="en-US" sz="1600" b="1" i="0" u="none" strike="noStrike" dirty="0">
                <a:solidFill>
                  <a:srgbClr val="4C1D95"/>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 (Result)</a:t>
            </a:r>
            <a:endParaRPr lang="en-US" sz="1100" dirty="0">
              <a:latin typeface="BlueakaBeta2GBK" panose="02000700000000000000" pitchFamily="2" charset="-122"/>
              <a:ea typeface="BlueakaBeta2GBK" panose="02000700000000000000" pitchFamily="2" charset="-122"/>
            </a:endParaRPr>
          </a:p>
        </p:txBody>
      </p:sp>
      <p:sp>
        <p:nvSpPr>
          <p:cNvPr id="16" name="AutoShape 16"/>
          <p:cNvSpPr/>
          <p:nvPr/>
        </p:nvSpPr>
        <p:spPr>
          <a:xfrm>
            <a:off x="698500" y="4826000"/>
            <a:ext cx="4953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300" b="0" i="0" u="none" strike="noStrike" dirty="0" err="1">
                <a:solidFill>
                  <a:srgbClr val="4B5563"/>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dist</a:t>
            </a:r>
            <a:r>
              <a:rPr lang="en-US" sz="1300" b="0" i="0" u="none" strike="noStrike" dirty="0">
                <a:solidFill>
                  <a:srgbClr val="4B5563"/>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 </a:t>
            </a:r>
            <a:r>
              <a:rPr lang="en-US" sz="1300" b="0" i="0" u="none" strike="noStrike" dirty="0" err="1">
                <a:solidFill>
                  <a:srgbClr val="4B5563"/>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数组存储从起点到所有节点的最短距离；prev</a:t>
            </a:r>
            <a:r>
              <a:rPr lang="en-US" sz="1300" b="0" i="0" u="none" strike="noStrike" dirty="0">
                <a:solidFill>
                  <a:srgbClr val="4B5563"/>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 </a:t>
            </a:r>
            <a:r>
              <a:rPr lang="en-US" sz="1300" b="0" i="0" u="none" strike="noStrike" dirty="0" err="1">
                <a:solidFill>
                  <a:srgbClr val="4B5563"/>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数组记录路径前驱节点，用于还原具体路径。所有节点状态确定，算法终止</a:t>
            </a:r>
            <a:r>
              <a:rPr lang="en-US" sz="1300" b="0" i="0" u="none" strike="noStrike" dirty="0">
                <a:solidFill>
                  <a:srgbClr val="4B5563"/>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a:t>
            </a:r>
            <a:endParaRPr lang="en-US" sz="1100" dirty="0">
              <a:latin typeface="BlueakaBeta2GBK" panose="02000700000000000000" pitchFamily="2" charset="-122"/>
              <a:ea typeface="BlueakaBeta2GBK" panose="02000700000000000000" pitchFamily="2" charset="-122"/>
            </a:endParaRPr>
          </a:p>
        </p:txBody>
      </p:sp>
      <p:sp>
        <p:nvSpPr>
          <p:cNvPr id="17" name="AutoShape 17"/>
          <p:cNvSpPr/>
          <p:nvPr/>
        </p:nvSpPr>
        <p:spPr>
          <a:xfrm>
            <a:off x="508000" y="5651500"/>
            <a:ext cx="5461000" cy="825500"/>
          </a:xfrm>
          <a:prstGeom prst="roundRect">
            <a:avLst>
              <a:gd name="adj" fmla="val 0"/>
            </a:avLst>
          </a:prstGeom>
          <a:solidFill>
            <a:srgbClr val="F59E0B">
              <a:alpha val="8000"/>
            </a:srgbClr>
          </a:solidFill>
          <a:ln w="12700" cap="flat" cmpd="sng">
            <a:solidFill>
              <a:srgbClr val="F59E0B">
                <a:alpha val="30000"/>
              </a:srgbClr>
            </a:solidFill>
            <a:prstDash val="solid"/>
            <a:round/>
          </a:ln>
        </p:spPr>
        <p:txBody>
          <a:bodyPr vert="horz" wrap="square" lIns="63500" tIns="63500" rIns="63500" bIns="63500" rtlCol="0" anchor="ctr"/>
          <a:lstStyle/>
          <a:p>
            <a:pPr algn="ctr">
              <a:defRPr/>
            </a:pPr>
            <a:endParaRPr dirty="0">
              <a:latin typeface="BlueakaBeta2GBK" panose="02000700000000000000" pitchFamily="2" charset="-122"/>
              <a:ea typeface="BlueakaBeta2GBK" panose="02000700000000000000" pitchFamily="2" charset="-122"/>
            </a:endParaRPr>
          </a:p>
        </p:txBody>
      </p:sp>
      <p:pic>
        <p:nvPicPr>
          <p:cNvPr id="18" name="Picture 18"/>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98500" y="5905500"/>
            <a:ext cx="304800" cy="304800"/>
          </a:xfrm>
          <a:prstGeom prst="rect">
            <a:avLst/>
          </a:prstGeom>
        </p:spPr>
      </p:pic>
      <p:sp>
        <p:nvSpPr>
          <p:cNvPr id="19" name="AutoShape 19"/>
          <p:cNvSpPr/>
          <p:nvPr/>
        </p:nvSpPr>
        <p:spPr>
          <a:xfrm>
            <a:off x="1079500" y="5778500"/>
            <a:ext cx="48260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1" i="0" u="none" strike="noStrike" dirty="0" err="1">
                <a:solidFill>
                  <a:srgbClr val="B45309"/>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时间复杂度：</a:t>
            </a:r>
            <a:r>
              <a:rPr lang="en-US" sz="1400" b="0" i="0" u="none" strike="noStrike" dirty="0" err="1">
                <a:solidFill>
                  <a:srgbClr val="374151"/>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朴素版</a:t>
            </a:r>
            <a:r>
              <a:rPr lang="en-US" sz="1400" b="0" i="0" u="none" strike="noStrike" dirty="0">
                <a:solidFill>
                  <a:srgbClr val="374151"/>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 O(V²) | </a:t>
            </a:r>
            <a:r>
              <a:rPr lang="en-US" sz="1400" b="0" i="0" u="none" strike="noStrike" dirty="0" err="1">
                <a:solidFill>
                  <a:srgbClr val="374151"/>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优先队列优化版</a:t>
            </a:r>
            <a:r>
              <a:rPr lang="en-US" sz="1400" b="0" i="0" u="none" strike="noStrike" dirty="0">
                <a:solidFill>
                  <a:srgbClr val="374151"/>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 O((V+E)</a:t>
            </a:r>
            <a:r>
              <a:rPr lang="en-US" sz="1400" b="0" i="0" u="none" strike="noStrike" dirty="0" err="1">
                <a:solidFill>
                  <a:srgbClr val="374151"/>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logV</a:t>
            </a:r>
            <a:r>
              <a:rPr lang="en-US" sz="1400" b="0" i="0" u="none" strike="noStrike" dirty="0">
                <a:solidFill>
                  <a:srgbClr val="374151"/>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a:t>
            </a:r>
            <a:br>
              <a:rPr lang="en-US" sz="1600" b="0" i="0" u="none" strike="noStrike" dirty="0">
                <a:solidFill>
                  <a:srgbClr val="1F2329"/>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br>
            <a:r>
              <a:rPr lang="en-US" sz="1200" b="0" i="0" u="none" strike="noStrike" dirty="0" err="1">
                <a:solidFill>
                  <a:srgbClr val="6B7280"/>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注：适用于边权非负的单源最短路径求解</a:t>
            </a:r>
            <a:r>
              <a:rPr lang="en-US" sz="1200" b="0" i="0" u="none" strike="noStrike" dirty="0">
                <a:solidFill>
                  <a:srgbClr val="6B7280"/>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a:t>
            </a:r>
            <a:endParaRPr lang="en-US" sz="1100" dirty="0">
              <a:latin typeface="BlueakaBeta2GBK" panose="02000700000000000000" pitchFamily="2" charset="-122"/>
              <a:ea typeface="BlueakaBeta2GBK" panose="02000700000000000000" pitchFamily="2" charset="-122"/>
            </a:endParaRPr>
          </a:p>
        </p:txBody>
      </p:sp>
      <p:sp>
        <p:nvSpPr>
          <p:cNvPr id="20" name="AutoShape 20"/>
          <p:cNvSpPr/>
          <p:nvPr/>
        </p:nvSpPr>
        <p:spPr>
          <a:xfrm>
            <a:off x="6223000" y="1270000"/>
            <a:ext cx="5461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dirty="0" err="1">
                <a:solidFill>
                  <a:srgbClr val="1E3A8A"/>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路径回溯：从终点还原最短路径</a:t>
            </a:r>
            <a:endParaRPr lang="en-US" sz="1100" dirty="0">
              <a:latin typeface="BlueakaBeta2GBK" panose="02000700000000000000" pitchFamily="2" charset="-122"/>
              <a:ea typeface="BlueakaBeta2GBK" panose="02000700000000000000" pitchFamily="2" charset="-122"/>
            </a:endParaRPr>
          </a:p>
        </p:txBody>
      </p:sp>
      <p:sp>
        <p:nvSpPr>
          <p:cNvPr id="21" name="AutoShape 21"/>
          <p:cNvSpPr/>
          <p:nvPr/>
        </p:nvSpPr>
        <p:spPr>
          <a:xfrm>
            <a:off x="6223000" y="2032000"/>
            <a:ext cx="5461000" cy="1206500"/>
          </a:xfrm>
          <a:prstGeom prst="roundRect">
            <a:avLst>
              <a:gd name="adj" fmla="val 0"/>
            </a:avLst>
          </a:prstGeom>
          <a:solidFill>
            <a:srgbClr val="F3F4F6">
              <a:alpha val="100000"/>
            </a:srgbClr>
          </a:solidFill>
          <a:ln w="25400" cap="flat" cmpd="sng">
            <a:noFill/>
            <a:prstDash val="solid"/>
            <a:round/>
          </a:ln>
        </p:spPr>
        <p:txBody>
          <a:bodyPr vert="horz" wrap="square" lIns="63500" tIns="63500" rIns="63500" bIns="63500" rtlCol="0" anchor="ctr"/>
          <a:lstStyle/>
          <a:p>
            <a:pPr algn="ctr">
              <a:defRPr/>
            </a:pPr>
            <a:endParaRPr dirty="0">
              <a:latin typeface="BlueakaBeta2GBK" panose="02000700000000000000" pitchFamily="2" charset="-122"/>
              <a:ea typeface="BlueakaBeta2GBK" panose="02000700000000000000" pitchFamily="2" charset="-122"/>
            </a:endParaRPr>
          </a:p>
        </p:txBody>
      </p:sp>
      <p:pic>
        <p:nvPicPr>
          <p:cNvPr id="22" name="Picture 2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413500" y="2222500"/>
            <a:ext cx="355600" cy="355600"/>
          </a:xfrm>
          <a:prstGeom prst="rect">
            <a:avLst/>
          </a:prstGeom>
        </p:spPr>
      </p:pic>
      <p:sp>
        <p:nvSpPr>
          <p:cNvPr id="23" name="AutoShape 23"/>
          <p:cNvSpPr/>
          <p:nvPr/>
        </p:nvSpPr>
        <p:spPr>
          <a:xfrm>
            <a:off x="6858000" y="2222500"/>
            <a:ext cx="46990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dirty="0">
                <a:solidFill>
                  <a:srgbClr val="1F2937"/>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01. </a:t>
            </a:r>
            <a:r>
              <a:rPr lang="en-US" sz="1600" b="1" i="0" u="none" strike="noStrike" dirty="0" err="1">
                <a:solidFill>
                  <a:srgbClr val="1F2937"/>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逆序追踪</a:t>
            </a:r>
            <a:r>
              <a:rPr lang="en-US" sz="1600" b="1" i="0" u="none" strike="noStrike" dirty="0">
                <a:solidFill>
                  <a:srgbClr val="1F2937"/>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 (Backward Trace)</a:t>
            </a:r>
            <a:endParaRPr lang="en-US" sz="1100" dirty="0">
              <a:latin typeface="BlueakaBeta2GBK" panose="02000700000000000000" pitchFamily="2" charset="-122"/>
              <a:ea typeface="BlueakaBeta2GBK" panose="02000700000000000000" pitchFamily="2" charset="-122"/>
            </a:endParaRPr>
          </a:p>
        </p:txBody>
      </p:sp>
      <p:sp>
        <p:nvSpPr>
          <p:cNvPr id="24" name="AutoShape 24"/>
          <p:cNvSpPr/>
          <p:nvPr/>
        </p:nvSpPr>
        <p:spPr>
          <a:xfrm>
            <a:off x="6413500" y="2641600"/>
            <a:ext cx="50165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300" b="0" i="0" u="none" strike="noStrike" dirty="0" err="1">
                <a:solidFill>
                  <a:srgbClr val="4B5563"/>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从终点</a:t>
            </a:r>
            <a:r>
              <a:rPr lang="en-US" sz="1300" b="0" i="0" u="none" strike="noStrike" dirty="0">
                <a:solidFill>
                  <a:srgbClr val="4B5563"/>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 </a:t>
            </a:r>
            <a:r>
              <a:rPr lang="en-US" sz="1300" b="0" i="0" u="none" strike="noStrike" dirty="0" err="1">
                <a:solidFill>
                  <a:srgbClr val="4B5563"/>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dst</a:t>
            </a:r>
            <a:r>
              <a:rPr lang="en-US" sz="1300" b="0" i="0" u="none" strike="noStrike" dirty="0">
                <a:solidFill>
                  <a:srgbClr val="4B5563"/>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 </a:t>
            </a:r>
            <a:r>
              <a:rPr lang="en-US" sz="1300" b="0" i="0" u="none" strike="noStrike" dirty="0" err="1">
                <a:solidFill>
                  <a:srgbClr val="4B5563"/>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出发，利用</a:t>
            </a:r>
            <a:r>
              <a:rPr lang="en-US" sz="1300" b="0" i="0" u="none" strike="noStrike" dirty="0">
                <a:solidFill>
                  <a:srgbClr val="4B5563"/>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 </a:t>
            </a:r>
            <a:r>
              <a:rPr lang="en-US" sz="1300" b="0" i="0" u="none" strike="noStrike" dirty="0" err="1">
                <a:solidFill>
                  <a:srgbClr val="4B5563"/>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prev</a:t>
            </a:r>
            <a:r>
              <a:rPr lang="en-US" sz="1300" b="0" i="0" u="none" strike="noStrike" dirty="0">
                <a:solidFill>
                  <a:srgbClr val="4B5563"/>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 </a:t>
            </a:r>
            <a:r>
              <a:rPr lang="en-US" sz="1300" b="0" i="0" u="none" strike="noStrike" dirty="0" err="1">
                <a:solidFill>
                  <a:srgbClr val="4B5563"/>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数组不断向前查找前驱节点，直到找到起点</a:t>
            </a:r>
            <a:r>
              <a:rPr lang="en-US" sz="1300" b="0" i="0" u="none" strike="noStrike" dirty="0">
                <a:solidFill>
                  <a:srgbClr val="4B5563"/>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 </a:t>
            </a:r>
            <a:r>
              <a:rPr lang="en-US" sz="1300" b="0" i="0" u="none" strike="noStrike" dirty="0" err="1">
                <a:solidFill>
                  <a:srgbClr val="4B5563"/>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src。此过程得到的是</a:t>
            </a:r>
            <a:r>
              <a:rPr lang="en-US" sz="1300" b="0" i="0" u="none" strike="noStrike" dirty="0" err="1">
                <a:solidFill>
                  <a:srgbClr val="DC2626"/>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逆序路径</a:t>
            </a:r>
            <a:r>
              <a:rPr lang="en-US" sz="1300" b="0" i="0" u="none" strike="noStrike" dirty="0" err="1">
                <a:solidFill>
                  <a:srgbClr val="4B5563"/>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（终点</a:t>
            </a:r>
            <a:r>
              <a:rPr lang="en-US" sz="1300" b="0" i="0" u="none" strike="noStrike" dirty="0">
                <a:solidFill>
                  <a:srgbClr val="4B5563"/>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 → </a:t>
            </a:r>
            <a:r>
              <a:rPr lang="en-US" sz="1300" b="0" i="0" u="none" strike="noStrike" dirty="0" err="1">
                <a:solidFill>
                  <a:srgbClr val="4B5563"/>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起点</a:t>
            </a:r>
            <a:r>
              <a:rPr lang="en-US" sz="1300" b="0" i="0" u="none" strike="noStrike" dirty="0">
                <a:solidFill>
                  <a:srgbClr val="4B5563"/>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a:t>
            </a:r>
            <a:endParaRPr lang="en-US" sz="1100" dirty="0">
              <a:latin typeface="BlueakaBeta2GBK" panose="02000700000000000000" pitchFamily="2" charset="-122"/>
              <a:ea typeface="BlueakaBeta2GBK" panose="02000700000000000000" pitchFamily="2" charset="-122"/>
            </a:endParaRPr>
          </a:p>
        </p:txBody>
      </p:sp>
      <p:sp>
        <p:nvSpPr>
          <p:cNvPr id="25" name="AutoShape 25"/>
          <p:cNvSpPr/>
          <p:nvPr/>
        </p:nvSpPr>
        <p:spPr>
          <a:xfrm>
            <a:off x="6223000" y="3429000"/>
            <a:ext cx="5461000" cy="1206500"/>
          </a:xfrm>
          <a:prstGeom prst="roundRect">
            <a:avLst>
              <a:gd name="adj" fmla="val 0"/>
            </a:avLst>
          </a:prstGeom>
          <a:solidFill>
            <a:srgbClr val="F3F4F6">
              <a:alpha val="100000"/>
            </a:srgbClr>
          </a:solidFill>
          <a:ln w="25400" cap="flat" cmpd="sng">
            <a:noFill/>
            <a:prstDash val="solid"/>
            <a:round/>
          </a:ln>
        </p:spPr>
        <p:txBody>
          <a:bodyPr vert="horz" wrap="square" lIns="63500" tIns="63500" rIns="63500" bIns="63500" rtlCol="0" anchor="ctr"/>
          <a:lstStyle/>
          <a:p>
            <a:pPr algn="ctr">
              <a:defRPr/>
            </a:pPr>
            <a:endParaRPr dirty="0">
              <a:latin typeface="BlueakaBeta2GBK" panose="02000700000000000000" pitchFamily="2" charset="-122"/>
              <a:ea typeface="BlueakaBeta2GBK" panose="02000700000000000000" pitchFamily="2" charset="-122"/>
            </a:endParaRPr>
          </a:p>
        </p:txBody>
      </p:sp>
      <p:pic>
        <p:nvPicPr>
          <p:cNvPr id="26" name="Picture 2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13500" y="3619500"/>
            <a:ext cx="355600" cy="355600"/>
          </a:xfrm>
          <a:prstGeom prst="rect">
            <a:avLst/>
          </a:prstGeom>
        </p:spPr>
      </p:pic>
      <p:sp>
        <p:nvSpPr>
          <p:cNvPr id="27" name="AutoShape 27"/>
          <p:cNvSpPr/>
          <p:nvPr/>
        </p:nvSpPr>
        <p:spPr>
          <a:xfrm>
            <a:off x="6858000" y="3619500"/>
            <a:ext cx="46990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dirty="0">
                <a:solidFill>
                  <a:srgbClr val="1F2937"/>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02. </a:t>
            </a:r>
            <a:r>
              <a:rPr lang="en-US" sz="1600" b="1" i="0" u="none" strike="noStrike" dirty="0" err="1">
                <a:solidFill>
                  <a:srgbClr val="1F2937"/>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栈反转</a:t>
            </a:r>
            <a:r>
              <a:rPr lang="en-US" sz="1600" b="1" i="0" u="none" strike="noStrike" dirty="0">
                <a:solidFill>
                  <a:srgbClr val="1F2937"/>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 (Stack Reverse)</a:t>
            </a:r>
            <a:endParaRPr lang="en-US" sz="1100" dirty="0">
              <a:latin typeface="BlueakaBeta2GBK" panose="02000700000000000000" pitchFamily="2" charset="-122"/>
              <a:ea typeface="BlueakaBeta2GBK" panose="02000700000000000000" pitchFamily="2" charset="-122"/>
            </a:endParaRPr>
          </a:p>
        </p:txBody>
      </p:sp>
      <p:sp>
        <p:nvSpPr>
          <p:cNvPr id="28" name="AutoShape 28"/>
          <p:cNvSpPr/>
          <p:nvPr/>
        </p:nvSpPr>
        <p:spPr>
          <a:xfrm>
            <a:off x="6413500" y="4038600"/>
            <a:ext cx="50165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300" b="0" i="0" u="none" strike="noStrike" dirty="0" err="1">
                <a:solidFill>
                  <a:srgbClr val="4B5563"/>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将逆序路径的节点依次压入栈中，利用栈“先进后出”特性弹出，得到</a:t>
            </a:r>
            <a:r>
              <a:rPr lang="en-US" sz="1300" b="0" i="0" u="none" strike="noStrike" dirty="0" err="1">
                <a:solidFill>
                  <a:srgbClr val="10B981"/>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正序最短路径</a:t>
            </a:r>
            <a:r>
              <a:rPr lang="en-US" sz="1300" b="0" i="0" u="none" strike="noStrike" dirty="0" err="1">
                <a:solidFill>
                  <a:srgbClr val="4B5563"/>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（起点</a:t>
            </a:r>
            <a:r>
              <a:rPr lang="en-US" sz="1300" b="0" i="0" u="none" strike="noStrike" dirty="0">
                <a:solidFill>
                  <a:srgbClr val="4B5563"/>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 → </a:t>
            </a:r>
            <a:r>
              <a:rPr lang="en-US" sz="1300" b="0" i="0" u="none" strike="noStrike" dirty="0" err="1">
                <a:solidFill>
                  <a:srgbClr val="4B5563"/>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终点</a:t>
            </a:r>
            <a:r>
              <a:rPr lang="en-US" sz="1300" b="0" i="0" u="none" strike="noStrike" dirty="0">
                <a:solidFill>
                  <a:srgbClr val="4B5563"/>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a:t>
            </a:r>
            <a:r>
              <a:rPr lang="en-US" sz="1300" b="0" i="0" u="none" strike="noStrike" dirty="0" err="1">
                <a:solidFill>
                  <a:srgbClr val="4B5563"/>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这是最常用的路径还原方法</a:t>
            </a:r>
            <a:r>
              <a:rPr lang="en-US" sz="1300" b="0" i="0" u="none" strike="noStrike" dirty="0">
                <a:solidFill>
                  <a:srgbClr val="4B5563"/>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a:t>
            </a:r>
            <a:endParaRPr lang="en-US" sz="1100" dirty="0">
              <a:latin typeface="BlueakaBeta2GBK" panose="02000700000000000000" pitchFamily="2" charset="-122"/>
              <a:ea typeface="BlueakaBeta2GBK" panose="02000700000000000000" pitchFamily="2" charset="-122"/>
            </a:endParaRPr>
          </a:p>
        </p:txBody>
      </p:sp>
      <p:sp>
        <p:nvSpPr>
          <p:cNvPr id="29" name="AutoShape 29"/>
          <p:cNvSpPr/>
          <p:nvPr/>
        </p:nvSpPr>
        <p:spPr>
          <a:xfrm>
            <a:off x="6223000" y="4953000"/>
            <a:ext cx="5461000" cy="1460500"/>
          </a:xfrm>
          <a:prstGeom prst="roundRect">
            <a:avLst>
              <a:gd name="adj" fmla="val 0"/>
            </a:avLst>
          </a:prstGeom>
          <a:solidFill>
            <a:srgbClr val="1E3A8A">
              <a:alpha val="5000"/>
            </a:srgbClr>
          </a:solidFill>
          <a:ln w="12700" cap="flat" cmpd="sng">
            <a:solidFill>
              <a:srgbClr val="1E3A8A">
                <a:alpha val="15000"/>
              </a:srgbClr>
            </a:solidFill>
            <a:prstDash val="solid"/>
            <a:round/>
          </a:ln>
        </p:spPr>
        <p:txBody>
          <a:bodyPr vert="horz" wrap="square" lIns="63500" tIns="63500" rIns="63500" bIns="63500" rtlCol="0" anchor="ctr"/>
          <a:lstStyle/>
          <a:p>
            <a:pPr algn="ctr">
              <a:defRPr/>
            </a:pPr>
            <a:endParaRPr dirty="0">
              <a:latin typeface="BlueakaBeta2GBK" panose="02000700000000000000" pitchFamily="2" charset="-122"/>
              <a:ea typeface="BlueakaBeta2GBK" panose="02000700000000000000" pitchFamily="2" charset="-122"/>
            </a:endParaRPr>
          </a:p>
        </p:txBody>
      </p:sp>
      <p:sp>
        <p:nvSpPr>
          <p:cNvPr id="30" name="AutoShape 30"/>
          <p:cNvSpPr/>
          <p:nvPr/>
        </p:nvSpPr>
        <p:spPr>
          <a:xfrm>
            <a:off x="6350000" y="5080000"/>
            <a:ext cx="52070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dirty="0">
                <a:solidFill>
                  <a:srgbClr val="1E3A8A"/>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 </a:t>
            </a:r>
            <a:r>
              <a:rPr lang="en-US" sz="1500" b="1" i="0" u="none" strike="noStrike" dirty="0" err="1">
                <a:solidFill>
                  <a:srgbClr val="1E3A8A"/>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实例演示：起点</a:t>
            </a:r>
            <a:r>
              <a:rPr lang="en-US" sz="1500" b="1" i="0" u="none" strike="noStrike" dirty="0">
                <a:solidFill>
                  <a:srgbClr val="1E3A8A"/>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 A → </a:t>
            </a:r>
            <a:r>
              <a:rPr lang="en-US" sz="1500" b="1" i="0" u="none" strike="noStrike" dirty="0" err="1">
                <a:solidFill>
                  <a:srgbClr val="1E3A8A"/>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终点</a:t>
            </a:r>
            <a:r>
              <a:rPr lang="en-US" sz="1500" b="1" i="0" u="none" strike="noStrike" dirty="0">
                <a:solidFill>
                  <a:srgbClr val="1E3A8A"/>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 B</a:t>
            </a:r>
            <a:endParaRPr lang="en-US" sz="1100" dirty="0">
              <a:latin typeface="BlueakaBeta2GBK" panose="02000700000000000000" pitchFamily="2" charset="-122"/>
              <a:ea typeface="BlueakaBeta2GBK" panose="02000700000000000000" pitchFamily="2" charset="-122"/>
            </a:endParaRPr>
          </a:p>
        </p:txBody>
      </p:sp>
      <p:sp>
        <p:nvSpPr>
          <p:cNvPr id="31" name="AutoShape 31"/>
          <p:cNvSpPr/>
          <p:nvPr/>
        </p:nvSpPr>
        <p:spPr>
          <a:xfrm>
            <a:off x="6350000" y="5461000"/>
            <a:ext cx="5207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dirty="0" err="1">
                <a:solidFill>
                  <a:srgbClr val="374151"/>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已知</a:t>
            </a:r>
            <a:r>
              <a:rPr lang="en-US" sz="1300" b="0" i="0" u="none" strike="noStrike" dirty="0">
                <a:solidFill>
                  <a:srgbClr val="374151"/>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 </a:t>
            </a:r>
            <a:r>
              <a:rPr lang="en-US" sz="1300" b="0" i="0" u="none" strike="noStrike" dirty="0" err="1">
                <a:solidFill>
                  <a:srgbClr val="374151"/>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prev</a:t>
            </a:r>
            <a:r>
              <a:rPr lang="en-US" sz="1300" b="0" i="0" u="none" strike="noStrike" dirty="0">
                <a:solidFill>
                  <a:srgbClr val="374151"/>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[B]=D, </a:t>
            </a:r>
            <a:r>
              <a:rPr lang="en-US" sz="1300" b="0" i="0" u="none" strike="noStrike" dirty="0" err="1">
                <a:solidFill>
                  <a:srgbClr val="374151"/>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prev</a:t>
            </a:r>
            <a:r>
              <a:rPr lang="en-US" sz="1300" b="0" i="0" u="none" strike="noStrike" dirty="0">
                <a:solidFill>
                  <a:srgbClr val="374151"/>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[D]=C, </a:t>
            </a:r>
            <a:r>
              <a:rPr lang="en-US" sz="1300" b="0" i="0" u="none" strike="noStrike" dirty="0" err="1">
                <a:solidFill>
                  <a:srgbClr val="374151"/>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prev</a:t>
            </a:r>
            <a:r>
              <a:rPr lang="en-US" sz="1300" b="0" i="0" u="none" strike="noStrike" dirty="0">
                <a:solidFill>
                  <a:srgbClr val="374151"/>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[C]=A。</a:t>
            </a:r>
            <a:br>
              <a:rPr lang="en-US" sz="1300" b="0" i="0" u="none" strike="noStrike" dirty="0">
                <a:solidFill>
                  <a:srgbClr val="1F2329"/>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br>
            <a:r>
              <a:rPr lang="en-US" sz="1300" b="0" i="0" u="none" strike="noStrike" dirty="0" err="1">
                <a:solidFill>
                  <a:srgbClr val="374151"/>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逆序：B</a:t>
            </a:r>
            <a:r>
              <a:rPr lang="en-US" sz="1300" b="0" i="0" u="none" strike="noStrike" dirty="0">
                <a:solidFill>
                  <a:srgbClr val="374151"/>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 → D → C → A → </a:t>
            </a:r>
            <a:r>
              <a:rPr lang="en-US" sz="1300" b="0" i="0" u="none" strike="noStrike" dirty="0" err="1">
                <a:solidFill>
                  <a:srgbClr val="374151"/>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压栈后弹出：</a:t>
            </a:r>
            <a:r>
              <a:rPr lang="en-US" sz="1300" b="1" i="0" u="none" strike="noStrike" dirty="0" err="1">
                <a:solidFill>
                  <a:srgbClr val="10B981"/>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A</a:t>
            </a:r>
            <a:r>
              <a:rPr lang="en-US" sz="1300" b="1" i="0" u="none" strike="noStrike" dirty="0">
                <a:solidFill>
                  <a:srgbClr val="10B981"/>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 → C → D → </a:t>
            </a:r>
            <a:r>
              <a:rPr lang="en-US" sz="1300" b="1" i="0" u="none" strike="noStrike" dirty="0" err="1">
                <a:solidFill>
                  <a:srgbClr val="10B981"/>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B</a:t>
            </a:r>
            <a:r>
              <a:rPr lang="en-US" sz="1300" b="0" i="0" u="none" strike="noStrike" dirty="0" err="1">
                <a:solidFill>
                  <a:srgbClr val="374151"/>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（即最短路径</a:t>
            </a:r>
            <a:r>
              <a:rPr lang="en-US" sz="1300" b="0" i="0" u="none" strike="noStrike" dirty="0">
                <a:solidFill>
                  <a:srgbClr val="374151"/>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a:t>
            </a:r>
            <a:endParaRPr lang="en-US" sz="1100" dirty="0">
              <a:latin typeface="BlueakaBeta2GBK" panose="02000700000000000000" pitchFamily="2" charset="-122"/>
              <a:ea typeface="BlueakaBeta2GBK" panose="02000700000000000000" pitchFamily="2"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1">
          <a:gsLst>
            <a:gs pos="0">
              <a:srgbClr val="F0F4F8">
                <a:alpha val="100000"/>
              </a:srgbClr>
            </a:gs>
            <a:gs pos="100000">
              <a:srgbClr val="DBEAFE">
                <a:alpha val="100000"/>
              </a:srgbClr>
            </a:gs>
          </a:gsLst>
          <a:lin ang="2700000"/>
        </a:gradFill>
        <a:effectLst/>
      </p:bgPr>
    </p:bg>
    <p:spTree>
      <p:nvGrpSpPr>
        <p:cNvPr id="1" name=""/>
        <p:cNvGrpSpPr/>
        <p:nvPr/>
      </p:nvGrpSpPr>
      <p:grpSpPr>
        <a:xfrm>
          <a:off x="0" y="0"/>
          <a:ext cx="0" cy="0"/>
          <a:chOff x="0" y="0"/>
          <a:chExt cx="0" cy="0"/>
        </a:xfrm>
      </p:grpSpPr>
      <p:sp>
        <p:nvSpPr>
          <p:cNvPr id="2" name="AutoShape 2"/>
          <p:cNvSpPr/>
          <p:nvPr/>
        </p:nvSpPr>
        <p:spPr>
          <a:xfrm>
            <a:off x="9525000" y="-1270000"/>
            <a:ext cx="3810000" cy="3810000"/>
          </a:xfrm>
          <a:prstGeom prst="ellipse">
            <a:avLst/>
          </a:prstGeom>
          <a:solidFill>
            <a:srgbClr val="3B82F6">
              <a:alpha val="8000"/>
            </a:srgbClr>
          </a:solidFill>
          <a:ln w="25400" cap="flat" cmpd="sng">
            <a:noFill/>
            <a:prstDash val="solid"/>
            <a:round/>
          </a:ln>
        </p:spPr>
        <p:txBody>
          <a:bodyPr vert="horz" wrap="square" lIns="63500" tIns="63500" rIns="63500" bIns="63500" rtlCol="0" anchor="ctr"/>
          <a:lstStyle/>
          <a:p>
            <a:pPr algn="ctr">
              <a:defRPr/>
            </a:pPr>
            <a:endParaRPr dirty="0">
              <a:latin typeface="BlueakaBeta2GBK" panose="02000700000000000000" pitchFamily="2" charset="-122"/>
              <a:ea typeface="BlueakaBeta2GBK" panose="02000700000000000000" pitchFamily="2" charset="-122"/>
            </a:endParaRPr>
          </a:p>
        </p:txBody>
      </p:sp>
      <p:sp>
        <p:nvSpPr>
          <p:cNvPr id="3" name="AutoShape 3"/>
          <p:cNvSpPr/>
          <p:nvPr/>
        </p:nvSpPr>
        <p:spPr>
          <a:xfrm>
            <a:off x="-1016000" y="5080000"/>
            <a:ext cx="2540000" cy="2540000"/>
          </a:xfrm>
          <a:prstGeom prst="ellipse">
            <a:avLst/>
          </a:prstGeom>
          <a:solidFill>
            <a:srgbClr val="3B82F6">
              <a:alpha val="8000"/>
            </a:srgbClr>
          </a:solidFill>
          <a:ln w="25400" cap="flat" cmpd="sng">
            <a:noFill/>
            <a:prstDash val="solid"/>
            <a:round/>
          </a:ln>
        </p:spPr>
        <p:txBody>
          <a:bodyPr vert="horz" wrap="square" lIns="63500" tIns="63500" rIns="63500" bIns="63500" rtlCol="0" anchor="ctr"/>
          <a:lstStyle/>
          <a:p>
            <a:pPr algn="ctr">
              <a:defRPr/>
            </a:pPr>
            <a:endParaRPr dirty="0">
              <a:latin typeface="BlueakaBeta2GBK" panose="02000700000000000000" pitchFamily="2" charset="-122"/>
              <a:ea typeface="BlueakaBeta2GBK" panose="02000700000000000000" pitchFamily="2" charset="-122"/>
            </a:endParaRPr>
          </a:p>
        </p:txBody>
      </p:sp>
      <p:sp>
        <p:nvSpPr>
          <p:cNvPr id="4" name="AutoShape 4"/>
          <p:cNvSpPr/>
          <p:nvPr/>
        </p:nvSpPr>
        <p:spPr>
          <a:xfrm>
            <a:off x="508000" y="508000"/>
            <a:ext cx="11176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dirty="0" err="1">
                <a:solidFill>
                  <a:srgbClr val="1E3A8A"/>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五、核心算法</a:t>
            </a:r>
            <a:r>
              <a:rPr lang="en-US" sz="2800" b="1" i="0" u="none" strike="noStrike" dirty="0">
                <a:solidFill>
                  <a:srgbClr val="1E3A8A"/>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 - </a:t>
            </a:r>
            <a:r>
              <a:rPr lang="en-US" sz="2800" b="1" i="0" u="none" strike="noStrike" dirty="0" err="1">
                <a:solidFill>
                  <a:srgbClr val="1E3A8A"/>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游览路线推荐</a:t>
            </a:r>
            <a:endParaRPr lang="en-US" sz="1100" dirty="0">
              <a:latin typeface="BlueakaBeta2GBK" panose="02000700000000000000" pitchFamily="2" charset="-122"/>
              <a:ea typeface="BlueakaBeta2GBK" panose="02000700000000000000" pitchFamily="2" charset="-122"/>
            </a:endParaRPr>
          </a:p>
        </p:txBody>
      </p:sp>
      <p:sp>
        <p:nvSpPr>
          <p:cNvPr id="5" name="AutoShape 5"/>
          <p:cNvSpPr/>
          <p:nvPr/>
        </p:nvSpPr>
        <p:spPr>
          <a:xfrm>
            <a:off x="508000" y="1270000"/>
            <a:ext cx="11176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500" b="0" i="0" u="none" strike="noStrike" dirty="0" err="1">
                <a:solidFill>
                  <a:srgbClr val="4B5563"/>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针对景区多景点的游览规划需求，我们将其转化为</a:t>
            </a:r>
            <a:r>
              <a:rPr lang="en-US" sz="1500" b="1" i="0" u="none" strike="noStrike" dirty="0" err="1">
                <a:solidFill>
                  <a:srgbClr val="4B5563"/>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旅行商问题</a:t>
            </a:r>
            <a:r>
              <a:rPr lang="en-US" sz="1500" b="1" i="0" u="none" strike="noStrike" dirty="0">
                <a:solidFill>
                  <a:srgbClr val="4B5563"/>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(TSP)</a:t>
            </a:r>
            <a:r>
              <a:rPr lang="en-US" sz="1500" b="0" i="0" u="none" strike="noStrike" dirty="0" err="1">
                <a:solidFill>
                  <a:srgbClr val="4B5563"/>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的近似求解场景，采用</a:t>
            </a:r>
            <a:r>
              <a:rPr lang="en-US" sz="1500" b="1" i="0" u="none" strike="noStrike" dirty="0" err="1">
                <a:solidFill>
                  <a:srgbClr val="4B5563"/>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最近邻启发式算法</a:t>
            </a:r>
            <a:r>
              <a:rPr lang="en-US" sz="1500" b="0" i="0" u="none" strike="noStrike" dirty="0" err="1">
                <a:solidFill>
                  <a:srgbClr val="4B5563"/>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作为核心策略。该算法在保证游览体验合理性的同时，实现了毫秒级的高效路径规划计算</a:t>
            </a:r>
            <a:r>
              <a:rPr lang="en-US" sz="1500" b="0" i="0" u="none" strike="noStrike" dirty="0">
                <a:solidFill>
                  <a:srgbClr val="4B5563"/>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a:t>
            </a:r>
            <a:endParaRPr lang="en-US" sz="1100" dirty="0">
              <a:latin typeface="BlueakaBeta2GBK" panose="02000700000000000000" pitchFamily="2" charset="-122"/>
              <a:ea typeface="BlueakaBeta2GBK" panose="02000700000000000000" pitchFamily="2" charset="-122"/>
            </a:endParaRPr>
          </a:p>
        </p:txBody>
      </p:sp>
      <p:sp>
        <p:nvSpPr>
          <p:cNvPr id="6" name="AutoShape 6"/>
          <p:cNvSpPr/>
          <p:nvPr/>
        </p:nvSpPr>
        <p:spPr>
          <a:xfrm>
            <a:off x="508000" y="2286000"/>
            <a:ext cx="2667000" cy="1714500"/>
          </a:xfrm>
          <a:prstGeom prst="roundRect">
            <a:avLst>
              <a:gd name="adj" fmla="val 0"/>
            </a:avLst>
          </a:prstGeom>
          <a:solidFill>
            <a:srgbClr val="FFFFFF">
              <a:alpha val="80000"/>
            </a:srgbClr>
          </a:solidFill>
          <a:ln w="12700" cap="flat" cmpd="sng">
            <a:solidFill>
              <a:srgbClr val="DBEAFE">
                <a:alpha val="100000"/>
              </a:srgbClr>
            </a:solidFill>
            <a:prstDash val="solid"/>
            <a:round/>
          </a:ln>
        </p:spPr>
        <p:txBody>
          <a:bodyPr vert="horz" wrap="square" lIns="63500" tIns="63500" rIns="63500" bIns="63500" rtlCol="0" anchor="ctr"/>
          <a:lstStyle/>
          <a:p>
            <a:pPr algn="ctr">
              <a:defRPr/>
            </a:pPr>
            <a:endParaRPr dirty="0">
              <a:latin typeface="BlueakaBeta2GBK" panose="02000700000000000000" pitchFamily="2" charset="-122"/>
              <a:ea typeface="BlueakaBeta2GBK" panose="02000700000000000000" pitchFamily="2" charset="-122"/>
            </a:endParaRPr>
          </a:p>
        </p:txBody>
      </p:sp>
      <p:pic>
        <p:nvPicPr>
          <p:cNvPr id="7" name="Picture 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98500" y="2476500"/>
            <a:ext cx="304800" cy="304800"/>
          </a:xfrm>
          <a:prstGeom prst="rect">
            <a:avLst/>
          </a:prstGeom>
        </p:spPr>
      </p:pic>
      <p:sp>
        <p:nvSpPr>
          <p:cNvPr id="8" name="AutoShape 8"/>
          <p:cNvSpPr/>
          <p:nvPr/>
        </p:nvSpPr>
        <p:spPr>
          <a:xfrm>
            <a:off x="1079500" y="2476500"/>
            <a:ext cx="2032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dirty="0">
                <a:solidFill>
                  <a:srgbClr val="1E3A8A"/>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01. </a:t>
            </a:r>
            <a:r>
              <a:rPr lang="en-US" sz="1600" b="1" i="0" u="none" strike="noStrike" dirty="0" err="1">
                <a:solidFill>
                  <a:srgbClr val="1E3A8A"/>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起点锚定</a:t>
            </a:r>
            <a:endParaRPr lang="en-US" sz="1100" dirty="0">
              <a:latin typeface="BlueakaBeta2GBK" panose="02000700000000000000" pitchFamily="2" charset="-122"/>
              <a:ea typeface="BlueakaBeta2GBK" panose="02000700000000000000" pitchFamily="2" charset="-122"/>
            </a:endParaRPr>
          </a:p>
        </p:txBody>
      </p:sp>
      <p:sp>
        <p:nvSpPr>
          <p:cNvPr id="9" name="AutoShape 9"/>
          <p:cNvSpPr/>
          <p:nvPr/>
        </p:nvSpPr>
        <p:spPr>
          <a:xfrm>
            <a:off x="698500" y="2921000"/>
            <a:ext cx="23495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300" b="0" i="0" u="none" strike="noStrike" dirty="0" err="1">
                <a:solidFill>
                  <a:srgbClr val="6B7280"/>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以游客当前位置或景区主入口为初始起点，标记该节点为已访问，初始化待访问景点列表</a:t>
            </a:r>
            <a:r>
              <a:rPr lang="en-US" sz="1300" b="0" i="0" u="none" strike="noStrike" dirty="0">
                <a:solidFill>
                  <a:srgbClr val="6B7280"/>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a:t>
            </a:r>
            <a:endParaRPr lang="en-US" sz="1100" dirty="0">
              <a:latin typeface="BlueakaBeta2GBK" panose="02000700000000000000" pitchFamily="2" charset="-122"/>
              <a:ea typeface="BlueakaBeta2GBK" panose="02000700000000000000" pitchFamily="2" charset="-122"/>
            </a:endParaRPr>
          </a:p>
        </p:txBody>
      </p:sp>
      <p:sp>
        <p:nvSpPr>
          <p:cNvPr id="10" name="AutoShape 10"/>
          <p:cNvSpPr/>
          <p:nvPr/>
        </p:nvSpPr>
        <p:spPr>
          <a:xfrm>
            <a:off x="3340100" y="2286000"/>
            <a:ext cx="2667000" cy="1714500"/>
          </a:xfrm>
          <a:prstGeom prst="roundRect">
            <a:avLst>
              <a:gd name="adj" fmla="val 0"/>
            </a:avLst>
          </a:prstGeom>
          <a:solidFill>
            <a:srgbClr val="FFFFFF">
              <a:alpha val="80000"/>
            </a:srgbClr>
          </a:solidFill>
          <a:ln w="12700" cap="flat" cmpd="sng">
            <a:solidFill>
              <a:srgbClr val="DBEAFE">
                <a:alpha val="100000"/>
              </a:srgbClr>
            </a:solidFill>
            <a:prstDash val="solid"/>
            <a:round/>
          </a:ln>
        </p:spPr>
        <p:txBody>
          <a:bodyPr vert="horz" wrap="square" lIns="63500" tIns="63500" rIns="63500" bIns="63500" rtlCol="0" anchor="ctr"/>
          <a:lstStyle/>
          <a:p>
            <a:pPr algn="ctr">
              <a:defRPr/>
            </a:pPr>
            <a:endParaRPr dirty="0">
              <a:latin typeface="BlueakaBeta2GBK" panose="02000700000000000000" pitchFamily="2" charset="-122"/>
              <a:ea typeface="BlueakaBeta2GBK" panose="02000700000000000000" pitchFamily="2" charset="-122"/>
            </a:endParaRPr>
          </a:p>
        </p:txBody>
      </p:sp>
      <p:pic>
        <p:nvPicPr>
          <p:cNvPr id="11" name="Picture 1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530600" y="2476500"/>
            <a:ext cx="304800" cy="304800"/>
          </a:xfrm>
          <a:prstGeom prst="rect">
            <a:avLst/>
          </a:prstGeom>
        </p:spPr>
      </p:pic>
      <p:sp>
        <p:nvSpPr>
          <p:cNvPr id="12" name="AutoShape 12"/>
          <p:cNvSpPr/>
          <p:nvPr/>
        </p:nvSpPr>
        <p:spPr>
          <a:xfrm>
            <a:off x="3911600" y="2476500"/>
            <a:ext cx="2032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dirty="0">
                <a:solidFill>
                  <a:srgbClr val="1E3A8A"/>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02. </a:t>
            </a:r>
            <a:r>
              <a:rPr lang="en-US" sz="1600" b="1" i="0" u="none" strike="noStrike" dirty="0" err="1">
                <a:solidFill>
                  <a:srgbClr val="1E3A8A"/>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最短路径计算</a:t>
            </a:r>
            <a:endParaRPr lang="en-US" sz="1100" dirty="0">
              <a:latin typeface="BlueakaBeta2GBK" panose="02000700000000000000" pitchFamily="2" charset="-122"/>
              <a:ea typeface="BlueakaBeta2GBK" panose="02000700000000000000" pitchFamily="2" charset="-122"/>
            </a:endParaRPr>
          </a:p>
        </p:txBody>
      </p:sp>
      <p:sp>
        <p:nvSpPr>
          <p:cNvPr id="13" name="AutoShape 13"/>
          <p:cNvSpPr/>
          <p:nvPr/>
        </p:nvSpPr>
        <p:spPr>
          <a:xfrm>
            <a:off x="3530600" y="2921000"/>
            <a:ext cx="23495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300" b="0" i="0" u="none" strike="noStrike" dirty="0" err="1">
                <a:solidFill>
                  <a:srgbClr val="6B7280"/>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基于Dijkstra算法，实时计算当前节点到所有未访问目标的最短步行距离，构建临时距离矩阵</a:t>
            </a:r>
            <a:r>
              <a:rPr lang="en-US" sz="1300" b="0" i="0" u="none" strike="noStrike" dirty="0">
                <a:solidFill>
                  <a:srgbClr val="6B7280"/>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a:t>
            </a:r>
            <a:endParaRPr lang="en-US" sz="1100" dirty="0">
              <a:latin typeface="BlueakaBeta2GBK" panose="02000700000000000000" pitchFamily="2" charset="-122"/>
              <a:ea typeface="BlueakaBeta2GBK" panose="02000700000000000000" pitchFamily="2" charset="-122"/>
            </a:endParaRPr>
          </a:p>
        </p:txBody>
      </p:sp>
      <p:sp>
        <p:nvSpPr>
          <p:cNvPr id="14" name="AutoShape 14"/>
          <p:cNvSpPr/>
          <p:nvPr/>
        </p:nvSpPr>
        <p:spPr>
          <a:xfrm>
            <a:off x="6172200" y="2286000"/>
            <a:ext cx="2667000" cy="1714500"/>
          </a:xfrm>
          <a:prstGeom prst="roundRect">
            <a:avLst>
              <a:gd name="adj" fmla="val 0"/>
            </a:avLst>
          </a:prstGeom>
          <a:solidFill>
            <a:srgbClr val="FFFFFF">
              <a:alpha val="80000"/>
            </a:srgbClr>
          </a:solidFill>
          <a:ln w="12700" cap="flat" cmpd="sng">
            <a:solidFill>
              <a:srgbClr val="DBEAFE">
                <a:alpha val="100000"/>
              </a:srgbClr>
            </a:solidFill>
            <a:prstDash val="solid"/>
            <a:round/>
          </a:ln>
        </p:spPr>
        <p:txBody>
          <a:bodyPr vert="horz" wrap="square" lIns="63500" tIns="63500" rIns="63500" bIns="63500" rtlCol="0" anchor="ctr"/>
          <a:lstStyle/>
          <a:p>
            <a:pPr algn="ctr">
              <a:defRPr/>
            </a:pPr>
            <a:endParaRPr dirty="0">
              <a:latin typeface="BlueakaBeta2GBK" panose="02000700000000000000" pitchFamily="2" charset="-122"/>
              <a:ea typeface="BlueakaBeta2GBK" panose="02000700000000000000" pitchFamily="2" charset="-122"/>
            </a:endParaRPr>
          </a:p>
        </p:txBody>
      </p:sp>
      <p:pic>
        <p:nvPicPr>
          <p:cNvPr id="15" name="Picture 1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362700" y="2476500"/>
            <a:ext cx="304800" cy="304800"/>
          </a:xfrm>
          <a:prstGeom prst="rect">
            <a:avLst/>
          </a:prstGeom>
        </p:spPr>
      </p:pic>
      <p:sp>
        <p:nvSpPr>
          <p:cNvPr id="16" name="AutoShape 16"/>
          <p:cNvSpPr/>
          <p:nvPr/>
        </p:nvSpPr>
        <p:spPr>
          <a:xfrm>
            <a:off x="6743700" y="2476500"/>
            <a:ext cx="2032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dirty="0">
                <a:solidFill>
                  <a:srgbClr val="1E3A8A"/>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03. </a:t>
            </a:r>
            <a:r>
              <a:rPr lang="en-US" sz="1600" b="1" i="0" u="none" strike="noStrike" dirty="0" err="1">
                <a:solidFill>
                  <a:srgbClr val="1E3A8A"/>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贪心策略选择</a:t>
            </a:r>
            <a:endParaRPr lang="en-US" sz="1100" dirty="0">
              <a:latin typeface="BlueakaBeta2GBK" panose="02000700000000000000" pitchFamily="2" charset="-122"/>
              <a:ea typeface="BlueakaBeta2GBK" panose="02000700000000000000" pitchFamily="2" charset="-122"/>
            </a:endParaRPr>
          </a:p>
        </p:txBody>
      </p:sp>
      <p:sp>
        <p:nvSpPr>
          <p:cNvPr id="17" name="AutoShape 17"/>
          <p:cNvSpPr/>
          <p:nvPr/>
        </p:nvSpPr>
        <p:spPr>
          <a:xfrm>
            <a:off x="6362700" y="2921000"/>
            <a:ext cx="23495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300" b="0" i="0" u="none" strike="noStrike" dirty="0" err="1">
                <a:solidFill>
                  <a:srgbClr val="6B7280"/>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从待访问列表中筛选出距离当前点最近的景点，将其设为下一站，并标记为已访问节点</a:t>
            </a:r>
            <a:r>
              <a:rPr lang="en-US" sz="1300" b="0" i="0" u="none" strike="noStrike" dirty="0">
                <a:solidFill>
                  <a:srgbClr val="6B7280"/>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a:t>
            </a:r>
            <a:endParaRPr lang="en-US" sz="1100" dirty="0">
              <a:latin typeface="BlueakaBeta2GBK" panose="02000700000000000000" pitchFamily="2" charset="-122"/>
              <a:ea typeface="BlueakaBeta2GBK" panose="02000700000000000000" pitchFamily="2" charset="-122"/>
            </a:endParaRPr>
          </a:p>
        </p:txBody>
      </p:sp>
      <p:sp>
        <p:nvSpPr>
          <p:cNvPr id="18" name="AutoShape 18"/>
          <p:cNvSpPr/>
          <p:nvPr/>
        </p:nvSpPr>
        <p:spPr>
          <a:xfrm>
            <a:off x="9004300" y="2286000"/>
            <a:ext cx="2667000" cy="1714500"/>
          </a:xfrm>
          <a:prstGeom prst="roundRect">
            <a:avLst>
              <a:gd name="adj" fmla="val 0"/>
            </a:avLst>
          </a:prstGeom>
          <a:solidFill>
            <a:srgbClr val="FFFFFF">
              <a:alpha val="80000"/>
            </a:srgbClr>
          </a:solidFill>
          <a:ln w="12700" cap="flat" cmpd="sng">
            <a:solidFill>
              <a:srgbClr val="DBEAFE">
                <a:alpha val="100000"/>
              </a:srgbClr>
            </a:solidFill>
            <a:prstDash val="solid"/>
            <a:round/>
          </a:ln>
        </p:spPr>
        <p:txBody>
          <a:bodyPr vert="horz" wrap="square" lIns="63500" tIns="63500" rIns="63500" bIns="63500" rtlCol="0" anchor="ctr"/>
          <a:lstStyle/>
          <a:p>
            <a:pPr algn="ctr">
              <a:defRPr/>
            </a:pPr>
            <a:endParaRPr dirty="0">
              <a:latin typeface="BlueakaBeta2GBK" panose="02000700000000000000" pitchFamily="2" charset="-122"/>
              <a:ea typeface="BlueakaBeta2GBK" panose="02000700000000000000" pitchFamily="2" charset="-122"/>
            </a:endParaRPr>
          </a:p>
        </p:txBody>
      </p:sp>
      <p:pic>
        <p:nvPicPr>
          <p:cNvPr id="19" name="Picture 1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194800" y="2476500"/>
            <a:ext cx="304800" cy="304800"/>
          </a:xfrm>
          <a:prstGeom prst="rect">
            <a:avLst/>
          </a:prstGeom>
        </p:spPr>
      </p:pic>
      <p:sp>
        <p:nvSpPr>
          <p:cNvPr id="20" name="AutoShape 20"/>
          <p:cNvSpPr/>
          <p:nvPr/>
        </p:nvSpPr>
        <p:spPr>
          <a:xfrm>
            <a:off x="9575800" y="2476500"/>
            <a:ext cx="2032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dirty="0">
                <a:solidFill>
                  <a:srgbClr val="1E3A8A"/>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04. </a:t>
            </a:r>
            <a:r>
              <a:rPr lang="en-US" sz="1600" b="1" i="0" u="none" strike="noStrike" dirty="0" err="1">
                <a:solidFill>
                  <a:srgbClr val="1E3A8A"/>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迭代直至闭环</a:t>
            </a:r>
            <a:endParaRPr lang="en-US" sz="1100" dirty="0">
              <a:latin typeface="BlueakaBeta2GBK" panose="02000700000000000000" pitchFamily="2" charset="-122"/>
              <a:ea typeface="BlueakaBeta2GBK" panose="02000700000000000000" pitchFamily="2" charset="-122"/>
            </a:endParaRPr>
          </a:p>
        </p:txBody>
      </p:sp>
      <p:sp>
        <p:nvSpPr>
          <p:cNvPr id="21" name="AutoShape 21"/>
          <p:cNvSpPr/>
          <p:nvPr/>
        </p:nvSpPr>
        <p:spPr>
          <a:xfrm>
            <a:off x="9194800" y="2921000"/>
            <a:ext cx="23495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300" b="0" i="0" u="none" strike="noStrike" dirty="0" err="1">
                <a:solidFill>
                  <a:srgbClr val="6B7280"/>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重复执行“计算-选择”步骤，直至所有目标景点遍历完毕，最终形成一条完整的游览闭环路线</a:t>
            </a:r>
            <a:r>
              <a:rPr lang="en-US" sz="1300" b="0" i="0" u="none" strike="noStrike" dirty="0">
                <a:solidFill>
                  <a:srgbClr val="6B7280"/>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a:t>
            </a:r>
            <a:endParaRPr lang="en-US" sz="1100" dirty="0">
              <a:latin typeface="BlueakaBeta2GBK" panose="02000700000000000000" pitchFamily="2" charset="-122"/>
              <a:ea typeface="BlueakaBeta2GBK" panose="02000700000000000000" pitchFamily="2" charset="-122"/>
            </a:endParaRPr>
          </a:p>
        </p:txBody>
      </p:sp>
      <p:sp>
        <p:nvSpPr>
          <p:cNvPr id="22" name="AutoShape 22"/>
          <p:cNvSpPr/>
          <p:nvPr/>
        </p:nvSpPr>
        <p:spPr>
          <a:xfrm>
            <a:off x="508000" y="4318000"/>
            <a:ext cx="5524500" cy="1968500"/>
          </a:xfrm>
          <a:prstGeom prst="roundRect">
            <a:avLst>
              <a:gd name="adj" fmla="val 0"/>
            </a:avLst>
          </a:prstGeom>
          <a:solidFill>
            <a:srgbClr val="1E3A8A">
              <a:alpha val="5000"/>
            </a:srgbClr>
          </a:solidFill>
          <a:ln w="12700" cap="flat" cmpd="sng">
            <a:solidFill>
              <a:srgbClr val="1E3A8A">
                <a:alpha val="10000"/>
              </a:srgbClr>
            </a:solidFill>
            <a:prstDash val="solid"/>
            <a:round/>
          </a:ln>
        </p:spPr>
        <p:txBody>
          <a:bodyPr vert="horz" wrap="square" lIns="63500" tIns="63500" rIns="63500" bIns="63500" rtlCol="0" anchor="ctr"/>
          <a:lstStyle/>
          <a:p>
            <a:pPr algn="ctr">
              <a:defRPr/>
            </a:pPr>
            <a:endParaRPr dirty="0">
              <a:latin typeface="BlueakaBeta2GBK" panose="02000700000000000000" pitchFamily="2" charset="-122"/>
              <a:ea typeface="BlueakaBeta2GBK" panose="02000700000000000000" pitchFamily="2" charset="-122"/>
            </a:endParaRPr>
          </a:p>
        </p:txBody>
      </p:sp>
      <p:pic>
        <p:nvPicPr>
          <p:cNvPr id="23" name="Picture 2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98500" y="4508500"/>
            <a:ext cx="254000" cy="254000"/>
          </a:xfrm>
          <a:prstGeom prst="rect">
            <a:avLst/>
          </a:prstGeom>
        </p:spPr>
      </p:pic>
      <p:sp>
        <p:nvSpPr>
          <p:cNvPr id="24" name="AutoShape 24"/>
          <p:cNvSpPr/>
          <p:nvPr/>
        </p:nvSpPr>
        <p:spPr>
          <a:xfrm>
            <a:off x="1016000" y="4508500"/>
            <a:ext cx="4953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dirty="0" err="1">
                <a:solidFill>
                  <a:srgbClr val="1F2937"/>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计算极速：</a:t>
            </a:r>
            <a:r>
              <a:rPr lang="en-US" sz="1300" b="0" i="0" u="none" strike="noStrike" dirty="0" err="1">
                <a:solidFill>
                  <a:srgbClr val="4B5563"/>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O</a:t>
            </a:r>
            <a:r>
              <a:rPr lang="en-US" sz="1300" b="0" i="0" u="none" strike="noStrike" dirty="0">
                <a:solidFill>
                  <a:srgbClr val="4B5563"/>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(n²) </a:t>
            </a:r>
            <a:r>
              <a:rPr lang="en-US" sz="1300" b="0" i="0" u="none" strike="noStrike" dirty="0" err="1">
                <a:solidFill>
                  <a:srgbClr val="4B5563"/>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时间复杂度，避免了动态规划的高算力消耗，适合移动端实时响应</a:t>
            </a:r>
            <a:r>
              <a:rPr lang="en-US" sz="1300" b="0" i="0" u="none" strike="noStrike" dirty="0">
                <a:solidFill>
                  <a:srgbClr val="4B5563"/>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a:t>
            </a:r>
            <a:endParaRPr lang="en-US" sz="1100" dirty="0">
              <a:latin typeface="BlueakaBeta2GBK" panose="02000700000000000000" pitchFamily="2" charset="-122"/>
              <a:ea typeface="BlueakaBeta2GBK" panose="02000700000000000000" pitchFamily="2" charset="-122"/>
            </a:endParaRPr>
          </a:p>
        </p:txBody>
      </p:sp>
      <p:pic>
        <p:nvPicPr>
          <p:cNvPr id="25" name="Picture 2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98500" y="5080000"/>
            <a:ext cx="254000" cy="254000"/>
          </a:xfrm>
          <a:prstGeom prst="rect">
            <a:avLst/>
          </a:prstGeom>
        </p:spPr>
      </p:pic>
      <p:sp>
        <p:nvSpPr>
          <p:cNvPr id="26" name="AutoShape 26"/>
          <p:cNvSpPr/>
          <p:nvPr/>
        </p:nvSpPr>
        <p:spPr>
          <a:xfrm>
            <a:off x="1016000" y="5080000"/>
            <a:ext cx="4953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dirty="0" err="1">
                <a:solidFill>
                  <a:srgbClr val="1F2937"/>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贴合直觉</a:t>
            </a:r>
            <a:r>
              <a:rPr lang="en-US" sz="1500" b="1" i="0" u="none" strike="noStrike" dirty="0">
                <a:solidFill>
                  <a:srgbClr val="1F2937"/>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a:t>
            </a:r>
            <a:r>
              <a:rPr lang="en-US" sz="1300" b="0" i="0" u="none" strike="noStrike" dirty="0">
                <a:solidFill>
                  <a:srgbClr val="4B5563"/>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a:t>
            </a:r>
            <a:r>
              <a:rPr lang="en-US" sz="1300" b="0" i="0" u="none" strike="noStrike" dirty="0" err="1">
                <a:solidFill>
                  <a:srgbClr val="4B5563"/>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由近及远”的游览顺序符合游客的体力分配与探索心理，避免折返跑</a:t>
            </a:r>
            <a:r>
              <a:rPr lang="en-US" sz="1300" b="0" i="0" u="none" strike="noStrike" dirty="0">
                <a:solidFill>
                  <a:srgbClr val="4B5563"/>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a:t>
            </a:r>
            <a:endParaRPr lang="en-US" sz="1100" dirty="0">
              <a:latin typeface="BlueakaBeta2GBK" panose="02000700000000000000" pitchFamily="2" charset="-122"/>
              <a:ea typeface="BlueakaBeta2GBK" panose="02000700000000000000" pitchFamily="2" charset="-122"/>
            </a:endParaRPr>
          </a:p>
        </p:txBody>
      </p:sp>
      <p:pic>
        <p:nvPicPr>
          <p:cNvPr id="27" name="Picture 2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98500" y="5651500"/>
            <a:ext cx="254000" cy="254000"/>
          </a:xfrm>
          <a:prstGeom prst="rect">
            <a:avLst/>
          </a:prstGeom>
        </p:spPr>
      </p:pic>
      <p:sp>
        <p:nvSpPr>
          <p:cNvPr id="28" name="AutoShape 28"/>
          <p:cNvSpPr/>
          <p:nvPr/>
        </p:nvSpPr>
        <p:spPr>
          <a:xfrm>
            <a:off x="1016000" y="5651500"/>
            <a:ext cx="4953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dirty="0" err="1">
                <a:solidFill>
                  <a:srgbClr val="1F2937"/>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近似最优：</a:t>
            </a:r>
            <a:r>
              <a:rPr lang="en-US" sz="1300" b="0" i="0" u="none" strike="noStrike" dirty="0" err="1">
                <a:solidFill>
                  <a:srgbClr val="4B5563"/>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在景区路网较规则的前提下，结果与理论最优解偏差极小，满足实际需求</a:t>
            </a:r>
            <a:r>
              <a:rPr lang="en-US" sz="1300" b="0" i="0" u="none" strike="noStrike" dirty="0">
                <a:solidFill>
                  <a:srgbClr val="4B5563"/>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a:t>
            </a:r>
            <a:endParaRPr lang="en-US" sz="1100" dirty="0">
              <a:latin typeface="BlueakaBeta2GBK" panose="02000700000000000000" pitchFamily="2" charset="-122"/>
              <a:ea typeface="BlueakaBeta2GBK" panose="02000700000000000000" pitchFamily="2" charset="-122"/>
            </a:endParaRPr>
          </a:p>
        </p:txBody>
      </p:sp>
      <p:sp>
        <p:nvSpPr>
          <p:cNvPr id="29" name="AutoShape 29"/>
          <p:cNvSpPr/>
          <p:nvPr/>
        </p:nvSpPr>
        <p:spPr>
          <a:xfrm>
            <a:off x="6159500" y="4318000"/>
            <a:ext cx="5524500" cy="1968500"/>
          </a:xfrm>
          <a:prstGeom prst="roundRect">
            <a:avLst>
              <a:gd name="adj" fmla="val 0"/>
            </a:avLst>
          </a:prstGeom>
          <a:solidFill>
            <a:srgbClr val="10B981">
              <a:alpha val="5000"/>
            </a:srgbClr>
          </a:solidFill>
          <a:ln w="12700" cap="flat" cmpd="sng">
            <a:solidFill>
              <a:srgbClr val="10B981">
                <a:alpha val="10000"/>
              </a:srgbClr>
            </a:solidFill>
            <a:prstDash val="solid"/>
            <a:round/>
          </a:ln>
        </p:spPr>
        <p:txBody>
          <a:bodyPr vert="horz" wrap="square" lIns="63500" tIns="63500" rIns="63500" bIns="63500" rtlCol="0" anchor="ctr"/>
          <a:lstStyle/>
          <a:p>
            <a:pPr algn="ctr">
              <a:defRPr/>
            </a:pPr>
            <a:endParaRPr dirty="0">
              <a:latin typeface="BlueakaBeta2GBK" panose="02000700000000000000" pitchFamily="2" charset="-122"/>
              <a:ea typeface="BlueakaBeta2GBK" panose="02000700000000000000" pitchFamily="2" charset="-122"/>
            </a:endParaRPr>
          </a:p>
        </p:txBody>
      </p:sp>
      <p:sp>
        <p:nvSpPr>
          <p:cNvPr id="30" name="AutoShape 30"/>
          <p:cNvSpPr/>
          <p:nvPr/>
        </p:nvSpPr>
        <p:spPr>
          <a:xfrm>
            <a:off x="6350000" y="4445000"/>
            <a:ext cx="50800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dirty="0">
                <a:solidFill>
                  <a:srgbClr val="065F46"/>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a:t>
            </a:r>
            <a:r>
              <a:rPr lang="en-US" sz="1500" b="1" i="0" u="none" strike="noStrike" dirty="0" err="1">
                <a:solidFill>
                  <a:srgbClr val="065F46"/>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路径生成逻辑示意（从起点S出发</a:t>
            </a:r>
            <a:r>
              <a:rPr lang="en-US" sz="1500" b="1" i="0" u="none" strike="noStrike" dirty="0">
                <a:solidFill>
                  <a:srgbClr val="065F46"/>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a:t>
            </a:r>
            <a:endParaRPr lang="en-US" sz="1100" dirty="0">
              <a:latin typeface="BlueakaBeta2GBK" panose="02000700000000000000" pitchFamily="2" charset="-122"/>
              <a:ea typeface="BlueakaBeta2GBK" panose="02000700000000000000" pitchFamily="2" charset="-122"/>
            </a:endParaRPr>
          </a:p>
        </p:txBody>
      </p:sp>
      <p:sp>
        <p:nvSpPr>
          <p:cNvPr id="31" name="AutoShape 31"/>
          <p:cNvSpPr/>
          <p:nvPr/>
        </p:nvSpPr>
        <p:spPr>
          <a:xfrm>
            <a:off x="6477000" y="5143500"/>
            <a:ext cx="381000" cy="381000"/>
          </a:xfrm>
          <a:prstGeom prst="ellipse">
            <a:avLst/>
          </a:prstGeom>
          <a:solidFill>
            <a:srgbClr val="EF4444">
              <a:alpha val="100000"/>
            </a:srgbClr>
          </a:solidFill>
          <a:ln w="25400" cap="flat" cmpd="sng">
            <a:noFill/>
            <a:prstDash val="solid"/>
            <a:round/>
          </a:ln>
        </p:spPr>
        <p:txBody>
          <a:bodyPr vert="horz" wrap="square" lIns="63500" tIns="63500" rIns="63500" bIns="63500" rtlCol="0" anchor="ctr"/>
          <a:lstStyle/>
          <a:p>
            <a:pPr algn="ctr">
              <a:defRPr/>
            </a:pPr>
            <a:endParaRPr dirty="0">
              <a:latin typeface="BlueakaBeta2GBK" panose="02000700000000000000" pitchFamily="2" charset="-122"/>
              <a:ea typeface="BlueakaBeta2GBK" panose="02000700000000000000" pitchFamily="2" charset="-122"/>
            </a:endParaRPr>
          </a:p>
        </p:txBody>
      </p:sp>
      <p:sp>
        <p:nvSpPr>
          <p:cNvPr id="32" name="AutoShape 32"/>
          <p:cNvSpPr/>
          <p:nvPr/>
        </p:nvSpPr>
        <p:spPr>
          <a:xfrm>
            <a:off x="6477000" y="5207000"/>
            <a:ext cx="381000" cy="254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200" b="0" i="0" u="none" strike="noStrike" dirty="0">
                <a:solidFill>
                  <a:srgbClr val="FFFFFF"/>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S</a:t>
            </a:r>
            <a:endParaRPr lang="en-US" sz="1100" dirty="0">
              <a:latin typeface="BlueakaBeta2GBK" panose="02000700000000000000" pitchFamily="2" charset="-122"/>
              <a:ea typeface="BlueakaBeta2GBK" panose="02000700000000000000" pitchFamily="2" charset="-122"/>
            </a:endParaRPr>
          </a:p>
        </p:txBody>
      </p:sp>
      <p:sp>
        <p:nvSpPr>
          <p:cNvPr id="33" name="AutoShape 33"/>
          <p:cNvSpPr/>
          <p:nvPr/>
        </p:nvSpPr>
        <p:spPr>
          <a:xfrm>
            <a:off x="7620000" y="5143500"/>
            <a:ext cx="381000" cy="381000"/>
          </a:xfrm>
          <a:prstGeom prst="ellipse">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endParaRPr dirty="0">
              <a:latin typeface="BlueakaBeta2GBK" panose="02000700000000000000" pitchFamily="2" charset="-122"/>
              <a:ea typeface="BlueakaBeta2GBK" panose="02000700000000000000" pitchFamily="2" charset="-122"/>
            </a:endParaRPr>
          </a:p>
        </p:txBody>
      </p:sp>
      <p:sp>
        <p:nvSpPr>
          <p:cNvPr id="34" name="AutoShape 34"/>
          <p:cNvSpPr/>
          <p:nvPr/>
        </p:nvSpPr>
        <p:spPr>
          <a:xfrm>
            <a:off x="7620000" y="5207000"/>
            <a:ext cx="381000" cy="254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200" b="0" i="0" u="none" strike="noStrike" dirty="0">
                <a:solidFill>
                  <a:srgbClr val="FFFFFF"/>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A</a:t>
            </a:r>
            <a:endParaRPr lang="en-US" sz="1100" dirty="0">
              <a:latin typeface="BlueakaBeta2GBK" panose="02000700000000000000" pitchFamily="2" charset="-122"/>
              <a:ea typeface="BlueakaBeta2GBK" panose="02000700000000000000" pitchFamily="2" charset="-122"/>
            </a:endParaRPr>
          </a:p>
        </p:txBody>
      </p:sp>
      <p:sp>
        <p:nvSpPr>
          <p:cNvPr id="35" name="AutoShape 35"/>
          <p:cNvSpPr/>
          <p:nvPr/>
        </p:nvSpPr>
        <p:spPr>
          <a:xfrm>
            <a:off x="9144000" y="5143500"/>
            <a:ext cx="381000" cy="381000"/>
          </a:xfrm>
          <a:prstGeom prst="ellipse">
            <a:avLst/>
          </a:prstGeom>
          <a:solidFill>
            <a:srgbClr val="9CA3AF">
              <a:alpha val="100000"/>
            </a:srgbClr>
          </a:solidFill>
          <a:ln w="25400" cap="flat" cmpd="sng">
            <a:noFill/>
            <a:prstDash val="solid"/>
            <a:round/>
          </a:ln>
        </p:spPr>
        <p:txBody>
          <a:bodyPr vert="horz" wrap="square" lIns="63500" tIns="63500" rIns="63500" bIns="63500" rtlCol="0" anchor="ctr"/>
          <a:lstStyle/>
          <a:p>
            <a:pPr algn="ctr">
              <a:defRPr/>
            </a:pPr>
            <a:endParaRPr dirty="0">
              <a:latin typeface="BlueakaBeta2GBK" panose="02000700000000000000" pitchFamily="2" charset="-122"/>
              <a:ea typeface="BlueakaBeta2GBK" panose="02000700000000000000" pitchFamily="2" charset="-122"/>
            </a:endParaRPr>
          </a:p>
        </p:txBody>
      </p:sp>
      <p:sp>
        <p:nvSpPr>
          <p:cNvPr id="36" name="AutoShape 36"/>
          <p:cNvSpPr/>
          <p:nvPr/>
        </p:nvSpPr>
        <p:spPr>
          <a:xfrm>
            <a:off x="9144000" y="5207000"/>
            <a:ext cx="381000" cy="254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200" b="0" i="0" u="none" strike="noStrike" dirty="0">
                <a:solidFill>
                  <a:srgbClr val="FFFFFF"/>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B</a:t>
            </a:r>
            <a:endParaRPr lang="en-US" sz="1100" dirty="0">
              <a:latin typeface="BlueakaBeta2GBK" panose="02000700000000000000" pitchFamily="2" charset="-122"/>
              <a:ea typeface="BlueakaBeta2GBK" panose="02000700000000000000" pitchFamily="2" charset="-122"/>
            </a:endParaRPr>
          </a:p>
        </p:txBody>
      </p:sp>
      <p:cxnSp>
        <p:nvCxnSpPr>
          <p:cNvPr id="37" name="Connector 37"/>
          <p:cNvCxnSpPr/>
          <p:nvPr/>
        </p:nvCxnSpPr>
        <p:spPr>
          <a:xfrm rot="-57290">
            <a:off x="6858053" y="5327650"/>
            <a:ext cx="762000" cy="12700"/>
          </a:xfrm>
          <a:prstGeom prst="straightConnector1">
            <a:avLst/>
          </a:prstGeom>
          <a:solidFill>
            <a:srgbClr val="DEE0E3">
              <a:alpha val="100000"/>
            </a:srgbClr>
          </a:solidFill>
          <a:ln w="25400" cap="flat" cmpd="sng">
            <a:solidFill>
              <a:srgbClr val="10B981">
                <a:alpha val="100000"/>
              </a:srgbClr>
            </a:solidFill>
            <a:prstDash val="solid"/>
            <a:round/>
            <a:headEnd type="none" w="lg" len="lg"/>
            <a:tailEnd type="arrow" w="sm" len="sm"/>
          </a:ln>
        </p:spPr>
      </p:cxnSp>
      <p:cxnSp>
        <p:nvCxnSpPr>
          <p:cNvPr id="38" name="Connector 38"/>
          <p:cNvCxnSpPr/>
          <p:nvPr/>
        </p:nvCxnSpPr>
        <p:spPr>
          <a:xfrm rot="-19098">
            <a:off x="6858018" y="5327650"/>
            <a:ext cx="2286000" cy="12700"/>
          </a:xfrm>
          <a:prstGeom prst="straightConnector1">
            <a:avLst/>
          </a:prstGeom>
          <a:solidFill>
            <a:srgbClr val="DEE0E3">
              <a:alpha val="100000"/>
            </a:srgbClr>
          </a:solidFill>
          <a:ln w="12700" cap="flat" cmpd="sng">
            <a:solidFill>
              <a:srgbClr val="D1D5DB">
                <a:alpha val="100000"/>
              </a:srgbClr>
            </a:solidFill>
            <a:prstDash val="dash"/>
            <a:round/>
            <a:headEnd type="none" w="med" len="med"/>
            <a:tailEnd type="none" w="med" len="med"/>
          </a:ln>
        </p:spPr>
      </p:cxnSp>
      <p:sp>
        <p:nvSpPr>
          <p:cNvPr id="39" name="AutoShape 39"/>
          <p:cNvSpPr/>
          <p:nvPr/>
        </p:nvSpPr>
        <p:spPr>
          <a:xfrm>
            <a:off x="9779000" y="5016500"/>
            <a:ext cx="1651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200" b="0" i="0" u="none" strike="noStrike" dirty="0" err="1">
                <a:solidFill>
                  <a:srgbClr val="374151"/>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优先选择距离最近的节点</a:t>
            </a:r>
            <a:r>
              <a:rPr lang="en-US" sz="1200" b="0" i="0" u="none" strike="noStrike" dirty="0">
                <a:solidFill>
                  <a:srgbClr val="374151"/>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(A)</a:t>
            </a:r>
            <a:r>
              <a:rPr lang="en-US" sz="1200" b="0" i="0" u="none" strike="noStrike" dirty="0" err="1">
                <a:solidFill>
                  <a:srgbClr val="374151"/>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作为下一站，而非较远的节点</a:t>
            </a:r>
            <a:r>
              <a:rPr lang="en-US" sz="1200" b="0" i="0" u="none" strike="noStrike" dirty="0">
                <a:solidFill>
                  <a:srgbClr val="374151"/>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(B)，</a:t>
            </a:r>
            <a:r>
              <a:rPr lang="en-US" sz="1200" b="0" i="0" u="none" strike="noStrike" dirty="0" err="1">
                <a:solidFill>
                  <a:srgbClr val="374151"/>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减少折返距离</a:t>
            </a:r>
            <a:r>
              <a:rPr lang="en-US" sz="1200" b="0" i="0" u="none" strike="noStrike" dirty="0">
                <a:solidFill>
                  <a:srgbClr val="374151"/>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a:t>
            </a:r>
            <a:endParaRPr lang="en-US" sz="1100" dirty="0">
              <a:latin typeface="BlueakaBeta2GBK" panose="02000700000000000000" pitchFamily="2" charset="-122"/>
              <a:ea typeface="BlueakaBeta2GBK" panose="02000700000000000000" pitchFamily="2"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9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9525000" y="4445000"/>
            <a:ext cx="3810000" cy="3810000"/>
          </a:xfrm>
          <a:prstGeom prst="ellipse">
            <a:avLst/>
          </a:prstGeom>
          <a:solidFill>
            <a:srgbClr val="3B82F6">
              <a:alpha val="5000"/>
            </a:srgbClr>
          </a:solidFill>
          <a:ln w="25400" cap="flat" cmpd="sng">
            <a:noFill/>
            <a:prstDash val="solid"/>
            <a:round/>
          </a:ln>
        </p:spPr>
        <p:txBody>
          <a:bodyPr vert="horz" wrap="square" lIns="63500" tIns="63500" rIns="63500" bIns="63500" rtlCol="0" anchor="ctr"/>
          <a:lstStyle/>
          <a:p>
            <a:pPr algn="ctr">
              <a:defRPr/>
            </a:pPr>
            <a:endParaRPr dirty="0">
              <a:latin typeface="BlueakaBeta2GBK" panose="02000700000000000000" pitchFamily="2" charset="-122"/>
              <a:ea typeface="BlueakaBeta2GBK" panose="02000700000000000000" pitchFamily="2" charset="-122"/>
            </a:endParaRPr>
          </a:p>
        </p:txBody>
      </p:sp>
      <p:sp>
        <p:nvSpPr>
          <p:cNvPr id="3" name="AutoShape 3"/>
          <p:cNvSpPr/>
          <p:nvPr/>
        </p:nvSpPr>
        <p:spPr>
          <a:xfrm>
            <a:off x="-635000" y="-635000"/>
            <a:ext cx="2540000" cy="2540000"/>
          </a:xfrm>
          <a:prstGeom prst="ellipse">
            <a:avLst/>
          </a:prstGeom>
          <a:solidFill>
            <a:srgbClr val="10B981">
              <a:alpha val="5000"/>
            </a:srgbClr>
          </a:solidFill>
          <a:ln w="25400" cap="flat" cmpd="sng">
            <a:noFill/>
            <a:prstDash val="solid"/>
            <a:round/>
          </a:ln>
        </p:spPr>
        <p:txBody>
          <a:bodyPr vert="horz" wrap="square" lIns="63500" tIns="63500" rIns="63500" bIns="63500" rtlCol="0" anchor="ctr"/>
          <a:lstStyle/>
          <a:p>
            <a:pPr algn="ctr">
              <a:defRPr/>
            </a:pPr>
            <a:endParaRPr dirty="0">
              <a:latin typeface="BlueakaBeta2GBK" panose="02000700000000000000" pitchFamily="2" charset="-122"/>
              <a:ea typeface="BlueakaBeta2GBK" panose="02000700000000000000" pitchFamily="2" charset="-122"/>
            </a:endParaRPr>
          </a:p>
        </p:txBody>
      </p:sp>
      <p:sp>
        <p:nvSpPr>
          <p:cNvPr id="4" name="AutoShape 4"/>
          <p:cNvSpPr/>
          <p:nvPr/>
        </p:nvSpPr>
        <p:spPr>
          <a:xfrm>
            <a:off x="508000" y="508000"/>
            <a:ext cx="11430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dirty="0" err="1">
                <a:solidFill>
                  <a:srgbClr val="1E3A8A"/>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五、核心算法</a:t>
            </a:r>
            <a:r>
              <a:rPr lang="en-US" sz="3200" b="1" i="0" u="none" strike="noStrike" dirty="0">
                <a:solidFill>
                  <a:srgbClr val="1E3A8A"/>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 - </a:t>
            </a:r>
            <a:r>
              <a:rPr lang="en-US" sz="3200" b="1" i="0" u="none" strike="noStrike" dirty="0" err="1">
                <a:solidFill>
                  <a:srgbClr val="1E3A8A"/>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Bresenham线段算法</a:t>
            </a:r>
            <a:endParaRPr lang="en-US" sz="1100" dirty="0">
              <a:latin typeface="BlueakaBeta2GBK" panose="02000700000000000000" pitchFamily="2" charset="-122"/>
              <a:ea typeface="BlueakaBeta2GBK" panose="02000700000000000000" pitchFamily="2" charset="-122"/>
            </a:endParaRPr>
          </a:p>
        </p:txBody>
      </p:sp>
      <p:sp>
        <p:nvSpPr>
          <p:cNvPr id="5" name="AutoShape 5"/>
          <p:cNvSpPr/>
          <p:nvPr/>
        </p:nvSpPr>
        <p:spPr>
          <a:xfrm>
            <a:off x="508000" y="1270000"/>
            <a:ext cx="11176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500" b="0" i="0" u="none" strike="noStrike" dirty="0">
                <a:solidFill>
                  <a:srgbClr val="4B5563"/>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该算法是字符网格地图渲染的基石，通过高效的整数运算逐点逼近，解决了离散网格中两点间直线的绘制问题，实现了景点间道路的平滑连通与差异化视觉表达。</a:t>
            </a:r>
            <a:endParaRPr lang="en-US" sz="1100" dirty="0">
              <a:latin typeface="BlueakaBeta2GBK" panose="02000700000000000000" pitchFamily="2" charset="-122"/>
              <a:ea typeface="BlueakaBeta2GBK" panose="02000700000000000000" pitchFamily="2" charset="-122"/>
            </a:endParaRPr>
          </a:p>
        </p:txBody>
      </p:sp>
      <p:sp>
        <p:nvSpPr>
          <p:cNvPr id="6" name="AutoShape 6"/>
          <p:cNvSpPr/>
          <p:nvPr/>
        </p:nvSpPr>
        <p:spPr>
          <a:xfrm>
            <a:off x="508000" y="2286000"/>
            <a:ext cx="5334000" cy="1841500"/>
          </a:xfrm>
          <a:prstGeom prst="roundRect">
            <a:avLst>
              <a:gd name="adj" fmla="val 0"/>
            </a:avLst>
          </a:prstGeom>
          <a:solidFill>
            <a:srgbClr val="EFF6FF">
              <a:alpha val="100000"/>
            </a:srgbClr>
          </a:solidFill>
          <a:ln w="12700" cap="flat" cmpd="sng">
            <a:solidFill>
              <a:srgbClr val="BFDBFE">
                <a:alpha val="100000"/>
              </a:srgbClr>
            </a:solidFill>
            <a:prstDash val="solid"/>
            <a:round/>
          </a:ln>
        </p:spPr>
        <p:txBody>
          <a:bodyPr vert="horz" wrap="square" lIns="63500" tIns="63500" rIns="63500" bIns="63500" rtlCol="0" anchor="ctr"/>
          <a:lstStyle/>
          <a:p>
            <a:pPr algn="ctr">
              <a:defRPr/>
            </a:pPr>
            <a:endParaRPr dirty="0">
              <a:latin typeface="BlueakaBeta2GBK" panose="02000700000000000000" pitchFamily="2" charset="-122"/>
              <a:ea typeface="BlueakaBeta2GBK" panose="02000700000000000000" pitchFamily="2" charset="-122"/>
            </a:endParaRPr>
          </a:p>
        </p:txBody>
      </p:sp>
      <p:pic>
        <p:nvPicPr>
          <p:cNvPr id="7" name="Picture 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62000" y="2514600"/>
            <a:ext cx="355600" cy="355600"/>
          </a:xfrm>
          <a:prstGeom prst="rect">
            <a:avLst/>
          </a:prstGeom>
        </p:spPr>
      </p:pic>
      <p:sp>
        <p:nvSpPr>
          <p:cNvPr id="8" name="AutoShape 8"/>
          <p:cNvSpPr/>
          <p:nvPr/>
        </p:nvSpPr>
        <p:spPr>
          <a:xfrm>
            <a:off x="1270000" y="2489200"/>
            <a:ext cx="431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dirty="0">
                <a:solidFill>
                  <a:srgbClr val="2563EB"/>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01 </a:t>
            </a:r>
            <a:r>
              <a:rPr lang="en-US" sz="1800" b="1" i="0" u="none" strike="noStrike" dirty="0" err="1">
                <a:solidFill>
                  <a:srgbClr val="2563EB"/>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普通道路分级渲染</a:t>
            </a:r>
            <a:endParaRPr lang="en-US" sz="1100" dirty="0">
              <a:latin typeface="BlueakaBeta2GBK" panose="02000700000000000000" pitchFamily="2" charset="-122"/>
              <a:ea typeface="BlueakaBeta2GBK" panose="02000700000000000000" pitchFamily="2" charset="-122"/>
            </a:endParaRPr>
          </a:p>
        </p:txBody>
      </p:sp>
      <p:sp>
        <p:nvSpPr>
          <p:cNvPr id="9" name="AutoShape 9"/>
          <p:cNvSpPr/>
          <p:nvPr/>
        </p:nvSpPr>
        <p:spPr>
          <a:xfrm>
            <a:off x="762000" y="2984500"/>
            <a:ext cx="4826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dirty="0" err="1">
                <a:solidFill>
                  <a:srgbClr val="374151"/>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基于字符的视觉区分度，构建多层次路网体系</a:t>
            </a:r>
            <a:r>
              <a:rPr lang="en-US" sz="1400" b="0" i="0" u="none" strike="noStrike" dirty="0">
                <a:solidFill>
                  <a:srgbClr val="374151"/>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a:t>
            </a:r>
            <a:br>
              <a:rPr lang="en-US" sz="1400" b="0" i="0" u="none" strike="noStrike" dirty="0">
                <a:solidFill>
                  <a:srgbClr val="1F2329"/>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br>
            <a:r>
              <a:rPr lang="en-US" sz="1400" b="0" i="0" u="none" strike="noStrike" dirty="0">
                <a:solidFill>
                  <a:srgbClr val="374151"/>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 </a:t>
            </a:r>
            <a:r>
              <a:rPr lang="en-US" sz="1400" b="0" i="0" u="none" strike="noStrike" dirty="0" err="1">
                <a:solidFill>
                  <a:srgbClr val="374151"/>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休闲步道：使用</a:t>
            </a:r>
            <a:r>
              <a:rPr lang="en-US" b="1" dirty="0">
                <a:solidFill>
                  <a:srgbClr val="2563EB"/>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 </a:t>
            </a:r>
            <a:r>
              <a:rPr lang="en-US" sz="1400" b="1" i="0" u="none" strike="noStrike" dirty="0">
                <a:solidFill>
                  <a:srgbClr val="2563EB"/>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 </a:t>
            </a:r>
            <a:r>
              <a:rPr lang="en-US" sz="1400" b="0" i="0" u="none" strike="noStrike" dirty="0" err="1">
                <a:solidFill>
                  <a:srgbClr val="374151"/>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轻量绘制，适配林间小径与慢行系统</a:t>
            </a:r>
            <a:r>
              <a:rPr lang="en-US" sz="1400" b="0" i="0" u="none" strike="noStrike" dirty="0">
                <a:solidFill>
                  <a:srgbClr val="374151"/>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a:t>
            </a:r>
            <a:br>
              <a:rPr lang="en-US" sz="1400" b="0" i="0" u="none" strike="noStrike" dirty="0">
                <a:solidFill>
                  <a:srgbClr val="1F2329"/>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br>
            <a:r>
              <a:rPr lang="en-US" sz="1400" b="0" i="0" u="none" strike="noStrike" dirty="0">
                <a:solidFill>
                  <a:srgbClr val="374151"/>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 </a:t>
            </a:r>
            <a:r>
              <a:rPr lang="en-US" sz="1400" b="0" i="0" u="none" strike="noStrike" dirty="0" err="1">
                <a:solidFill>
                  <a:srgbClr val="374151"/>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城市公路：使用</a:t>
            </a:r>
            <a:r>
              <a:rPr lang="en-US" b="1" dirty="0">
                <a:solidFill>
                  <a:srgbClr val="2563EB"/>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 </a:t>
            </a:r>
            <a:r>
              <a:rPr lang="en-US" sz="1400" b="1" i="0" u="none" strike="noStrike" dirty="0">
                <a:solidFill>
                  <a:srgbClr val="2563EB"/>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 </a:t>
            </a:r>
            <a:r>
              <a:rPr lang="en-US" sz="1400" b="0" i="0" u="none" strike="noStrike" dirty="0" err="1">
                <a:solidFill>
                  <a:srgbClr val="374151"/>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强化显示，凸显主干道的快速通行属性</a:t>
            </a:r>
            <a:r>
              <a:rPr lang="en-US" sz="1400" b="0" i="0" u="none" strike="noStrike" dirty="0">
                <a:solidFill>
                  <a:srgbClr val="374151"/>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a:t>
            </a:r>
            <a:endParaRPr lang="en-US" sz="1100" dirty="0">
              <a:latin typeface="BlueakaBeta2GBK" panose="02000700000000000000" pitchFamily="2" charset="-122"/>
              <a:ea typeface="BlueakaBeta2GBK" panose="02000700000000000000" pitchFamily="2" charset="-122"/>
            </a:endParaRPr>
          </a:p>
        </p:txBody>
      </p:sp>
      <p:sp>
        <p:nvSpPr>
          <p:cNvPr id="10" name="AutoShape 10"/>
          <p:cNvSpPr/>
          <p:nvPr/>
        </p:nvSpPr>
        <p:spPr>
          <a:xfrm>
            <a:off x="508000" y="4381500"/>
            <a:ext cx="5334000" cy="1841500"/>
          </a:xfrm>
          <a:prstGeom prst="roundRect">
            <a:avLst>
              <a:gd name="adj" fmla="val 0"/>
            </a:avLst>
          </a:prstGeom>
          <a:solidFill>
            <a:srgbClr val="ECFDF5">
              <a:alpha val="100000"/>
            </a:srgbClr>
          </a:solidFill>
          <a:ln w="12700" cap="flat" cmpd="sng">
            <a:solidFill>
              <a:srgbClr val="A7F3D0">
                <a:alpha val="100000"/>
              </a:srgbClr>
            </a:solidFill>
            <a:prstDash val="solid"/>
            <a:round/>
          </a:ln>
        </p:spPr>
        <p:txBody>
          <a:bodyPr vert="horz" wrap="square" lIns="63500" tIns="63500" rIns="63500" bIns="63500" rtlCol="0" anchor="ctr"/>
          <a:lstStyle/>
          <a:p>
            <a:pPr algn="ctr">
              <a:defRPr/>
            </a:pPr>
            <a:endParaRPr dirty="0">
              <a:latin typeface="BlueakaBeta2GBK" panose="02000700000000000000" pitchFamily="2" charset="-122"/>
              <a:ea typeface="BlueakaBeta2GBK" panose="02000700000000000000" pitchFamily="2" charset="-122"/>
            </a:endParaRPr>
          </a:p>
        </p:txBody>
      </p:sp>
      <p:pic>
        <p:nvPicPr>
          <p:cNvPr id="11" name="Picture 1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62000" y="4610100"/>
            <a:ext cx="355600" cy="355600"/>
          </a:xfrm>
          <a:prstGeom prst="rect">
            <a:avLst/>
          </a:prstGeom>
        </p:spPr>
      </p:pic>
      <p:sp>
        <p:nvSpPr>
          <p:cNvPr id="12" name="AutoShape 12"/>
          <p:cNvSpPr/>
          <p:nvPr/>
        </p:nvSpPr>
        <p:spPr>
          <a:xfrm>
            <a:off x="1270000" y="4584700"/>
            <a:ext cx="431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dirty="0">
                <a:solidFill>
                  <a:srgbClr val="10B981"/>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02 </a:t>
            </a:r>
            <a:r>
              <a:rPr lang="en-US" sz="1800" b="1" i="0" u="none" strike="noStrike" dirty="0" err="1">
                <a:solidFill>
                  <a:srgbClr val="10B981"/>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智能高亮路径导航</a:t>
            </a:r>
            <a:endParaRPr lang="en-US" sz="1100" dirty="0">
              <a:latin typeface="BlueakaBeta2GBK" panose="02000700000000000000" pitchFamily="2" charset="-122"/>
              <a:ea typeface="BlueakaBeta2GBK" panose="02000700000000000000" pitchFamily="2" charset="-122"/>
            </a:endParaRPr>
          </a:p>
        </p:txBody>
      </p:sp>
      <p:sp>
        <p:nvSpPr>
          <p:cNvPr id="13" name="AutoShape 13"/>
          <p:cNvSpPr/>
          <p:nvPr/>
        </p:nvSpPr>
        <p:spPr>
          <a:xfrm>
            <a:off x="762000" y="5080000"/>
            <a:ext cx="4826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dirty="0" err="1">
                <a:solidFill>
                  <a:srgbClr val="374151"/>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为用户规划路径提供强视觉引导</a:t>
            </a:r>
            <a:r>
              <a:rPr lang="en-US" sz="1400" b="0" i="0" u="none" strike="noStrike" dirty="0">
                <a:solidFill>
                  <a:srgbClr val="374151"/>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a:t>
            </a:r>
            <a:br>
              <a:rPr lang="en-US" sz="1400" b="0" i="0" u="none" strike="noStrike" dirty="0">
                <a:solidFill>
                  <a:srgbClr val="1F2329"/>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br>
            <a:r>
              <a:rPr lang="en-US" sz="1400" b="0" i="0" u="none" strike="noStrike" dirty="0">
                <a:solidFill>
                  <a:srgbClr val="374151"/>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 </a:t>
            </a:r>
            <a:r>
              <a:rPr lang="en-US" sz="1400" b="0" i="0" u="none" strike="noStrike" dirty="0" err="1">
                <a:solidFill>
                  <a:srgbClr val="374151"/>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导航路径：使用</a:t>
            </a:r>
            <a:r>
              <a:rPr lang="en-US" sz="1400" b="0" i="0" u="none" strike="noStrike" dirty="0">
                <a:solidFill>
                  <a:srgbClr val="374151"/>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 </a:t>
            </a:r>
            <a:r>
              <a:rPr lang="en-US" sz="1400" b="1" i="0" u="none" strike="noStrike" dirty="0">
                <a:solidFill>
                  <a:srgbClr val="10B981"/>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 </a:t>
            </a:r>
            <a:r>
              <a:rPr lang="en-US" sz="1400" b="0" i="0" u="none" strike="noStrike" dirty="0" err="1">
                <a:solidFill>
                  <a:srgbClr val="374151"/>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动态高亮，形成清晰的视觉追踪线</a:t>
            </a:r>
            <a:r>
              <a:rPr lang="en-US" sz="1400" b="0" i="0" u="none" strike="noStrike" dirty="0">
                <a:solidFill>
                  <a:srgbClr val="374151"/>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a:t>
            </a:r>
            <a:br>
              <a:rPr lang="en-US" sz="1400" b="0" i="0" u="none" strike="noStrike" dirty="0">
                <a:solidFill>
                  <a:srgbClr val="1F2329"/>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br>
            <a:r>
              <a:rPr lang="en-US" sz="1400" b="0" i="0" u="none" strike="noStrike" dirty="0">
                <a:solidFill>
                  <a:srgbClr val="374151"/>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 </a:t>
            </a:r>
            <a:r>
              <a:rPr lang="en-US" sz="1400" b="0" i="0" u="none" strike="noStrike" dirty="0" err="1">
                <a:solidFill>
                  <a:srgbClr val="374151"/>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自动避障：算法自动规避边框</a:t>
            </a:r>
            <a:r>
              <a:rPr lang="en-US" sz="1400" b="0" i="0" u="none" strike="noStrike" dirty="0">
                <a:solidFill>
                  <a:srgbClr val="374151"/>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 # )与景点格，防止关键信息遮挡。</a:t>
            </a:r>
            <a:endParaRPr lang="en-US" sz="1100" dirty="0">
              <a:latin typeface="BlueakaBeta2GBK" panose="02000700000000000000" pitchFamily="2" charset="-122"/>
              <a:ea typeface="BlueakaBeta2GBK" panose="02000700000000000000" pitchFamily="2" charset="-122"/>
            </a:endParaRPr>
          </a:p>
        </p:txBody>
      </p:sp>
      <p:sp>
        <p:nvSpPr>
          <p:cNvPr id="14" name="AutoShape 14"/>
          <p:cNvSpPr/>
          <p:nvPr/>
        </p:nvSpPr>
        <p:spPr>
          <a:xfrm>
            <a:off x="6096000" y="2286000"/>
            <a:ext cx="5588000" cy="1397000"/>
          </a:xfrm>
          <a:prstGeom prst="roundRect">
            <a:avLst>
              <a:gd name="adj" fmla="val 0"/>
            </a:avLst>
          </a:prstGeom>
          <a:solidFill>
            <a:srgbClr val="F3F4F6">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dirty="0">
              <a:latin typeface="BlueakaBeta2GBK" panose="02000700000000000000" pitchFamily="2" charset="-122"/>
              <a:ea typeface="BlueakaBeta2GBK" panose="02000700000000000000" pitchFamily="2" charset="-122"/>
            </a:endParaRPr>
          </a:p>
        </p:txBody>
      </p:sp>
      <p:sp>
        <p:nvSpPr>
          <p:cNvPr id="15" name="AutoShape 15"/>
          <p:cNvSpPr/>
          <p:nvPr/>
        </p:nvSpPr>
        <p:spPr>
          <a:xfrm>
            <a:off x="6286500" y="2413000"/>
            <a:ext cx="5334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dirty="0" err="1">
                <a:solidFill>
                  <a:srgbClr val="1F2937"/>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符号定义体系</a:t>
            </a:r>
            <a:endParaRPr lang="en-US" sz="1100" dirty="0">
              <a:latin typeface="BlueakaBeta2GBK" panose="02000700000000000000" pitchFamily="2" charset="-122"/>
              <a:ea typeface="BlueakaBeta2GBK" panose="02000700000000000000" pitchFamily="2" charset="-122"/>
            </a:endParaRPr>
          </a:p>
          <a:p>
            <a:pPr marL="0" indent="0" algn="l">
              <a:lnSpc>
                <a:spcPct val="125000"/>
              </a:lnSpc>
            </a:pPr>
            <a:r>
              <a:rPr lang="en-US" sz="1400" b="0" i="0" u="none" strike="noStrike" dirty="0">
                <a:solidFill>
                  <a:srgbClr val="4B5563"/>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  #  </a:t>
            </a:r>
            <a:r>
              <a:rPr lang="en-US" sz="1400" b="0" i="0" u="none" strike="noStrike" dirty="0" err="1">
                <a:solidFill>
                  <a:srgbClr val="4B5563"/>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边界墙</a:t>
            </a:r>
            <a:r>
              <a:rPr lang="en-US" sz="1400" b="0" i="0" u="none" strike="noStrike" dirty="0">
                <a:solidFill>
                  <a:srgbClr val="4B5563"/>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 |  1-9/a-z  </a:t>
            </a:r>
            <a:r>
              <a:rPr lang="en-US" sz="1400" b="0" i="0" u="none" strike="noStrike" dirty="0" err="1">
                <a:solidFill>
                  <a:srgbClr val="4B5563"/>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景点标记</a:t>
            </a:r>
            <a:r>
              <a:rPr lang="en-US" sz="1400" b="0" i="0" u="none" strike="noStrike" dirty="0">
                <a:solidFill>
                  <a:srgbClr val="4B5563"/>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 |  :  </a:t>
            </a:r>
            <a:r>
              <a:rPr lang="en-US" sz="1400" b="0" i="0" u="none" strike="noStrike" dirty="0" err="1">
                <a:solidFill>
                  <a:srgbClr val="4B5563"/>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公路干道</a:t>
            </a:r>
            <a:br>
              <a:rPr lang="en-US" sz="1600" b="0" i="0" u="none" strike="noStrike" dirty="0">
                <a:solidFill>
                  <a:srgbClr val="1F2329"/>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br>
            <a:r>
              <a:rPr lang="en-US" sz="1600" b="0" i="0" u="none" strike="noStrike" dirty="0">
                <a:solidFill>
                  <a:srgbClr val="1F2329"/>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  </a:t>
            </a:r>
            <a:r>
              <a:rPr lang="en-US" sz="1400" b="0" i="0" u="none" strike="noStrike" dirty="0">
                <a:solidFill>
                  <a:srgbClr val="4B5563"/>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  </a:t>
            </a:r>
            <a:r>
              <a:rPr lang="en-US" sz="1400" b="0" i="0" u="none" strike="noStrike" dirty="0" err="1">
                <a:solidFill>
                  <a:srgbClr val="4B5563"/>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导航路径</a:t>
            </a:r>
            <a:r>
              <a:rPr lang="en-US" sz="1400" b="0" i="0" u="none" strike="noStrike" dirty="0">
                <a:solidFill>
                  <a:srgbClr val="4B5563"/>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 |  .  </a:t>
            </a:r>
            <a:r>
              <a:rPr lang="en-US" sz="1400" b="0" i="0" u="none" strike="noStrike" dirty="0" err="1">
                <a:solidFill>
                  <a:srgbClr val="4B5563"/>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林间步道</a:t>
            </a:r>
            <a:endParaRPr lang="en-US" sz="1400" b="0" i="0" u="none" strike="noStrike" dirty="0">
              <a:solidFill>
                <a:srgbClr val="4B5563"/>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endParaRPr>
          </a:p>
        </p:txBody>
      </p:sp>
      <p:sp>
        <p:nvSpPr>
          <p:cNvPr id="16" name="AutoShape 16"/>
          <p:cNvSpPr/>
          <p:nvPr/>
        </p:nvSpPr>
        <p:spPr>
          <a:xfrm>
            <a:off x="6096000" y="3937000"/>
            <a:ext cx="5588000" cy="2765425"/>
          </a:xfrm>
          <a:prstGeom prst="roundRect">
            <a:avLst>
              <a:gd name="adj" fmla="val 0"/>
            </a:avLst>
          </a:prstGeom>
          <a:solidFill>
            <a:srgbClr val="1F2937">
              <a:alpha val="100000"/>
            </a:srgbClr>
          </a:solidFill>
          <a:ln w="25400" cap="flat" cmpd="sng">
            <a:solidFill>
              <a:srgbClr val="4B5563">
                <a:alpha val="100000"/>
              </a:srgbClr>
            </a:solidFill>
            <a:prstDash val="solid"/>
            <a:round/>
          </a:ln>
        </p:spPr>
        <p:txBody>
          <a:bodyPr vert="horz" wrap="square" lIns="63500" tIns="63500" rIns="63500" bIns="63500" rtlCol="0" anchor="ctr"/>
          <a:lstStyle/>
          <a:p>
            <a:pPr algn="ctr">
              <a:defRPr/>
            </a:pPr>
            <a:endParaRPr dirty="0">
              <a:latin typeface="BlueakaBeta2GBK" panose="02000700000000000000" pitchFamily="2" charset="-122"/>
              <a:ea typeface="BlueakaBeta2GBK" panose="02000700000000000000" pitchFamily="2" charset="-122"/>
            </a:endParaRPr>
          </a:p>
        </p:txBody>
      </p:sp>
      <p:sp>
        <p:nvSpPr>
          <p:cNvPr id="17" name="AutoShape 17"/>
          <p:cNvSpPr/>
          <p:nvPr/>
        </p:nvSpPr>
        <p:spPr>
          <a:xfrm>
            <a:off x="6223000" y="4381500"/>
            <a:ext cx="5334000" cy="1905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altLang="zh-CN" sz="1300" b="0" i="0" u="none" strike="noStrike" dirty="0">
                <a:solidFill>
                  <a:srgbClr val="9CA3AF"/>
                </a:solidFill>
                <a:latin typeface="BlueakaBeta2GBK" panose="02000700000000000000" pitchFamily="2" charset="-122"/>
                <a:ea typeface="BlueakaBeta2GBK" panose="02000700000000000000" pitchFamily="2" charset="-122"/>
                <a:cs typeface="Consolas" panose="020B0609020204030204"/>
                <a:sym typeface="Consolas" panose="020B0609020204030204"/>
              </a:rPr>
              <a:t>####################################################                                                       </a:t>
            </a:r>
          </a:p>
          <a:p>
            <a:pPr marL="0" indent="0" algn="l">
              <a:lnSpc>
                <a:spcPct val="100000"/>
              </a:lnSpc>
              <a:defRPr/>
            </a:pPr>
            <a:r>
              <a:rPr lang="en-US" altLang="zh-CN" sz="1300" b="0" i="0" u="none" strike="noStrike" dirty="0">
                <a:solidFill>
                  <a:srgbClr val="9CA3AF"/>
                </a:solidFill>
                <a:latin typeface="BlueakaBeta2GBK" panose="02000700000000000000" pitchFamily="2" charset="-122"/>
                <a:ea typeface="BlueakaBeta2GBK" panose="02000700000000000000" pitchFamily="2" charset="-122"/>
                <a:cs typeface="Consolas" panose="020B0609020204030204"/>
                <a:sym typeface="Consolas" panose="020B0609020204030204"/>
              </a:rPr>
              <a:t>#    </a:t>
            </a:r>
            <a:r>
              <a:rPr lang="en-US" altLang="zh-CN" sz="1300" dirty="0">
                <a:solidFill>
                  <a:srgbClr val="9CA3AF"/>
                </a:solidFill>
                <a:latin typeface="BlueakaBeta2GBK" panose="02000700000000000000" pitchFamily="2" charset="-122"/>
                <a:ea typeface="BlueakaBeta2GBK" panose="02000700000000000000" pitchFamily="2" charset="-122"/>
                <a:cs typeface="Consolas" panose="020B0609020204030204"/>
                <a:sym typeface="Consolas" panose="020B0609020204030204"/>
              </a:rPr>
              <a:t>                     </a:t>
            </a:r>
            <a:r>
              <a:rPr lang="en-US" altLang="zh-CN" sz="1300" b="0" i="0" u="none" strike="noStrike" dirty="0">
                <a:solidFill>
                  <a:srgbClr val="9CA3AF"/>
                </a:solidFill>
                <a:latin typeface="BlueakaBeta2GBK" panose="02000700000000000000" pitchFamily="2" charset="-122"/>
                <a:ea typeface="BlueakaBeta2GBK" panose="02000700000000000000" pitchFamily="2" charset="-122"/>
                <a:cs typeface="Consolas" panose="020B0609020204030204"/>
                <a:sym typeface="Consolas" panose="020B0609020204030204"/>
              </a:rPr>
              <a:t>                                         :8..                                      #</a:t>
            </a:r>
          </a:p>
          <a:p>
            <a:pPr marL="0" indent="0" algn="l">
              <a:lnSpc>
                <a:spcPct val="100000"/>
              </a:lnSpc>
              <a:defRPr/>
            </a:pPr>
            <a:r>
              <a:rPr lang="en-US" altLang="zh-CN" sz="1300" b="0" i="0" u="none" strike="noStrike" dirty="0">
                <a:solidFill>
                  <a:srgbClr val="9CA3AF"/>
                </a:solidFill>
                <a:latin typeface="BlueakaBeta2GBK" panose="02000700000000000000" pitchFamily="2" charset="-122"/>
                <a:ea typeface="BlueakaBeta2GBK" panose="02000700000000000000" pitchFamily="2" charset="-122"/>
                <a:cs typeface="Consolas" panose="020B0609020204030204"/>
                <a:sym typeface="Consolas" panose="020B0609020204030204"/>
              </a:rPr>
              <a:t>#    </a:t>
            </a:r>
            <a:r>
              <a:rPr lang="en-US" altLang="zh-CN" sz="1300" dirty="0">
                <a:solidFill>
                  <a:srgbClr val="9CA3AF"/>
                </a:solidFill>
                <a:latin typeface="BlueakaBeta2GBK" panose="02000700000000000000" pitchFamily="2" charset="-122"/>
                <a:ea typeface="BlueakaBeta2GBK" panose="02000700000000000000" pitchFamily="2" charset="-122"/>
                <a:cs typeface="Consolas" panose="020B0609020204030204"/>
                <a:sym typeface="Consolas" panose="020B0609020204030204"/>
              </a:rPr>
              <a:t>                     </a:t>
            </a:r>
            <a:r>
              <a:rPr lang="en-US" altLang="zh-CN" sz="1300" b="0" i="0" u="none" strike="noStrike" dirty="0">
                <a:solidFill>
                  <a:srgbClr val="9CA3AF"/>
                </a:solidFill>
                <a:latin typeface="BlueakaBeta2GBK" panose="02000700000000000000" pitchFamily="2" charset="-122"/>
                <a:ea typeface="BlueakaBeta2GBK" panose="02000700000000000000" pitchFamily="2" charset="-122"/>
                <a:cs typeface="Consolas" panose="020B0609020204030204"/>
                <a:sym typeface="Consolas" panose="020B0609020204030204"/>
              </a:rPr>
              <a:t>                                       ::     ....                                  #</a:t>
            </a:r>
          </a:p>
          <a:p>
            <a:pPr marL="0" indent="0" algn="l">
              <a:lnSpc>
                <a:spcPct val="100000"/>
              </a:lnSpc>
              <a:defRPr/>
            </a:pPr>
            <a:r>
              <a:rPr lang="en-US" altLang="zh-CN" sz="1300" b="0" i="0" u="none" strike="noStrike" dirty="0">
                <a:solidFill>
                  <a:srgbClr val="9CA3AF"/>
                </a:solidFill>
                <a:latin typeface="BlueakaBeta2GBK" panose="02000700000000000000" pitchFamily="2" charset="-122"/>
                <a:ea typeface="BlueakaBeta2GBK" panose="02000700000000000000" pitchFamily="2" charset="-122"/>
                <a:cs typeface="Consolas" panose="020B0609020204030204"/>
                <a:sym typeface="Consolas" panose="020B0609020204030204"/>
              </a:rPr>
              <a:t>#    </a:t>
            </a:r>
            <a:r>
              <a:rPr lang="en-US" altLang="zh-CN" sz="1300" dirty="0">
                <a:solidFill>
                  <a:srgbClr val="9CA3AF"/>
                </a:solidFill>
                <a:latin typeface="BlueakaBeta2GBK" panose="02000700000000000000" pitchFamily="2" charset="-122"/>
                <a:ea typeface="BlueakaBeta2GBK" panose="02000700000000000000" pitchFamily="2" charset="-122"/>
                <a:cs typeface="Consolas" panose="020B0609020204030204"/>
                <a:sym typeface="Consolas" panose="020B0609020204030204"/>
              </a:rPr>
              <a:t>                     </a:t>
            </a:r>
            <a:r>
              <a:rPr lang="en-US" altLang="zh-CN" sz="1300" b="0" i="0" u="none" strike="noStrike" dirty="0">
                <a:solidFill>
                  <a:srgbClr val="9CA3AF"/>
                </a:solidFill>
                <a:latin typeface="BlueakaBeta2GBK" panose="02000700000000000000" pitchFamily="2" charset="-122"/>
                <a:ea typeface="BlueakaBeta2GBK" panose="02000700000000000000" pitchFamily="2" charset="-122"/>
                <a:cs typeface="Consolas" panose="020B0609020204030204"/>
                <a:sym typeface="Consolas" panose="020B0609020204030204"/>
              </a:rPr>
              <a:t>                                      ::          .9                               #</a:t>
            </a:r>
          </a:p>
          <a:p>
            <a:pPr marL="0" indent="0" algn="l">
              <a:lnSpc>
                <a:spcPct val="100000"/>
              </a:lnSpc>
              <a:defRPr/>
            </a:pPr>
            <a:r>
              <a:rPr lang="en-US" altLang="zh-CN" sz="1300" b="0" i="0" u="none" strike="noStrike" dirty="0">
                <a:solidFill>
                  <a:srgbClr val="9CA3AF"/>
                </a:solidFill>
                <a:latin typeface="BlueakaBeta2GBK" panose="02000700000000000000" pitchFamily="2" charset="-122"/>
                <a:ea typeface="BlueakaBeta2GBK" panose="02000700000000000000" pitchFamily="2" charset="-122"/>
                <a:cs typeface="Consolas" panose="020B0609020204030204"/>
                <a:sym typeface="Consolas" panose="020B0609020204030204"/>
              </a:rPr>
              <a:t>#</a:t>
            </a:r>
            <a:r>
              <a:rPr lang="en-US" altLang="zh-CN" sz="1300" dirty="0">
                <a:solidFill>
                  <a:srgbClr val="9CA3AF"/>
                </a:solidFill>
                <a:latin typeface="BlueakaBeta2GBK" panose="02000700000000000000" pitchFamily="2" charset="-122"/>
                <a:ea typeface="BlueakaBeta2GBK" panose="02000700000000000000" pitchFamily="2" charset="-122"/>
                <a:cs typeface="Consolas" panose="020B0609020204030204"/>
                <a:sym typeface="Consolas" panose="020B0609020204030204"/>
              </a:rPr>
              <a:t>                     </a:t>
            </a:r>
            <a:r>
              <a:rPr lang="en-US" altLang="zh-CN" sz="1300" b="0" i="0" u="none" strike="noStrike" dirty="0">
                <a:solidFill>
                  <a:srgbClr val="9CA3AF"/>
                </a:solidFill>
                <a:latin typeface="BlueakaBeta2GBK" panose="02000700000000000000" pitchFamily="2" charset="-122"/>
                <a:ea typeface="BlueakaBeta2GBK" panose="02000700000000000000" pitchFamily="2" charset="-122"/>
                <a:cs typeface="Consolas" panose="020B0609020204030204"/>
                <a:sym typeface="Consolas" panose="020B0609020204030204"/>
              </a:rPr>
              <a:t>             :5.....                   ::             *                               #</a:t>
            </a:r>
          </a:p>
          <a:p>
            <a:pPr marL="0" indent="0" algn="l">
              <a:lnSpc>
                <a:spcPct val="100000"/>
              </a:lnSpc>
              <a:defRPr/>
            </a:pPr>
            <a:r>
              <a:rPr lang="en-US" altLang="zh-CN" sz="1300" b="0" i="0" u="none" strike="noStrike" dirty="0">
                <a:solidFill>
                  <a:srgbClr val="9CA3AF"/>
                </a:solidFill>
                <a:latin typeface="BlueakaBeta2GBK" panose="02000700000000000000" pitchFamily="2" charset="-122"/>
                <a:ea typeface="BlueakaBeta2GBK" panose="02000700000000000000" pitchFamily="2" charset="-122"/>
                <a:cs typeface="Consolas" panose="020B0609020204030204"/>
                <a:sym typeface="Consolas" panose="020B0609020204030204"/>
              </a:rPr>
              <a:t>#  </a:t>
            </a:r>
            <a:r>
              <a:rPr lang="en-US" altLang="zh-CN" sz="1300" dirty="0">
                <a:solidFill>
                  <a:srgbClr val="9CA3AF"/>
                </a:solidFill>
                <a:latin typeface="BlueakaBeta2GBK" panose="02000700000000000000" pitchFamily="2" charset="-122"/>
                <a:ea typeface="BlueakaBeta2GBK" panose="02000700000000000000" pitchFamily="2" charset="-122"/>
                <a:cs typeface="Consolas" panose="020B0609020204030204"/>
                <a:sym typeface="Consolas" panose="020B0609020204030204"/>
              </a:rPr>
              <a:t>                     </a:t>
            </a:r>
            <a:r>
              <a:rPr lang="en-US" altLang="zh-CN" sz="1300" b="0" i="0" u="none" strike="noStrike" dirty="0">
                <a:solidFill>
                  <a:srgbClr val="9CA3AF"/>
                </a:solidFill>
                <a:latin typeface="BlueakaBeta2GBK" panose="02000700000000000000" pitchFamily="2" charset="-122"/>
                <a:ea typeface="BlueakaBeta2GBK" panose="02000700000000000000" pitchFamily="2" charset="-122"/>
                <a:cs typeface="Consolas" panose="020B0609020204030204"/>
                <a:sym typeface="Consolas" panose="020B0609020204030204"/>
              </a:rPr>
              <a:t>         ::  .     .....6.....      ::              *                              #</a:t>
            </a:r>
          </a:p>
          <a:p>
            <a:pPr marL="0" indent="0" algn="l">
              <a:lnSpc>
                <a:spcPct val="100000"/>
              </a:lnSpc>
              <a:defRPr/>
            </a:pPr>
            <a:r>
              <a:rPr lang="en-US" altLang="zh-CN" sz="1300" b="0" i="0" u="none" strike="noStrike" dirty="0">
                <a:solidFill>
                  <a:srgbClr val="9CA3AF"/>
                </a:solidFill>
                <a:latin typeface="BlueakaBeta2GBK" panose="02000700000000000000" pitchFamily="2" charset="-122"/>
                <a:ea typeface="BlueakaBeta2GBK" panose="02000700000000000000" pitchFamily="2" charset="-122"/>
                <a:cs typeface="Consolas" panose="020B0609020204030204"/>
                <a:sym typeface="Consolas" panose="020B0609020204030204"/>
              </a:rPr>
              <a:t>#  </a:t>
            </a:r>
            <a:r>
              <a:rPr lang="en-US" altLang="zh-CN" sz="1300" dirty="0">
                <a:solidFill>
                  <a:srgbClr val="9CA3AF"/>
                </a:solidFill>
                <a:latin typeface="BlueakaBeta2GBK" panose="02000700000000000000" pitchFamily="2" charset="-122"/>
                <a:ea typeface="BlueakaBeta2GBK" panose="02000700000000000000" pitchFamily="2" charset="-122"/>
                <a:cs typeface="Consolas" panose="020B0609020204030204"/>
                <a:sym typeface="Consolas" panose="020B0609020204030204"/>
              </a:rPr>
              <a:t>                     </a:t>
            </a:r>
            <a:r>
              <a:rPr lang="en-US" altLang="zh-CN" sz="1300" b="0" i="0" u="none" strike="noStrike" dirty="0">
                <a:solidFill>
                  <a:srgbClr val="9CA3AF"/>
                </a:solidFill>
                <a:latin typeface="BlueakaBeta2GBK" panose="02000700000000000000" pitchFamily="2" charset="-122"/>
                <a:ea typeface="BlueakaBeta2GBK" panose="02000700000000000000" pitchFamily="2" charset="-122"/>
                <a:cs typeface="Consolas" panose="020B0609020204030204"/>
                <a:sym typeface="Consolas" panose="020B0609020204030204"/>
              </a:rPr>
              <a:t>       ::    .          .     ....7:                *                              #</a:t>
            </a:r>
          </a:p>
          <a:p>
            <a:pPr marL="0" indent="0" algn="l">
              <a:lnSpc>
                <a:spcPct val="100000"/>
              </a:lnSpc>
              <a:defRPr/>
            </a:pPr>
            <a:r>
              <a:rPr lang="en-US" altLang="zh-CN" sz="1300" b="0" i="0" u="none" strike="noStrike" dirty="0">
                <a:solidFill>
                  <a:srgbClr val="9CA3AF"/>
                </a:solidFill>
                <a:latin typeface="BlueakaBeta2GBK" panose="02000700000000000000" pitchFamily="2" charset="-122"/>
                <a:ea typeface="BlueakaBeta2GBK" panose="02000700000000000000" pitchFamily="2" charset="-122"/>
                <a:cs typeface="Consolas" panose="020B0609020204030204"/>
                <a:sym typeface="Consolas" panose="020B0609020204030204"/>
              </a:rPr>
              <a:t># </a:t>
            </a:r>
            <a:r>
              <a:rPr lang="en-US" altLang="zh-CN" sz="1300" dirty="0">
                <a:solidFill>
                  <a:srgbClr val="9CA3AF"/>
                </a:solidFill>
                <a:latin typeface="BlueakaBeta2GBK" panose="02000700000000000000" pitchFamily="2" charset="-122"/>
                <a:ea typeface="BlueakaBeta2GBK" panose="02000700000000000000" pitchFamily="2" charset="-122"/>
                <a:cs typeface="Consolas" panose="020B0609020204030204"/>
                <a:sym typeface="Consolas" panose="020B0609020204030204"/>
              </a:rPr>
              <a:t>                     </a:t>
            </a:r>
            <a:r>
              <a:rPr lang="en-US" altLang="zh-CN" sz="1300" b="0" i="0" u="none" strike="noStrike" dirty="0">
                <a:solidFill>
                  <a:srgbClr val="9CA3AF"/>
                </a:solidFill>
                <a:latin typeface="BlueakaBeta2GBK" panose="02000700000000000000" pitchFamily="2" charset="-122"/>
                <a:ea typeface="BlueakaBeta2GBK" panose="02000700000000000000" pitchFamily="2" charset="-122"/>
                <a:cs typeface="Consolas" panose="020B0609020204030204"/>
                <a:sym typeface="Consolas" panose="020B0609020204030204"/>
              </a:rPr>
              <a:t>      ::      .         .          .                  *                               #</a:t>
            </a:r>
          </a:p>
          <a:p>
            <a:pPr marL="0" indent="0" algn="l">
              <a:lnSpc>
                <a:spcPct val="100000"/>
              </a:lnSpc>
              <a:defRPr/>
            </a:pPr>
            <a:r>
              <a:rPr lang="en-US" altLang="zh-CN" sz="1300" b="0" i="0" u="none" strike="noStrike" dirty="0">
                <a:solidFill>
                  <a:srgbClr val="9CA3AF"/>
                </a:solidFill>
                <a:latin typeface="BlueakaBeta2GBK" panose="02000700000000000000" pitchFamily="2" charset="-122"/>
                <a:ea typeface="BlueakaBeta2GBK" panose="02000700000000000000" pitchFamily="2" charset="-122"/>
                <a:cs typeface="Consolas" panose="020B0609020204030204"/>
                <a:sym typeface="Consolas" panose="020B0609020204030204"/>
              </a:rPr>
              <a:t># </a:t>
            </a:r>
            <a:r>
              <a:rPr lang="en-US" altLang="zh-CN" sz="1300" dirty="0">
                <a:solidFill>
                  <a:srgbClr val="9CA3AF"/>
                </a:solidFill>
                <a:latin typeface="BlueakaBeta2GBK" panose="02000700000000000000" pitchFamily="2" charset="-122"/>
                <a:ea typeface="BlueakaBeta2GBK" panose="02000700000000000000" pitchFamily="2" charset="-122"/>
                <a:cs typeface="Consolas" panose="020B0609020204030204"/>
                <a:sym typeface="Consolas" panose="020B0609020204030204"/>
              </a:rPr>
              <a:t>                     </a:t>
            </a:r>
            <a:r>
              <a:rPr lang="en-US" altLang="zh-CN" sz="1300" b="0" i="0" u="none" strike="noStrike" dirty="0">
                <a:solidFill>
                  <a:srgbClr val="9CA3AF"/>
                </a:solidFill>
                <a:latin typeface="BlueakaBeta2GBK" panose="02000700000000000000" pitchFamily="2" charset="-122"/>
                <a:ea typeface="BlueakaBeta2GBK" panose="02000700000000000000" pitchFamily="2" charset="-122"/>
                <a:cs typeface="Consolas" panose="020B0609020204030204"/>
                <a:sym typeface="Consolas" panose="020B0609020204030204"/>
              </a:rPr>
              <a:t>    ::       .         .          .                   *                               #</a:t>
            </a:r>
          </a:p>
          <a:p>
            <a:pPr marL="0" indent="0" algn="l">
              <a:lnSpc>
                <a:spcPct val="100000"/>
              </a:lnSpc>
              <a:defRPr/>
            </a:pPr>
            <a:r>
              <a:rPr lang="en-US" altLang="zh-CN" sz="1300" b="0" i="0" u="none" strike="noStrike" dirty="0">
                <a:solidFill>
                  <a:srgbClr val="9CA3AF"/>
                </a:solidFill>
                <a:latin typeface="BlueakaBeta2GBK" panose="02000700000000000000" pitchFamily="2" charset="-122"/>
                <a:ea typeface="BlueakaBeta2GBK" panose="02000700000000000000" pitchFamily="2" charset="-122"/>
                <a:cs typeface="Consolas" panose="020B0609020204030204"/>
                <a:sym typeface="Consolas" panose="020B0609020204030204"/>
              </a:rPr>
              <a:t>#  </a:t>
            </a:r>
            <a:r>
              <a:rPr lang="en-US" altLang="zh-CN" sz="1300" dirty="0">
                <a:solidFill>
                  <a:srgbClr val="9CA3AF"/>
                </a:solidFill>
                <a:latin typeface="BlueakaBeta2GBK" panose="02000700000000000000" pitchFamily="2" charset="-122"/>
                <a:ea typeface="BlueakaBeta2GBK" panose="02000700000000000000" pitchFamily="2" charset="-122"/>
                <a:cs typeface="Consolas" panose="020B0609020204030204"/>
                <a:sym typeface="Consolas" panose="020B0609020204030204"/>
              </a:rPr>
              <a:t>                     </a:t>
            </a:r>
            <a:r>
              <a:rPr lang="en-US" altLang="zh-CN" sz="1300" b="0" i="0" u="none" strike="noStrike" dirty="0">
                <a:solidFill>
                  <a:srgbClr val="9CA3AF"/>
                </a:solidFill>
                <a:latin typeface="BlueakaBeta2GBK" panose="02000700000000000000" pitchFamily="2" charset="-122"/>
                <a:ea typeface="BlueakaBeta2GBK" panose="02000700000000000000" pitchFamily="2" charset="-122"/>
                <a:cs typeface="Consolas" panose="020B0609020204030204"/>
                <a:sym typeface="Consolas" panose="020B0609020204030204"/>
              </a:rPr>
              <a:t>  :        .     ....3...       .                   *                              #</a:t>
            </a:r>
          </a:p>
          <a:p>
            <a:pPr marL="0" indent="0" algn="l">
              <a:lnSpc>
                <a:spcPct val="100000"/>
              </a:lnSpc>
              <a:defRPr/>
            </a:pPr>
            <a:r>
              <a:rPr lang="en-US" altLang="zh-CN" sz="1300" b="0" i="0" u="none" strike="noStrike" dirty="0">
                <a:solidFill>
                  <a:srgbClr val="9CA3AF"/>
                </a:solidFill>
                <a:latin typeface="BlueakaBeta2GBK" panose="02000700000000000000" pitchFamily="2" charset="-122"/>
                <a:ea typeface="BlueakaBeta2GBK" panose="02000700000000000000" pitchFamily="2" charset="-122"/>
                <a:cs typeface="Consolas" panose="020B0609020204030204"/>
                <a:sym typeface="Consolas" panose="020B0609020204030204"/>
              </a:rPr>
              <a:t># </a:t>
            </a:r>
            <a:r>
              <a:rPr lang="en-US" altLang="zh-CN" sz="1300" dirty="0">
                <a:solidFill>
                  <a:srgbClr val="9CA3AF"/>
                </a:solidFill>
                <a:latin typeface="BlueakaBeta2GBK" panose="02000700000000000000" pitchFamily="2" charset="-122"/>
                <a:ea typeface="BlueakaBeta2GBK" panose="02000700000000000000" pitchFamily="2" charset="-122"/>
                <a:cs typeface="Consolas" panose="020B0609020204030204"/>
                <a:sym typeface="Consolas" panose="020B0609020204030204"/>
              </a:rPr>
              <a:t>                     </a:t>
            </a:r>
            <a:r>
              <a:rPr lang="en-US" altLang="zh-CN" sz="1300" b="0" i="0" u="none" strike="noStrike" dirty="0">
                <a:solidFill>
                  <a:srgbClr val="9CA3AF"/>
                </a:solidFill>
                <a:latin typeface="BlueakaBeta2GBK" panose="02000700000000000000" pitchFamily="2" charset="-122"/>
                <a:ea typeface="BlueakaBeta2GBK" panose="02000700000000000000" pitchFamily="2" charset="-122"/>
                <a:cs typeface="Consolas" panose="020B0609020204030204"/>
                <a:sym typeface="Consolas" panose="020B0609020204030204"/>
              </a:rPr>
              <a:t>  1.......2.....        ....  .          .........a                               #</a:t>
            </a:r>
          </a:p>
          <a:p>
            <a:pPr marL="0" indent="0" algn="l">
              <a:lnSpc>
                <a:spcPct val="100000"/>
              </a:lnSpc>
              <a:defRPr/>
            </a:pPr>
            <a:r>
              <a:rPr lang="en-US" altLang="zh-CN" sz="1300" b="0" i="0" u="none" strike="noStrike" dirty="0">
                <a:solidFill>
                  <a:srgbClr val="9CA3AF"/>
                </a:solidFill>
                <a:latin typeface="BlueakaBeta2GBK" panose="02000700000000000000" pitchFamily="2" charset="-122"/>
                <a:ea typeface="BlueakaBeta2GBK" panose="02000700000000000000" pitchFamily="2" charset="-122"/>
                <a:cs typeface="Consolas" panose="020B0609020204030204"/>
                <a:sym typeface="Consolas" panose="020B0609020204030204"/>
              </a:rPr>
              <a:t># </a:t>
            </a:r>
            <a:r>
              <a:rPr lang="en-US" altLang="zh-CN" sz="1300" dirty="0">
                <a:solidFill>
                  <a:srgbClr val="9CA3AF"/>
                </a:solidFill>
                <a:latin typeface="BlueakaBeta2GBK" panose="02000700000000000000" pitchFamily="2" charset="-122"/>
                <a:ea typeface="BlueakaBeta2GBK" panose="02000700000000000000" pitchFamily="2" charset="-122"/>
                <a:cs typeface="Consolas" panose="020B0609020204030204"/>
                <a:sym typeface="Consolas" panose="020B0609020204030204"/>
              </a:rPr>
              <a:t>                     </a:t>
            </a:r>
            <a:r>
              <a:rPr lang="en-US" altLang="zh-CN" sz="1300" b="0" i="0" u="none" strike="noStrike" dirty="0">
                <a:solidFill>
                  <a:srgbClr val="9CA3AF"/>
                </a:solidFill>
                <a:latin typeface="BlueakaBeta2GBK" panose="02000700000000000000" pitchFamily="2" charset="-122"/>
                <a:ea typeface="BlueakaBeta2GBK" panose="02000700000000000000" pitchFamily="2" charset="-122"/>
                <a:cs typeface="Consolas" panose="020B0609020204030204"/>
                <a:sym typeface="Consolas" panose="020B0609020204030204"/>
              </a:rPr>
              <a:t>                               .4..........                                          #</a:t>
            </a:r>
          </a:p>
          <a:p>
            <a:pPr marL="0" indent="0" algn="l">
              <a:lnSpc>
                <a:spcPct val="100000"/>
              </a:lnSpc>
              <a:defRPr/>
            </a:pPr>
            <a:r>
              <a:rPr lang="en-US" altLang="zh-CN" sz="1300" b="0" i="0" u="none" strike="noStrike" dirty="0">
                <a:solidFill>
                  <a:srgbClr val="9CA3AF"/>
                </a:solidFill>
                <a:latin typeface="BlueakaBeta2GBK" panose="02000700000000000000" pitchFamily="2" charset="-122"/>
                <a:ea typeface="BlueakaBeta2GBK" panose="02000700000000000000" pitchFamily="2" charset="-122"/>
                <a:cs typeface="Consolas" panose="020B0609020204030204"/>
                <a:sym typeface="Consolas" panose="020B0609020204030204"/>
              </a:rPr>
              <a: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rotWithShape="1">
          <a:gsLst>
            <a:gs pos="0">
              <a:srgbClr val="F8FAFC">
                <a:alpha val="100000"/>
              </a:srgbClr>
            </a:gs>
            <a:gs pos="100000">
              <a:srgbClr val="F1F5F9">
                <a:alpha val="100000"/>
              </a:srgbClr>
            </a:gs>
          </a:gsLst>
          <a:lin ang="2700000"/>
        </a:gradFill>
        <a:effectLst/>
      </p:bgPr>
    </p:bg>
    <p:spTree>
      <p:nvGrpSpPr>
        <p:cNvPr id="1" name=""/>
        <p:cNvGrpSpPr/>
        <p:nvPr/>
      </p:nvGrpSpPr>
      <p:grpSpPr>
        <a:xfrm>
          <a:off x="0" y="0"/>
          <a:ext cx="0" cy="0"/>
          <a:chOff x="0" y="0"/>
          <a:chExt cx="0" cy="0"/>
        </a:xfrm>
      </p:grpSpPr>
      <p:sp>
        <p:nvSpPr>
          <p:cNvPr id="2" name="AutoShape 2"/>
          <p:cNvSpPr/>
          <p:nvPr/>
        </p:nvSpPr>
        <p:spPr>
          <a:xfrm>
            <a:off x="9525000" y="-1270000"/>
            <a:ext cx="3810000" cy="3810000"/>
          </a:xfrm>
          <a:prstGeom prst="ellipse">
            <a:avLst/>
          </a:prstGeom>
          <a:solidFill>
            <a:srgbClr val="3B82F6">
              <a:alpha val="5000"/>
            </a:srgbClr>
          </a:solidFill>
          <a:ln w="25400" cap="flat" cmpd="sng">
            <a:noFill/>
            <a:prstDash val="solid"/>
            <a:round/>
          </a:ln>
        </p:spPr>
        <p:txBody>
          <a:bodyPr vert="horz" wrap="square" lIns="63500" tIns="63500" rIns="63500" bIns="63500" rtlCol="0" anchor="ctr"/>
          <a:lstStyle/>
          <a:p>
            <a:pPr algn="ctr">
              <a:defRPr/>
            </a:pPr>
            <a:endParaRPr dirty="0">
              <a:latin typeface="BlueakaBeta2GBK" panose="02000700000000000000" pitchFamily="2" charset="-122"/>
              <a:ea typeface="BlueakaBeta2GBK" panose="02000700000000000000" pitchFamily="2" charset="-122"/>
            </a:endParaRPr>
          </a:p>
        </p:txBody>
      </p:sp>
      <p:sp>
        <p:nvSpPr>
          <p:cNvPr id="3" name="AutoShape 3"/>
          <p:cNvSpPr/>
          <p:nvPr/>
        </p:nvSpPr>
        <p:spPr>
          <a:xfrm>
            <a:off x="-635000" y="5080000"/>
            <a:ext cx="2540000" cy="2540000"/>
          </a:xfrm>
          <a:prstGeom prst="ellipse">
            <a:avLst/>
          </a:prstGeom>
          <a:solidFill>
            <a:srgbClr val="10B981">
              <a:alpha val="5000"/>
            </a:srgbClr>
          </a:solidFill>
          <a:ln w="25400" cap="flat" cmpd="sng">
            <a:noFill/>
            <a:prstDash val="solid"/>
            <a:round/>
          </a:ln>
        </p:spPr>
        <p:txBody>
          <a:bodyPr vert="horz" wrap="square" lIns="63500" tIns="63500" rIns="63500" bIns="63500" rtlCol="0" anchor="ctr"/>
          <a:lstStyle/>
          <a:p>
            <a:pPr algn="ctr">
              <a:defRPr/>
            </a:pPr>
            <a:endParaRPr dirty="0">
              <a:latin typeface="BlueakaBeta2GBK" panose="02000700000000000000" pitchFamily="2" charset="-122"/>
              <a:ea typeface="BlueakaBeta2GBK" panose="02000700000000000000" pitchFamily="2" charset="-122"/>
            </a:endParaRPr>
          </a:p>
        </p:txBody>
      </p:sp>
      <p:sp>
        <p:nvSpPr>
          <p:cNvPr id="4" name="AutoShape 4"/>
          <p:cNvSpPr/>
          <p:nvPr/>
        </p:nvSpPr>
        <p:spPr>
          <a:xfrm>
            <a:off x="508000" y="508000"/>
            <a:ext cx="11176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dirty="0" err="1">
                <a:solidFill>
                  <a:srgbClr val="0F172A"/>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六、技术亮点</a:t>
            </a:r>
            <a:endParaRPr lang="en-US" sz="1100" dirty="0">
              <a:latin typeface="BlueakaBeta2GBK" panose="02000700000000000000" pitchFamily="2" charset="-122"/>
              <a:ea typeface="BlueakaBeta2GBK" panose="02000700000000000000" pitchFamily="2" charset="-122"/>
            </a:endParaRPr>
          </a:p>
        </p:txBody>
      </p:sp>
      <p:sp>
        <p:nvSpPr>
          <p:cNvPr id="5" name="AutoShape 5"/>
          <p:cNvSpPr/>
          <p:nvPr/>
        </p:nvSpPr>
        <p:spPr>
          <a:xfrm>
            <a:off x="508000" y="1397000"/>
            <a:ext cx="11176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0" i="0" u="none" strike="noStrike" dirty="0" err="1">
                <a:solidFill>
                  <a:srgbClr val="64748B"/>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深入核心架构设计，展现系统底层的技术巧思与工程优化，从可视化交互到底层数据处理的全方位突破</a:t>
            </a:r>
            <a:r>
              <a:rPr lang="en-US" sz="1600" b="0" i="0" u="none" strike="noStrike" dirty="0">
                <a:solidFill>
                  <a:srgbClr val="64748B"/>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a:t>
            </a:r>
            <a:endParaRPr lang="en-US" sz="1100" dirty="0">
              <a:latin typeface="BlueakaBeta2GBK" panose="02000700000000000000" pitchFamily="2" charset="-122"/>
              <a:ea typeface="BlueakaBeta2GBK" panose="02000700000000000000" pitchFamily="2" charset="-122"/>
            </a:endParaRPr>
          </a:p>
        </p:txBody>
      </p:sp>
      <p:sp>
        <p:nvSpPr>
          <p:cNvPr id="6" name="AutoShape 6"/>
          <p:cNvSpPr/>
          <p:nvPr>
            <p:custDataLst>
              <p:tags r:id="rId1"/>
            </p:custDataLst>
          </p:nvPr>
        </p:nvSpPr>
        <p:spPr>
          <a:xfrm>
            <a:off x="508000" y="2286000"/>
            <a:ext cx="3556000" cy="3931920"/>
          </a:xfrm>
          <a:prstGeom prst="roundRect">
            <a:avLst>
              <a:gd name="adj" fmla="val 0"/>
            </a:avLst>
          </a:prstGeom>
          <a:solidFill>
            <a:srgbClr val="3B82F6">
              <a:alpha val="6000"/>
            </a:srgbClr>
          </a:solidFill>
          <a:ln w="12700" cap="flat" cmpd="sng">
            <a:solidFill>
              <a:srgbClr val="3B82F6">
                <a:alpha val="30000"/>
              </a:srgbClr>
            </a:solidFill>
            <a:prstDash val="solid"/>
            <a:round/>
          </a:ln>
        </p:spPr>
        <p:txBody>
          <a:bodyPr vert="horz" wrap="square" lIns="63500" tIns="63500" rIns="63500" bIns="63500" rtlCol="0" anchor="ctr"/>
          <a:lstStyle/>
          <a:p>
            <a:pPr algn="ctr">
              <a:defRPr/>
            </a:pPr>
            <a:endParaRPr dirty="0">
              <a:latin typeface="BlueakaBeta2GBK" panose="02000700000000000000" pitchFamily="2" charset="-122"/>
              <a:ea typeface="BlueakaBeta2GBK" panose="02000700000000000000" pitchFamily="2" charset="-122"/>
            </a:endParaRPr>
          </a:p>
        </p:txBody>
      </p:sp>
      <p:pic>
        <p:nvPicPr>
          <p:cNvPr id="7" name="Picture 7"/>
          <p:cNvPicPr>
            <a:picLocks noChangeAspect="1"/>
          </p:cNvPicPr>
          <p:nvPr>
            <p:custDataLst>
              <p:tags r:id="rId2"/>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762000" y="2603500"/>
            <a:ext cx="406400" cy="406400"/>
          </a:xfrm>
          <a:prstGeom prst="rect">
            <a:avLst/>
          </a:prstGeom>
        </p:spPr>
      </p:pic>
      <p:sp>
        <p:nvSpPr>
          <p:cNvPr id="8" name="AutoShape 8"/>
          <p:cNvSpPr/>
          <p:nvPr>
            <p:custDataLst>
              <p:tags r:id="rId3"/>
            </p:custDataLst>
          </p:nvPr>
        </p:nvSpPr>
        <p:spPr>
          <a:xfrm>
            <a:off x="1270000" y="2603500"/>
            <a:ext cx="2667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dirty="0">
                <a:solidFill>
                  <a:srgbClr val="1E3A8A"/>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01. ASCII </a:t>
            </a:r>
            <a:r>
              <a:rPr lang="en-US" sz="1800" b="1" i="0" u="none" strike="noStrike" dirty="0" err="1">
                <a:solidFill>
                  <a:srgbClr val="1E3A8A"/>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地图可视化</a:t>
            </a:r>
            <a:endParaRPr lang="en-US" sz="1100" dirty="0">
              <a:latin typeface="BlueakaBeta2GBK" panose="02000700000000000000" pitchFamily="2" charset="-122"/>
              <a:ea typeface="BlueakaBeta2GBK" panose="02000700000000000000" pitchFamily="2" charset="-122"/>
            </a:endParaRPr>
          </a:p>
        </p:txBody>
      </p:sp>
      <p:cxnSp>
        <p:nvCxnSpPr>
          <p:cNvPr id="9" name="Connector 9"/>
          <p:cNvCxnSpPr/>
          <p:nvPr>
            <p:custDataLst>
              <p:tags r:id="rId4"/>
            </p:custDataLst>
          </p:nvPr>
        </p:nvCxnSpPr>
        <p:spPr>
          <a:xfrm rot="-14323">
            <a:off x="762013" y="3232150"/>
            <a:ext cx="3048000" cy="12700"/>
          </a:xfrm>
          <a:prstGeom prst="straightConnector1">
            <a:avLst/>
          </a:prstGeom>
          <a:solidFill>
            <a:srgbClr val="DEE0E3">
              <a:alpha val="100000"/>
            </a:srgbClr>
          </a:solidFill>
          <a:ln w="12700" cap="flat" cmpd="sng">
            <a:solidFill>
              <a:srgbClr val="3B82F6">
                <a:alpha val="20000"/>
              </a:srgbClr>
            </a:solidFill>
            <a:prstDash val="solid"/>
            <a:round/>
            <a:headEnd type="none" w="med" len="med"/>
            <a:tailEnd type="none" w="med" len="med"/>
          </a:ln>
        </p:spPr>
      </p:cxnSp>
      <p:sp>
        <p:nvSpPr>
          <p:cNvPr id="10" name="AutoShape 10"/>
          <p:cNvSpPr/>
          <p:nvPr>
            <p:custDataLst>
              <p:tags r:id="rId5"/>
            </p:custDataLst>
          </p:nvPr>
        </p:nvSpPr>
        <p:spPr>
          <a:xfrm>
            <a:off x="762000" y="3429000"/>
            <a:ext cx="30480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dirty="0" err="1">
                <a:solidFill>
                  <a:srgbClr val="475569"/>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摒弃图形库依赖，纯终端字符构建景区拓扑地图。支持路径实时高亮渲染，让导航结果以直观的字符可视化形式呈现，系统轻量化且运行高效</a:t>
            </a:r>
            <a:r>
              <a:rPr lang="en-US" sz="1300" b="0" i="0" u="none" strike="noStrike" dirty="0">
                <a:solidFill>
                  <a:srgbClr val="475569"/>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a:t>
            </a:r>
            <a:endParaRPr lang="en-US" sz="1100" dirty="0">
              <a:latin typeface="BlueakaBeta2GBK" panose="02000700000000000000" pitchFamily="2" charset="-122"/>
              <a:ea typeface="BlueakaBeta2GBK" panose="02000700000000000000" pitchFamily="2" charset="-122"/>
            </a:endParaRPr>
          </a:p>
        </p:txBody>
      </p:sp>
      <p:sp>
        <p:nvSpPr>
          <p:cNvPr id="11" name="AutoShape 11"/>
          <p:cNvSpPr/>
          <p:nvPr>
            <p:custDataLst>
              <p:tags r:id="rId6"/>
            </p:custDataLst>
          </p:nvPr>
        </p:nvSpPr>
        <p:spPr>
          <a:xfrm>
            <a:off x="762000" y="4952999"/>
            <a:ext cx="3048000" cy="952099"/>
          </a:xfrm>
          <a:prstGeom prst="roundRect">
            <a:avLst>
              <a:gd name="adj" fmla="val 0"/>
            </a:avLst>
          </a:prstGeom>
          <a:solidFill>
            <a:srgbClr val="1E3A8A">
              <a:alpha val="5000"/>
            </a:srgbClr>
          </a:solidFill>
          <a:ln w="25400" cap="flat" cmpd="sng">
            <a:noFill/>
            <a:prstDash val="solid"/>
            <a:round/>
          </a:ln>
        </p:spPr>
        <p:txBody>
          <a:bodyPr vert="horz" wrap="square" lIns="63500" tIns="63500" rIns="63500" bIns="63500" rtlCol="0" anchor="ctr"/>
          <a:lstStyle/>
          <a:p>
            <a:pPr algn="ctr">
              <a:defRPr/>
            </a:pPr>
            <a:endParaRPr dirty="0">
              <a:latin typeface="BlueakaBeta2GBK" panose="02000700000000000000" pitchFamily="2" charset="-122"/>
              <a:ea typeface="BlueakaBeta2GBK" panose="02000700000000000000" pitchFamily="2" charset="-122"/>
            </a:endParaRPr>
          </a:p>
        </p:txBody>
      </p:sp>
      <p:sp>
        <p:nvSpPr>
          <p:cNvPr id="12" name="AutoShape 12"/>
          <p:cNvSpPr/>
          <p:nvPr>
            <p:custDataLst>
              <p:tags r:id="rId7"/>
            </p:custDataLst>
          </p:nvPr>
        </p:nvSpPr>
        <p:spPr>
          <a:xfrm>
            <a:off x="889000" y="4982176"/>
            <a:ext cx="27940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dirty="0">
                <a:solidFill>
                  <a:srgbClr val="3B82F6"/>
                </a:solidFill>
                <a:latin typeface="BlueakaBeta2GBK" panose="02000700000000000000" pitchFamily="2" charset="-122"/>
                <a:ea typeface="BlueakaBeta2GBK" panose="02000700000000000000" pitchFamily="2" charset="-122"/>
                <a:cs typeface="Source Code Pro"/>
                <a:sym typeface="Source Code Pro"/>
              </a:rPr>
              <a:t># </a:t>
            </a:r>
            <a:r>
              <a:rPr lang="en-US" sz="1200" b="0" i="0" u="none" strike="noStrike" dirty="0" err="1">
                <a:solidFill>
                  <a:srgbClr val="3B82F6"/>
                </a:solidFill>
                <a:latin typeface="BlueakaBeta2GBK" panose="02000700000000000000" pitchFamily="2" charset="-122"/>
                <a:ea typeface="BlueakaBeta2GBK" panose="02000700000000000000" pitchFamily="2" charset="-122"/>
                <a:cs typeface="Source Code Pro"/>
                <a:sym typeface="Source Code Pro"/>
              </a:rPr>
              <a:t>核心渲染逻辑</a:t>
            </a:r>
            <a:br>
              <a:rPr lang="en-US" sz="1200" b="0" i="0" u="none" strike="noStrike" dirty="0">
                <a:solidFill>
                  <a:srgbClr val="3B82F6"/>
                </a:solidFill>
                <a:latin typeface="BlueakaBeta2GBK" panose="02000700000000000000" pitchFamily="2" charset="-122"/>
                <a:ea typeface="BlueakaBeta2GBK" panose="02000700000000000000" pitchFamily="2" charset="-122"/>
                <a:cs typeface="Source Code Pro"/>
                <a:sym typeface="Source Code Pro"/>
              </a:rPr>
            </a:br>
            <a:r>
              <a:rPr lang="en-US" sz="1200" b="0" i="0" u="none" strike="noStrike" dirty="0">
                <a:solidFill>
                  <a:srgbClr val="3B82F6"/>
                </a:solidFill>
                <a:latin typeface="BlueakaBeta2GBK" panose="02000700000000000000" pitchFamily="2" charset="-122"/>
                <a:ea typeface="BlueakaBeta2GBK" panose="02000700000000000000" pitchFamily="2" charset="-122"/>
                <a:cs typeface="Source Code Pro"/>
                <a:sym typeface="Source Code Pro"/>
              </a:rPr>
              <a:t>def </a:t>
            </a:r>
            <a:r>
              <a:rPr lang="en-US" sz="1200" b="0" i="0" u="none" strike="noStrike" dirty="0" err="1">
                <a:solidFill>
                  <a:srgbClr val="3B82F6"/>
                </a:solidFill>
                <a:latin typeface="BlueakaBeta2GBK" panose="02000700000000000000" pitchFamily="2" charset="-122"/>
                <a:ea typeface="BlueakaBeta2GBK" panose="02000700000000000000" pitchFamily="2" charset="-122"/>
                <a:cs typeface="Source Code Pro"/>
                <a:sym typeface="Source Code Pro"/>
              </a:rPr>
              <a:t>render_map</a:t>
            </a:r>
            <a:r>
              <a:rPr lang="en-US" sz="1200" b="0" i="0" u="none" strike="noStrike" dirty="0">
                <a:solidFill>
                  <a:srgbClr val="3B82F6"/>
                </a:solidFill>
                <a:latin typeface="BlueakaBeta2GBK" panose="02000700000000000000" pitchFamily="2" charset="-122"/>
                <a:ea typeface="BlueakaBeta2GBK" panose="02000700000000000000" pitchFamily="2" charset="-122"/>
                <a:cs typeface="Source Code Pro"/>
                <a:sym typeface="Source Code Pro"/>
              </a:rPr>
              <a:t>(grid, path):</a:t>
            </a:r>
            <a:br>
              <a:rPr lang="en-US" sz="1200" b="0" i="0" u="none" strike="noStrike" dirty="0">
                <a:solidFill>
                  <a:srgbClr val="3B82F6"/>
                </a:solidFill>
                <a:latin typeface="BlueakaBeta2GBK" panose="02000700000000000000" pitchFamily="2" charset="-122"/>
                <a:ea typeface="BlueakaBeta2GBK" panose="02000700000000000000" pitchFamily="2" charset="-122"/>
                <a:cs typeface="Source Code Pro"/>
                <a:sym typeface="Source Code Pro"/>
              </a:rPr>
            </a:br>
            <a:r>
              <a:rPr lang="en-US" sz="1200" b="0" i="0" u="none" strike="noStrike" dirty="0">
                <a:solidFill>
                  <a:srgbClr val="3B82F6"/>
                </a:solidFill>
                <a:latin typeface="BlueakaBeta2GBK" panose="02000700000000000000" pitchFamily="2" charset="-122"/>
                <a:ea typeface="BlueakaBeta2GBK" panose="02000700000000000000" pitchFamily="2" charset="-122"/>
                <a:cs typeface="Source Code Pro"/>
                <a:sym typeface="Source Code Pro"/>
              </a:rPr>
              <a:t>print('\</a:t>
            </a:r>
            <a:r>
              <a:rPr lang="en-US" sz="1200" b="0" i="0" u="none" strike="noStrike" dirty="0" err="1">
                <a:solidFill>
                  <a:srgbClr val="3B82F6"/>
                </a:solidFill>
                <a:latin typeface="BlueakaBeta2GBK" panose="02000700000000000000" pitchFamily="2" charset="-122"/>
                <a:ea typeface="BlueakaBeta2GBK" panose="02000700000000000000" pitchFamily="2" charset="-122"/>
                <a:cs typeface="Source Code Pro"/>
                <a:sym typeface="Source Code Pro"/>
              </a:rPr>
              <a:t>n'.join</a:t>
            </a:r>
            <a:r>
              <a:rPr lang="en-US" sz="1200" b="0" i="0" u="none" strike="noStrike" dirty="0">
                <a:solidFill>
                  <a:srgbClr val="3B82F6"/>
                </a:solidFill>
                <a:latin typeface="BlueakaBeta2GBK" panose="02000700000000000000" pitchFamily="2" charset="-122"/>
                <a:ea typeface="BlueakaBeta2GBK" panose="02000700000000000000" pitchFamily="2" charset="-122"/>
                <a:cs typeface="Source Code Pro"/>
                <a:sym typeface="Source Code Pro"/>
              </a:rPr>
              <a:t>(grid))</a:t>
            </a:r>
            <a:endParaRPr lang="en-US" sz="1100" dirty="0">
              <a:latin typeface="BlueakaBeta2GBK" panose="02000700000000000000" pitchFamily="2" charset="-122"/>
              <a:ea typeface="BlueakaBeta2GBK" panose="02000700000000000000" pitchFamily="2" charset="-122"/>
            </a:endParaRPr>
          </a:p>
        </p:txBody>
      </p:sp>
      <p:sp>
        <p:nvSpPr>
          <p:cNvPr id="13" name="AutoShape 13"/>
          <p:cNvSpPr/>
          <p:nvPr>
            <p:custDataLst>
              <p:tags r:id="rId8"/>
            </p:custDataLst>
          </p:nvPr>
        </p:nvSpPr>
        <p:spPr>
          <a:xfrm>
            <a:off x="4318000" y="2285999"/>
            <a:ext cx="3556000" cy="3931919"/>
          </a:xfrm>
          <a:prstGeom prst="roundRect">
            <a:avLst>
              <a:gd name="adj" fmla="val 0"/>
            </a:avLst>
          </a:prstGeom>
          <a:solidFill>
            <a:srgbClr val="10B981">
              <a:alpha val="6000"/>
            </a:srgbClr>
          </a:solidFill>
          <a:ln w="12700" cap="flat" cmpd="sng">
            <a:solidFill>
              <a:srgbClr val="10B981">
                <a:alpha val="30000"/>
              </a:srgbClr>
            </a:solidFill>
            <a:prstDash val="solid"/>
            <a:round/>
          </a:ln>
        </p:spPr>
        <p:txBody>
          <a:bodyPr vert="horz" wrap="square" lIns="63500" tIns="63500" rIns="63500" bIns="63500" rtlCol="0" anchor="ctr"/>
          <a:lstStyle/>
          <a:p>
            <a:pPr algn="ctr">
              <a:defRPr/>
            </a:pPr>
            <a:endParaRPr dirty="0">
              <a:latin typeface="BlueakaBeta2GBK" panose="02000700000000000000" pitchFamily="2" charset="-122"/>
              <a:ea typeface="BlueakaBeta2GBK" panose="02000700000000000000" pitchFamily="2" charset="-122"/>
            </a:endParaRPr>
          </a:p>
        </p:txBody>
      </p:sp>
      <p:pic>
        <p:nvPicPr>
          <p:cNvPr id="14" name="Picture 14"/>
          <p:cNvPicPr>
            <a:picLocks noChangeAspect="1"/>
          </p:cNvPicPr>
          <p:nvPr>
            <p:custDataLst>
              <p:tags r:id="rId9"/>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4572000" y="2603500"/>
            <a:ext cx="406400" cy="406400"/>
          </a:xfrm>
          <a:prstGeom prst="rect">
            <a:avLst/>
          </a:prstGeom>
        </p:spPr>
      </p:pic>
      <p:sp>
        <p:nvSpPr>
          <p:cNvPr id="15" name="AutoShape 15"/>
          <p:cNvSpPr/>
          <p:nvPr>
            <p:custDataLst>
              <p:tags r:id="rId10"/>
            </p:custDataLst>
          </p:nvPr>
        </p:nvSpPr>
        <p:spPr>
          <a:xfrm>
            <a:off x="5080000" y="2603500"/>
            <a:ext cx="2667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dirty="0">
                <a:solidFill>
                  <a:srgbClr val="064E3B"/>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02. </a:t>
            </a:r>
            <a:r>
              <a:rPr lang="en-US" sz="1800" b="1" i="0" u="none" strike="noStrike" dirty="0" err="1">
                <a:solidFill>
                  <a:srgbClr val="064E3B"/>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数据逻辑动态解耦</a:t>
            </a:r>
            <a:endParaRPr lang="en-US" sz="1100" dirty="0">
              <a:latin typeface="BlueakaBeta2GBK" panose="02000700000000000000" pitchFamily="2" charset="-122"/>
              <a:ea typeface="BlueakaBeta2GBK" panose="02000700000000000000" pitchFamily="2" charset="-122"/>
            </a:endParaRPr>
          </a:p>
        </p:txBody>
      </p:sp>
      <p:cxnSp>
        <p:nvCxnSpPr>
          <p:cNvPr id="16" name="Connector 16"/>
          <p:cNvCxnSpPr/>
          <p:nvPr>
            <p:custDataLst>
              <p:tags r:id="rId11"/>
            </p:custDataLst>
          </p:nvPr>
        </p:nvCxnSpPr>
        <p:spPr>
          <a:xfrm rot="-14323">
            <a:off x="4572013" y="3232150"/>
            <a:ext cx="3048000" cy="12700"/>
          </a:xfrm>
          <a:prstGeom prst="straightConnector1">
            <a:avLst/>
          </a:prstGeom>
          <a:solidFill>
            <a:srgbClr val="DEE0E3">
              <a:alpha val="100000"/>
            </a:srgbClr>
          </a:solidFill>
          <a:ln w="12700" cap="flat" cmpd="sng">
            <a:solidFill>
              <a:srgbClr val="10B981">
                <a:alpha val="20000"/>
              </a:srgbClr>
            </a:solidFill>
            <a:prstDash val="solid"/>
            <a:round/>
            <a:headEnd type="none" w="med" len="med"/>
            <a:tailEnd type="none" w="med" len="med"/>
          </a:ln>
        </p:spPr>
      </p:cxnSp>
      <p:sp>
        <p:nvSpPr>
          <p:cNvPr id="17" name="AutoShape 17"/>
          <p:cNvSpPr/>
          <p:nvPr>
            <p:custDataLst>
              <p:tags r:id="rId12"/>
            </p:custDataLst>
          </p:nvPr>
        </p:nvSpPr>
        <p:spPr>
          <a:xfrm>
            <a:off x="4572000" y="3429000"/>
            <a:ext cx="30480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dirty="0">
                <a:solidFill>
                  <a:srgbClr val="475569"/>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景点与道路数据独立存储于外部配置文件，实现业务逻辑与数据层的彻底分离。支持运行时热重载机制，修改配置即刻生效，无需重新编译系统。</a:t>
            </a:r>
            <a:endParaRPr lang="en-US" sz="1100" dirty="0">
              <a:latin typeface="BlueakaBeta2GBK" panose="02000700000000000000" pitchFamily="2" charset="-122"/>
              <a:ea typeface="BlueakaBeta2GBK" panose="02000700000000000000" pitchFamily="2" charset="-122"/>
            </a:endParaRPr>
          </a:p>
        </p:txBody>
      </p:sp>
      <p:sp>
        <p:nvSpPr>
          <p:cNvPr id="18" name="AutoShape 18"/>
          <p:cNvSpPr/>
          <p:nvPr>
            <p:custDataLst>
              <p:tags r:id="rId13"/>
            </p:custDataLst>
          </p:nvPr>
        </p:nvSpPr>
        <p:spPr>
          <a:xfrm>
            <a:off x="4572000" y="4950660"/>
            <a:ext cx="3048000" cy="952098"/>
          </a:xfrm>
          <a:prstGeom prst="roundRect">
            <a:avLst>
              <a:gd name="adj" fmla="val 0"/>
            </a:avLst>
          </a:prstGeom>
          <a:solidFill>
            <a:srgbClr val="064E3B">
              <a:alpha val="5000"/>
            </a:srgbClr>
          </a:solidFill>
          <a:ln w="25400" cap="flat" cmpd="sng">
            <a:noFill/>
            <a:prstDash val="solid"/>
            <a:round/>
          </a:ln>
        </p:spPr>
        <p:txBody>
          <a:bodyPr vert="horz" wrap="square" lIns="63500" tIns="63500" rIns="63500" bIns="63500" rtlCol="0" anchor="ctr"/>
          <a:lstStyle/>
          <a:p>
            <a:pPr algn="ctr">
              <a:defRPr/>
            </a:pPr>
            <a:endParaRPr dirty="0">
              <a:latin typeface="BlueakaBeta2GBK" panose="02000700000000000000" pitchFamily="2" charset="-122"/>
              <a:ea typeface="BlueakaBeta2GBK" panose="02000700000000000000" pitchFamily="2" charset="-122"/>
            </a:endParaRPr>
          </a:p>
        </p:txBody>
      </p:sp>
      <p:sp>
        <p:nvSpPr>
          <p:cNvPr id="19" name="AutoShape 19"/>
          <p:cNvSpPr/>
          <p:nvPr>
            <p:custDataLst>
              <p:tags r:id="rId14"/>
            </p:custDataLst>
          </p:nvPr>
        </p:nvSpPr>
        <p:spPr>
          <a:xfrm>
            <a:off x="4699000" y="5016499"/>
            <a:ext cx="2794000" cy="825098"/>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dirty="0">
                <a:solidFill>
                  <a:srgbClr val="10B981"/>
                </a:solidFill>
                <a:latin typeface="BlueakaBeta2GBK" panose="02000700000000000000" pitchFamily="2" charset="-122"/>
                <a:ea typeface="BlueakaBeta2GBK" panose="02000700000000000000" pitchFamily="2" charset="-122"/>
                <a:cs typeface="Source Code Pro"/>
                <a:sym typeface="Source Code Pro"/>
              </a:rPr>
              <a:t># </a:t>
            </a:r>
            <a:r>
              <a:rPr lang="en-US" sz="1200" b="0" i="0" u="none" strike="noStrike" dirty="0" err="1">
                <a:solidFill>
                  <a:srgbClr val="10B981"/>
                </a:solidFill>
                <a:latin typeface="BlueakaBeta2GBK" panose="02000700000000000000" pitchFamily="2" charset="-122"/>
                <a:ea typeface="BlueakaBeta2GBK" panose="02000700000000000000" pitchFamily="2" charset="-122"/>
                <a:cs typeface="Source Code Pro"/>
                <a:sym typeface="Source Code Pro"/>
              </a:rPr>
              <a:t>热重载实现</a:t>
            </a:r>
            <a:br>
              <a:rPr lang="en-US" sz="1200" b="0" i="0" u="none" strike="noStrike" dirty="0">
                <a:solidFill>
                  <a:srgbClr val="10B981"/>
                </a:solidFill>
                <a:latin typeface="BlueakaBeta2GBK" panose="02000700000000000000" pitchFamily="2" charset="-122"/>
                <a:ea typeface="BlueakaBeta2GBK" panose="02000700000000000000" pitchFamily="2" charset="-122"/>
                <a:cs typeface="Source Code Pro"/>
                <a:sym typeface="Source Code Pro"/>
              </a:rPr>
            </a:br>
            <a:r>
              <a:rPr lang="en-US" sz="1200" b="0" i="0" u="none" strike="noStrike" dirty="0">
                <a:solidFill>
                  <a:srgbClr val="10B981"/>
                </a:solidFill>
                <a:latin typeface="BlueakaBeta2GBK" panose="02000700000000000000" pitchFamily="2" charset="-122"/>
                <a:ea typeface="BlueakaBeta2GBK" panose="02000700000000000000" pitchFamily="2" charset="-122"/>
                <a:cs typeface="Source Code Pro"/>
                <a:sym typeface="Source Code Pro"/>
              </a:rPr>
              <a:t>def </a:t>
            </a:r>
            <a:r>
              <a:rPr lang="en-US" sz="1200" b="0" i="0" u="none" strike="noStrike" dirty="0" err="1">
                <a:solidFill>
                  <a:srgbClr val="10B981"/>
                </a:solidFill>
                <a:latin typeface="BlueakaBeta2GBK" panose="02000700000000000000" pitchFamily="2" charset="-122"/>
                <a:ea typeface="BlueakaBeta2GBK" panose="02000700000000000000" pitchFamily="2" charset="-122"/>
                <a:cs typeface="Source Code Pro"/>
                <a:sym typeface="Source Code Pro"/>
              </a:rPr>
              <a:t>reload_config</a:t>
            </a:r>
            <a:r>
              <a:rPr lang="en-US" sz="1200" b="0" i="0" u="none" strike="noStrike" dirty="0">
                <a:solidFill>
                  <a:srgbClr val="10B981"/>
                </a:solidFill>
                <a:latin typeface="BlueakaBeta2GBK" panose="02000700000000000000" pitchFamily="2" charset="-122"/>
                <a:ea typeface="BlueakaBeta2GBK" panose="02000700000000000000" pitchFamily="2" charset="-122"/>
                <a:cs typeface="Source Code Pro"/>
                <a:sym typeface="Source Code Pro"/>
              </a:rPr>
              <a:t>():</a:t>
            </a:r>
            <a:br>
              <a:rPr lang="en-US" sz="1200" b="0" i="0" u="none" strike="noStrike" dirty="0">
                <a:solidFill>
                  <a:srgbClr val="10B981"/>
                </a:solidFill>
                <a:latin typeface="BlueakaBeta2GBK" panose="02000700000000000000" pitchFamily="2" charset="-122"/>
                <a:ea typeface="BlueakaBeta2GBK" panose="02000700000000000000" pitchFamily="2" charset="-122"/>
                <a:cs typeface="Source Code Pro"/>
                <a:sym typeface="Source Code Pro"/>
              </a:rPr>
            </a:br>
            <a:r>
              <a:rPr lang="en-US" sz="1200" b="0" i="0" u="none" strike="noStrike" dirty="0">
                <a:solidFill>
                  <a:srgbClr val="10B981"/>
                </a:solidFill>
                <a:latin typeface="BlueakaBeta2GBK" panose="02000700000000000000" pitchFamily="2" charset="-122"/>
                <a:ea typeface="BlueakaBeta2GBK" panose="02000700000000000000" pitchFamily="2" charset="-122"/>
                <a:cs typeface="Source Code Pro"/>
                <a:sym typeface="Source Code Pro"/>
              </a:rPr>
              <a:t>data = </a:t>
            </a:r>
            <a:r>
              <a:rPr lang="en-US" sz="1200" b="0" i="0" u="none" strike="noStrike" dirty="0" err="1">
                <a:solidFill>
                  <a:srgbClr val="10B981"/>
                </a:solidFill>
                <a:latin typeface="BlueakaBeta2GBK" panose="02000700000000000000" pitchFamily="2" charset="-122"/>
                <a:ea typeface="BlueakaBeta2GBK" panose="02000700000000000000" pitchFamily="2" charset="-122"/>
                <a:cs typeface="Source Code Pro"/>
                <a:sym typeface="Source Code Pro"/>
              </a:rPr>
              <a:t>load_json</a:t>
            </a:r>
            <a:r>
              <a:rPr lang="en-US" sz="1200" b="0" i="0" u="none" strike="noStrike" dirty="0">
                <a:solidFill>
                  <a:srgbClr val="10B981"/>
                </a:solidFill>
                <a:latin typeface="BlueakaBeta2GBK" panose="02000700000000000000" pitchFamily="2" charset="-122"/>
                <a:ea typeface="BlueakaBeta2GBK" panose="02000700000000000000" pitchFamily="2" charset="-122"/>
                <a:cs typeface="Source Code Pro"/>
                <a:sym typeface="Source Code Pro"/>
              </a:rPr>
              <a:t>("</a:t>
            </a:r>
            <a:r>
              <a:rPr lang="en-US" sz="1200" b="0" i="0" u="none" strike="noStrike" dirty="0" err="1">
                <a:solidFill>
                  <a:srgbClr val="10B981"/>
                </a:solidFill>
                <a:latin typeface="BlueakaBeta2GBK" panose="02000700000000000000" pitchFamily="2" charset="-122"/>
                <a:ea typeface="BlueakaBeta2GBK" panose="02000700000000000000" pitchFamily="2" charset="-122"/>
                <a:cs typeface="Source Code Pro"/>
                <a:sym typeface="Source Code Pro"/>
              </a:rPr>
              <a:t>map.json</a:t>
            </a:r>
            <a:r>
              <a:rPr lang="en-US" sz="1200" b="0" i="0" u="none" strike="noStrike" dirty="0">
                <a:solidFill>
                  <a:srgbClr val="10B981"/>
                </a:solidFill>
                <a:latin typeface="BlueakaBeta2GBK" panose="02000700000000000000" pitchFamily="2" charset="-122"/>
                <a:ea typeface="BlueakaBeta2GBK" panose="02000700000000000000" pitchFamily="2" charset="-122"/>
                <a:cs typeface="Source Code Pro"/>
                <a:sym typeface="Source Code Pro"/>
              </a:rPr>
              <a:t>")</a:t>
            </a:r>
            <a:br>
              <a:rPr lang="en-US" sz="1200" b="0" i="0" u="none" strike="noStrike" dirty="0">
                <a:solidFill>
                  <a:srgbClr val="10B981"/>
                </a:solidFill>
                <a:latin typeface="BlueakaBeta2GBK" panose="02000700000000000000" pitchFamily="2" charset="-122"/>
                <a:ea typeface="BlueakaBeta2GBK" panose="02000700000000000000" pitchFamily="2" charset="-122"/>
                <a:cs typeface="Source Code Pro"/>
                <a:sym typeface="Source Code Pro"/>
              </a:rPr>
            </a:br>
            <a:r>
              <a:rPr lang="en-US" sz="1200" b="0" i="0" u="none" strike="noStrike" dirty="0" err="1">
                <a:solidFill>
                  <a:srgbClr val="10B981"/>
                </a:solidFill>
                <a:latin typeface="BlueakaBeta2GBK" panose="02000700000000000000" pitchFamily="2" charset="-122"/>
                <a:ea typeface="BlueakaBeta2GBK" panose="02000700000000000000" pitchFamily="2" charset="-122"/>
                <a:cs typeface="Source Code Pro"/>
                <a:sym typeface="Source Code Pro"/>
              </a:rPr>
              <a:t>graph.update</a:t>
            </a:r>
            <a:r>
              <a:rPr lang="en-US" sz="1200" b="0" i="0" u="none" strike="noStrike" dirty="0">
                <a:solidFill>
                  <a:srgbClr val="10B981"/>
                </a:solidFill>
                <a:latin typeface="BlueakaBeta2GBK" panose="02000700000000000000" pitchFamily="2" charset="-122"/>
                <a:ea typeface="BlueakaBeta2GBK" panose="02000700000000000000" pitchFamily="2" charset="-122"/>
                <a:cs typeface="Source Code Pro"/>
                <a:sym typeface="Source Code Pro"/>
              </a:rPr>
              <a:t>(data)</a:t>
            </a:r>
            <a:endParaRPr lang="en-US" sz="1100" dirty="0">
              <a:latin typeface="BlueakaBeta2GBK" panose="02000700000000000000" pitchFamily="2" charset="-122"/>
              <a:ea typeface="BlueakaBeta2GBK" panose="02000700000000000000" pitchFamily="2" charset="-122"/>
            </a:endParaRPr>
          </a:p>
        </p:txBody>
      </p:sp>
      <p:sp>
        <p:nvSpPr>
          <p:cNvPr id="20" name="AutoShape 20"/>
          <p:cNvSpPr/>
          <p:nvPr>
            <p:custDataLst>
              <p:tags r:id="rId15"/>
            </p:custDataLst>
          </p:nvPr>
        </p:nvSpPr>
        <p:spPr>
          <a:xfrm>
            <a:off x="8128000" y="2286000"/>
            <a:ext cx="3556000" cy="3931918"/>
          </a:xfrm>
          <a:prstGeom prst="roundRect">
            <a:avLst>
              <a:gd name="adj" fmla="val 0"/>
            </a:avLst>
          </a:prstGeom>
          <a:solidFill>
            <a:srgbClr val="F59E0B">
              <a:alpha val="6000"/>
            </a:srgbClr>
          </a:solidFill>
          <a:ln w="12700" cap="flat" cmpd="sng">
            <a:solidFill>
              <a:srgbClr val="F59E0B">
                <a:alpha val="30000"/>
              </a:srgbClr>
            </a:solidFill>
            <a:prstDash val="solid"/>
            <a:round/>
          </a:ln>
        </p:spPr>
        <p:txBody>
          <a:bodyPr vert="horz" wrap="square" lIns="63500" tIns="63500" rIns="63500" bIns="63500" rtlCol="0" anchor="ctr"/>
          <a:lstStyle/>
          <a:p>
            <a:pPr algn="ctr">
              <a:defRPr/>
            </a:pPr>
            <a:endParaRPr dirty="0">
              <a:latin typeface="BlueakaBeta2GBK" panose="02000700000000000000" pitchFamily="2" charset="-122"/>
              <a:ea typeface="BlueakaBeta2GBK" panose="02000700000000000000" pitchFamily="2" charset="-122"/>
            </a:endParaRPr>
          </a:p>
        </p:txBody>
      </p:sp>
      <p:pic>
        <p:nvPicPr>
          <p:cNvPr id="21" name="Picture 21"/>
          <p:cNvPicPr>
            <a:picLocks noChangeAspect="1"/>
          </p:cNvPicPr>
          <p:nvPr>
            <p:custDataLst>
              <p:tags r:id="rId16"/>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26"/>
              </a:ext>
            </a:extLst>
          </a:blip>
          <a:stretch>
            <a:fillRect/>
          </a:stretch>
        </p:blipFill>
        <p:spPr>
          <a:xfrm>
            <a:off x="8382000" y="2603500"/>
            <a:ext cx="406400" cy="406400"/>
          </a:xfrm>
          <a:prstGeom prst="rect">
            <a:avLst/>
          </a:prstGeom>
        </p:spPr>
      </p:pic>
      <p:sp>
        <p:nvSpPr>
          <p:cNvPr id="22" name="AutoShape 22"/>
          <p:cNvSpPr/>
          <p:nvPr>
            <p:custDataLst>
              <p:tags r:id="rId17"/>
            </p:custDataLst>
          </p:nvPr>
        </p:nvSpPr>
        <p:spPr>
          <a:xfrm>
            <a:off x="8890000" y="2603500"/>
            <a:ext cx="2667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dirty="0">
                <a:solidFill>
                  <a:srgbClr val="78350F"/>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03. </a:t>
            </a:r>
            <a:r>
              <a:rPr lang="en-US" sz="1800" b="1" i="0" u="none" strike="noStrike" dirty="0" err="1">
                <a:solidFill>
                  <a:srgbClr val="78350F"/>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重边最短路径收敛</a:t>
            </a:r>
            <a:endParaRPr lang="en-US" sz="1100" dirty="0">
              <a:latin typeface="BlueakaBeta2GBK" panose="02000700000000000000" pitchFamily="2" charset="-122"/>
              <a:ea typeface="BlueakaBeta2GBK" panose="02000700000000000000" pitchFamily="2" charset="-122"/>
            </a:endParaRPr>
          </a:p>
        </p:txBody>
      </p:sp>
      <p:cxnSp>
        <p:nvCxnSpPr>
          <p:cNvPr id="23" name="Connector 23"/>
          <p:cNvCxnSpPr/>
          <p:nvPr>
            <p:custDataLst>
              <p:tags r:id="rId18"/>
            </p:custDataLst>
          </p:nvPr>
        </p:nvCxnSpPr>
        <p:spPr>
          <a:xfrm rot="-14323">
            <a:off x="8382013" y="3232150"/>
            <a:ext cx="3048000" cy="12700"/>
          </a:xfrm>
          <a:prstGeom prst="straightConnector1">
            <a:avLst/>
          </a:prstGeom>
          <a:solidFill>
            <a:srgbClr val="DEE0E3">
              <a:alpha val="100000"/>
            </a:srgbClr>
          </a:solidFill>
          <a:ln w="12700" cap="flat" cmpd="sng">
            <a:solidFill>
              <a:srgbClr val="F59E0B">
                <a:alpha val="20000"/>
              </a:srgbClr>
            </a:solidFill>
            <a:prstDash val="solid"/>
            <a:round/>
            <a:headEnd type="none" w="med" len="med"/>
            <a:tailEnd type="none" w="med" len="med"/>
          </a:ln>
        </p:spPr>
      </p:cxnSp>
      <p:sp>
        <p:nvSpPr>
          <p:cNvPr id="24" name="AutoShape 24"/>
          <p:cNvSpPr/>
          <p:nvPr>
            <p:custDataLst>
              <p:tags r:id="rId19"/>
            </p:custDataLst>
          </p:nvPr>
        </p:nvSpPr>
        <p:spPr>
          <a:xfrm>
            <a:off x="8382000" y="3429000"/>
            <a:ext cx="30480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dirty="0" err="1">
                <a:solidFill>
                  <a:srgbClr val="475569"/>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构建邻接矩阵时智能处理两点间的多条道路（重边</a:t>
            </a:r>
            <a:r>
              <a:rPr lang="en-US" sz="1300" b="0" i="0" u="none" strike="noStrike" dirty="0">
                <a:solidFill>
                  <a:srgbClr val="475569"/>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a:t>
            </a:r>
            <a:r>
              <a:rPr lang="en-US" sz="1300" b="0" i="0" u="none" strike="noStrike" dirty="0" err="1">
                <a:solidFill>
                  <a:srgbClr val="475569"/>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算法自动比较路径权重，仅保留距离最短的路径，剔除冗余链路，确保规划结果最优</a:t>
            </a:r>
            <a:r>
              <a:rPr lang="en-US" sz="1300" b="0" i="0" u="none" strike="noStrike" dirty="0">
                <a:solidFill>
                  <a:srgbClr val="475569"/>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a:t>
            </a:r>
            <a:endParaRPr lang="en-US" sz="1100" dirty="0">
              <a:latin typeface="BlueakaBeta2GBK" panose="02000700000000000000" pitchFamily="2" charset="-122"/>
              <a:ea typeface="BlueakaBeta2GBK" panose="02000700000000000000" pitchFamily="2" charset="-122"/>
            </a:endParaRPr>
          </a:p>
        </p:txBody>
      </p:sp>
      <p:sp>
        <p:nvSpPr>
          <p:cNvPr id="25" name="AutoShape 25"/>
          <p:cNvSpPr/>
          <p:nvPr>
            <p:custDataLst>
              <p:tags r:id="rId20"/>
            </p:custDataLst>
          </p:nvPr>
        </p:nvSpPr>
        <p:spPr>
          <a:xfrm>
            <a:off x="8382000" y="4953000"/>
            <a:ext cx="3048000" cy="952098"/>
          </a:xfrm>
          <a:prstGeom prst="roundRect">
            <a:avLst>
              <a:gd name="adj" fmla="val 0"/>
            </a:avLst>
          </a:prstGeom>
          <a:solidFill>
            <a:srgbClr val="78350F">
              <a:alpha val="5000"/>
            </a:srgbClr>
          </a:solidFill>
          <a:ln w="25400" cap="flat" cmpd="sng">
            <a:noFill/>
            <a:prstDash val="solid"/>
            <a:round/>
          </a:ln>
        </p:spPr>
        <p:txBody>
          <a:bodyPr vert="horz" wrap="square" lIns="63500" tIns="63500" rIns="63500" bIns="63500" rtlCol="0" anchor="ctr"/>
          <a:lstStyle/>
          <a:p>
            <a:pPr algn="ctr">
              <a:defRPr/>
            </a:pPr>
            <a:endParaRPr dirty="0">
              <a:latin typeface="BlueakaBeta2GBK" panose="02000700000000000000" pitchFamily="2" charset="-122"/>
              <a:ea typeface="BlueakaBeta2GBK" panose="02000700000000000000" pitchFamily="2" charset="-122"/>
            </a:endParaRPr>
          </a:p>
        </p:txBody>
      </p:sp>
      <p:sp>
        <p:nvSpPr>
          <p:cNvPr id="26" name="AutoShape 26"/>
          <p:cNvSpPr/>
          <p:nvPr>
            <p:custDataLst>
              <p:tags r:id="rId21"/>
            </p:custDataLst>
          </p:nvPr>
        </p:nvSpPr>
        <p:spPr>
          <a:xfrm>
            <a:off x="8509000" y="5080000"/>
            <a:ext cx="27940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dirty="0">
                <a:solidFill>
                  <a:srgbClr val="F59E0B"/>
                </a:solidFill>
                <a:latin typeface="BlueakaBeta2GBK" panose="02000700000000000000" pitchFamily="2" charset="-122"/>
                <a:ea typeface="BlueakaBeta2GBK" panose="02000700000000000000" pitchFamily="2" charset="-122"/>
                <a:cs typeface="Source Code Pro"/>
                <a:sym typeface="Source Code Pro"/>
              </a:rPr>
              <a:t># </a:t>
            </a:r>
            <a:r>
              <a:rPr lang="en-US" sz="1200" b="0" i="0" u="none" strike="noStrike" dirty="0" err="1">
                <a:solidFill>
                  <a:srgbClr val="F59E0B"/>
                </a:solidFill>
                <a:latin typeface="BlueakaBeta2GBK" panose="02000700000000000000" pitchFamily="2" charset="-122"/>
                <a:ea typeface="BlueakaBeta2GBK" panose="02000700000000000000" pitchFamily="2" charset="-122"/>
                <a:cs typeface="Source Code Pro"/>
                <a:sym typeface="Source Code Pro"/>
              </a:rPr>
              <a:t>重边清洗逻辑</a:t>
            </a:r>
            <a:br>
              <a:rPr lang="en-US" sz="1200" b="0" i="0" u="none" strike="noStrike" dirty="0">
                <a:solidFill>
                  <a:srgbClr val="F59E0B"/>
                </a:solidFill>
                <a:latin typeface="BlueakaBeta2GBK" panose="02000700000000000000" pitchFamily="2" charset="-122"/>
                <a:ea typeface="BlueakaBeta2GBK" panose="02000700000000000000" pitchFamily="2" charset="-122"/>
                <a:cs typeface="Source Code Pro"/>
                <a:sym typeface="Source Code Pro"/>
              </a:rPr>
            </a:br>
            <a:r>
              <a:rPr lang="en-US" sz="1200" b="0" i="0" u="none" strike="noStrike" dirty="0">
                <a:solidFill>
                  <a:srgbClr val="F59E0B"/>
                </a:solidFill>
                <a:latin typeface="BlueakaBeta2GBK" panose="02000700000000000000" pitchFamily="2" charset="-122"/>
                <a:ea typeface="BlueakaBeta2GBK" panose="02000700000000000000" pitchFamily="2" charset="-122"/>
                <a:cs typeface="Source Code Pro"/>
                <a:sym typeface="Source Code Pro"/>
              </a:rPr>
              <a:t>if </a:t>
            </a:r>
            <a:r>
              <a:rPr lang="en-US" sz="1200" b="0" i="0" u="none" strike="noStrike" dirty="0" err="1">
                <a:solidFill>
                  <a:srgbClr val="F59E0B"/>
                </a:solidFill>
                <a:latin typeface="BlueakaBeta2GBK" panose="02000700000000000000" pitchFamily="2" charset="-122"/>
                <a:ea typeface="BlueakaBeta2GBK" panose="02000700000000000000" pitchFamily="2" charset="-122"/>
                <a:cs typeface="Source Code Pro"/>
                <a:sym typeface="Source Code Pro"/>
              </a:rPr>
              <a:t>new_dist</a:t>
            </a:r>
            <a:r>
              <a:rPr lang="en-US" sz="1200" b="0" i="0" u="none" strike="noStrike" dirty="0">
                <a:solidFill>
                  <a:srgbClr val="F59E0B"/>
                </a:solidFill>
                <a:latin typeface="BlueakaBeta2GBK" panose="02000700000000000000" pitchFamily="2" charset="-122"/>
                <a:ea typeface="BlueakaBeta2GBK" panose="02000700000000000000" pitchFamily="2" charset="-122"/>
                <a:cs typeface="Source Code Pro"/>
                <a:sym typeface="Source Code Pro"/>
              </a:rPr>
              <a:t> &lt; graph[u][v]:</a:t>
            </a:r>
            <a:br>
              <a:rPr lang="en-US" sz="1200" b="0" i="0" u="none" strike="noStrike" dirty="0">
                <a:solidFill>
                  <a:srgbClr val="F59E0B"/>
                </a:solidFill>
                <a:latin typeface="BlueakaBeta2GBK" panose="02000700000000000000" pitchFamily="2" charset="-122"/>
                <a:ea typeface="BlueakaBeta2GBK" panose="02000700000000000000" pitchFamily="2" charset="-122"/>
                <a:cs typeface="Source Code Pro"/>
                <a:sym typeface="Source Code Pro"/>
              </a:rPr>
            </a:br>
            <a:r>
              <a:rPr lang="en-US" sz="1200" b="0" i="0" u="none" strike="noStrike" dirty="0">
                <a:solidFill>
                  <a:srgbClr val="F59E0B"/>
                </a:solidFill>
                <a:latin typeface="BlueakaBeta2GBK" panose="02000700000000000000" pitchFamily="2" charset="-122"/>
                <a:ea typeface="BlueakaBeta2GBK" panose="02000700000000000000" pitchFamily="2" charset="-122"/>
                <a:cs typeface="Source Code Pro"/>
                <a:sym typeface="Source Code Pro"/>
              </a:rPr>
              <a:t>graph[u][v] = </a:t>
            </a:r>
            <a:r>
              <a:rPr lang="en-US" sz="1200" b="0" i="0" u="none" strike="noStrike" dirty="0" err="1">
                <a:solidFill>
                  <a:srgbClr val="F59E0B"/>
                </a:solidFill>
                <a:latin typeface="BlueakaBeta2GBK" panose="02000700000000000000" pitchFamily="2" charset="-122"/>
                <a:ea typeface="BlueakaBeta2GBK" panose="02000700000000000000" pitchFamily="2" charset="-122"/>
                <a:cs typeface="Source Code Pro"/>
                <a:sym typeface="Source Code Pro"/>
              </a:rPr>
              <a:t>new_dist</a:t>
            </a:r>
            <a:br>
              <a:rPr lang="en-US" sz="1200" b="0" i="0" u="none" strike="noStrike" dirty="0">
                <a:solidFill>
                  <a:srgbClr val="F59E0B"/>
                </a:solidFill>
                <a:latin typeface="BlueakaBeta2GBK" panose="02000700000000000000" pitchFamily="2" charset="-122"/>
                <a:ea typeface="BlueakaBeta2GBK" panose="02000700000000000000" pitchFamily="2" charset="-122"/>
                <a:cs typeface="Source Code Pro"/>
                <a:sym typeface="Source Code Pro"/>
              </a:rPr>
            </a:br>
            <a:r>
              <a:rPr lang="en-US" sz="1200" b="0" i="0" u="none" strike="noStrike" dirty="0">
                <a:solidFill>
                  <a:srgbClr val="F59E0B"/>
                </a:solidFill>
                <a:latin typeface="BlueakaBeta2GBK" panose="02000700000000000000" pitchFamily="2" charset="-122"/>
                <a:ea typeface="BlueakaBeta2GBK" panose="02000700000000000000" pitchFamily="2" charset="-122"/>
                <a:cs typeface="Source Code Pro"/>
                <a:sym typeface="Source Code Pro"/>
              </a:rPr>
              <a:t>graph[v][u] = </a:t>
            </a:r>
            <a:r>
              <a:rPr lang="en-US" sz="1200" b="0" i="0" u="none" strike="noStrike" dirty="0" err="1">
                <a:solidFill>
                  <a:srgbClr val="F59E0B"/>
                </a:solidFill>
                <a:latin typeface="BlueakaBeta2GBK" panose="02000700000000000000" pitchFamily="2" charset="-122"/>
                <a:ea typeface="BlueakaBeta2GBK" panose="02000700000000000000" pitchFamily="2" charset="-122"/>
                <a:cs typeface="Source Code Pro"/>
                <a:sym typeface="Source Code Pro"/>
              </a:rPr>
              <a:t>new_dist</a:t>
            </a:r>
            <a:endParaRPr lang="en-US" sz="1100" dirty="0">
              <a:latin typeface="BlueakaBeta2GBK" panose="02000700000000000000" pitchFamily="2" charset="-122"/>
              <a:ea typeface="BlueakaBeta2GBK" panose="02000700000000000000" pitchFamily="2"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8FC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8255000" y="-1270000"/>
            <a:ext cx="5080000" cy="5080000"/>
          </a:xfrm>
          <a:prstGeom prst="ellipse">
            <a:avLst/>
          </a:prstGeom>
          <a:solidFill>
            <a:srgbClr val="D1FAE5">
              <a:alpha val="40000"/>
            </a:srgbClr>
          </a:solidFill>
          <a:ln cap="flat" cmpd="sng">
            <a:solidFill>
              <a:srgbClr val="A5E1C2">
                <a:alpha val="40000"/>
              </a:srgbClr>
            </a:solidFill>
            <a:prstDash val="solid"/>
            <a:round/>
          </a:ln>
        </p:spPr>
        <p:txBody>
          <a:bodyPr vert="horz" wrap="square" lIns="63500" tIns="63500" rIns="63500" bIns="63500" rtlCol="0" anchor="ctr"/>
          <a:lstStyle/>
          <a:p>
            <a:pPr algn="ctr">
              <a:defRPr/>
            </a:pPr>
            <a:endParaRPr dirty="0">
              <a:latin typeface="BlueakaBeta2GBK" panose="02000700000000000000" pitchFamily="2" charset="-122"/>
              <a:ea typeface="BlueakaBeta2GBK" panose="02000700000000000000" pitchFamily="2" charset="-122"/>
            </a:endParaRPr>
          </a:p>
        </p:txBody>
      </p:sp>
      <p:sp>
        <p:nvSpPr>
          <p:cNvPr id="3" name="AutoShape 3"/>
          <p:cNvSpPr/>
          <p:nvPr/>
        </p:nvSpPr>
        <p:spPr>
          <a:xfrm>
            <a:off x="-1270000" y="4445000"/>
            <a:ext cx="3810000" cy="3810000"/>
          </a:xfrm>
          <a:prstGeom prst="ellipse">
            <a:avLst/>
          </a:prstGeom>
          <a:solidFill>
            <a:srgbClr val="D1FAE5">
              <a:alpha val="40000"/>
            </a:srgbClr>
          </a:solidFill>
          <a:ln cap="flat" cmpd="sng">
            <a:solidFill>
              <a:srgbClr val="A5E1C2">
                <a:alpha val="40000"/>
              </a:srgbClr>
            </a:solidFill>
            <a:prstDash val="solid"/>
            <a:round/>
          </a:ln>
        </p:spPr>
        <p:txBody>
          <a:bodyPr vert="horz" wrap="square" lIns="63500" tIns="63500" rIns="63500" bIns="63500" rtlCol="0" anchor="ctr"/>
          <a:lstStyle/>
          <a:p>
            <a:pPr algn="ctr">
              <a:defRPr/>
            </a:pPr>
            <a:endParaRPr dirty="0">
              <a:latin typeface="BlueakaBeta2GBK" panose="02000700000000000000" pitchFamily="2" charset="-122"/>
              <a:ea typeface="BlueakaBeta2GBK" panose="02000700000000000000" pitchFamily="2" charset="-122"/>
            </a:endParaRPr>
          </a:p>
        </p:txBody>
      </p:sp>
      <p:sp>
        <p:nvSpPr>
          <p:cNvPr id="4" name="AutoShape 4"/>
          <p:cNvSpPr/>
          <p:nvPr/>
        </p:nvSpPr>
        <p:spPr>
          <a:xfrm>
            <a:off x="508000" y="508000"/>
            <a:ext cx="11176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dirty="0" err="1">
                <a:solidFill>
                  <a:srgbClr val="15803D"/>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七、成果展示</a:t>
            </a:r>
            <a:r>
              <a:rPr lang="en-US" sz="2800" b="1" i="0" u="none" strike="noStrike" dirty="0">
                <a:solidFill>
                  <a:srgbClr val="15803D"/>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 - </a:t>
            </a:r>
            <a:r>
              <a:rPr lang="en-US" sz="2800" b="1" i="0" u="none" strike="noStrike" dirty="0" err="1">
                <a:solidFill>
                  <a:srgbClr val="15803D"/>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数据规模</a:t>
            </a:r>
            <a:endParaRPr lang="en-US" sz="1100" dirty="0">
              <a:latin typeface="BlueakaBeta2GBK" panose="02000700000000000000" pitchFamily="2" charset="-122"/>
              <a:ea typeface="BlueakaBeta2GBK" panose="02000700000000000000" pitchFamily="2" charset="-122"/>
            </a:endParaRPr>
          </a:p>
        </p:txBody>
      </p:sp>
      <p:sp>
        <p:nvSpPr>
          <p:cNvPr id="5" name="AutoShape 5"/>
          <p:cNvSpPr/>
          <p:nvPr/>
        </p:nvSpPr>
        <p:spPr>
          <a:xfrm>
            <a:off x="508000" y="1651000"/>
            <a:ext cx="3505200" cy="3556000"/>
          </a:xfrm>
          <a:prstGeom prst="roundRect">
            <a:avLst>
              <a:gd name="adj" fmla="val 0"/>
            </a:avLst>
          </a:prstGeom>
          <a:solidFill>
            <a:srgbClr val="FFFFFF">
              <a:alpha val="100000"/>
            </a:srgbClr>
          </a:solidFill>
          <a:ln w="12700" cap="flat" cmpd="sng">
            <a:solidFill>
              <a:srgbClr val="BBF7D0">
                <a:alpha val="100000"/>
              </a:srgbClr>
            </a:solidFill>
            <a:prstDash val="solid"/>
            <a:round/>
          </a:ln>
        </p:spPr>
        <p:txBody>
          <a:bodyPr vert="horz" wrap="square" lIns="63500" tIns="63500" rIns="63500" bIns="63500" rtlCol="0" anchor="ctr"/>
          <a:lstStyle/>
          <a:p>
            <a:pPr algn="ctr">
              <a:defRPr/>
            </a:pPr>
            <a:endParaRPr dirty="0">
              <a:latin typeface="BlueakaBeta2GBK" panose="02000700000000000000" pitchFamily="2" charset="-122"/>
              <a:ea typeface="BlueakaBeta2GBK" panose="02000700000000000000" pitchFamily="2" charset="-122"/>
            </a:endParaRPr>
          </a:p>
        </p:txBody>
      </p:sp>
      <p:sp>
        <p:nvSpPr>
          <p:cNvPr id="6" name="AutoShape 6"/>
          <p:cNvSpPr/>
          <p:nvPr/>
        </p:nvSpPr>
        <p:spPr>
          <a:xfrm>
            <a:off x="508000" y="1651000"/>
            <a:ext cx="3505200" cy="76200"/>
          </a:xfrm>
          <a:prstGeom prst="roundRect">
            <a:avLst>
              <a:gd name="adj" fmla="val 0"/>
            </a:avLst>
          </a:prstGeom>
          <a:solidFill>
            <a:srgbClr val="16A34A">
              <a:alpha val="100000"/>
            </a:srgbClr>
          </a:solidFill>
          <a:ln w="25400" cap="flat" cmpd="sng">
            <a:noFill/>
            <a:prstDash val="solid"/>
            <a:round/>
          </a:ln>
        </p:spPr>
        <p:txBody>
          <a:bodyPr vert="horz" wrap="square" lIns="63500" tIns="63500" rIns="63500" bIns="63500" rtlCol="0" anchor="ctr"/>
          <a:lstStyle/>
          <a:p>
            <a:pPr algn="ctr">
              <a:defRPr/>
            </a:pPr>
            <a:endParaRPr dirty="0">
              <a:latin typeface="BlueakaBeta2GBK" panose="02000700000000000000" pitchFamily="2" charset="-122"/>
              <a:ea typeface="BlueakaBeta2GBK" panose="02000700000000000000" pitchFamily="2" charset="-122"/>
            </a:endParaRPr>
          </a:p>
        </p:txBody>
      </p:sp>
      <p:pic>
        <p:nvPicPr>
          <p:cNvPr id="7" name="Picture 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62000" y="2032000"/>
            <a:ext cx="406400" cy="406400"/>
          </a:xfrm>
          <a:prstGeom prst="rect">
            <a:avLst/>
          </a:prstGeom>
        </p:spPr>
      </p:pic>
      <p:sp>
        <p:nvSpPr>
          <p:cNvPr id="8" name="AutoShape 8"/>
          <p:cNvSpPr/>
          <p:nvPr/>
        </p:nvSpPr>
        <p:spPr>
          <a:xfrm>
            <a:off x="1397000" y="1968500"/>
            <a:ext cx="2286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4200" b="1" i="0" u="none" strike="noStrike" dirty="0">
                <a:solidFill>
                  <a:srgbClr val="16A34A"/>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10</a:t>
            </a:r>
            <a:r>
              <a:rPr lang="en-US" sz="1600" b="0" i="0" u="none" strike="noStrike" dirty="0">
                <a:solidFill>
                  <a:srgbClr val="6B7280"/>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个</a:t>
            </a:r>
            <a:endParaRPr lang="en-US" sz="1100" dirty="0">
              <a:latin typeface="BlueakaBeta2GBK" panose="02000700000000000000" pitchFamily="2" charset="-122"/>
              <a:ea typeface="BlueakaBeta2GBK" panose="02000700000000000000" pitchFamily="2" charset="-122"/>
            </a:endParaRPr>
          </a:p>
        </p:txBody>
      </p:sp>
      <p:sp>
        <p:nvSpPr>
          <p:cNvPr id="9" name="AutoShape 9"/>
          <p:cNvSpPr/>
          <p:nvPr/>
        </p:nvSpPr>
        <p:spPr>
          <a:xfrm>
            <a:off x="762000" y="2984500"/>
            <a:ext cx="29972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dirty="0" err="1">
                <a:solidFill>
                  <a:srgbClr val="374151"/>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核心景点全覆盖</a:t>
            </a:r>
            <a:endParaRPr lang="en-US" sz="1100" dirty="0">
              <a:latin typeface="BlueakaBeta2GBK" panose="02000700000000000000" pitchFamily="2" charset="-122"/>
              <a:ea typeface="BlueakaBeta2GBK" panose="02000700000000000000" pitchFamily="2" charset="-122"/>
            </a:endParaRPr>
          </a:p>
        </p:txBody>
      </p:sp>
      <p:cxnSp>
        <p:nvCxnSpPr>
          <p:cNvPr id="10" name="Connector 10"/>
          <p:cNvCxnSpPr/>
          <p:nvPr/>
        </p:nvCxnSpPr>
        <p:spPr>
          <a:xfrm rot="-14566">
            <a:off x="762013" y="3549650"/>
            <a:ext cx="2997200" cy="12700"/>
          </a:xfrm>
          <a:prstGeom prst="line">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sp>
        <p:nvSpPr>
          <p:cNvPr id="11" name="AutoShape 11"/>
          <p:cNvSpPr/>
          <p:nvPr/>
        </p:nvSpPr>
        <p:spPr>
          <a:xfrm>
            <a:off x="762000" y="3746500"/>
            <a:ext cx="29972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dirty="0" err="1">
                <a:solidFill>
                  <a:srgbClr val="6B7280"/>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囊括游客中心、樱花径、听涛亭、明镜湖、古寺、飞瀑、索道站、云山主峰等关键节点，实现景区核心资源的数字化建档与可视化呈现</a:t>
            </a:r>
            <a:r>
              <a:rPr lang="en-US" sz="1400" b="0" i="0" u="none" strike="noStrike" dirty="0">
                <a:solidFill>
                  <a:srgbClr val="6B7280"/>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a:t>
            </a:r>
            <a:endParaRPr lang="en-US" sz="1100" dirty="0">
              <a:latin typeface="BlueakaBeta2GBK" panose="02000700000000000000" pitchFamily="2" charset="-122"/>
              <a:ea typeface="BlueakaBeta2GBK" panose="02000700000000000000" pitchFamily="2" charset="-122"/>
            </a:endParaRPr>
          </a:p>
        </p:txBody>
      </p:sp>
      <p:sp>
        <p:nvSpPr>
          <p:cNvPr id="12" name="AutoShape 12"/>
          <p:cNvSpPr/>
          <p:nvPr/>
        </p:nvSpPr>
        <p:spPr>
          <a:xfrm>
            <a:off x="4343400" y="1651000"/>
            <a:ext cx="3505200" cy="3556000"/>
          </a:xfrm>
          <a:prstGeom prst="roundRect">
            <a:avLst>
              <a:gd name="adj" fmla="val 0"/>
            </a:avLst>
          </a:prstGeom>
          <a:solidFill>
            <a:srgbClr val="FFFFFF">
              <a:alpha val="100000"/>
            </a:srgbClr>
          </a:solidFill>
          <a:ln w="12700" cap="flat" cmpd="sng">
            <a:solidFill>
              <a:srgbClr val="BBF7D0">
                <a:alpha val="100000"/>
              </a:srgbClr>
            </a:solidFill>
            <a:prstDash val="solid"/>
            <a:round/>
          </a:ln>
        </p:spPr>
        <p:txBody>
          <a:bodyPr vert="horz" wrap="square" lIns="63500" tIns="63500" rIns="63500" bIns="63500" rtlCol="0" anchor="ctr"/>
          <a:lstStyle/>
          <a:p>
            <a:pPr algn="ctr">
              <a:defRPr/>
            </a:pPr>
            <a:endParaRPr dirty="0">
              <a:latin typeface="BlueakaBeta2GBK" panose="02000700000000000000" pitchFamily="2" charset="-122"/>
              <a:ea typeface="BlueakaBeta2GBK" panose="02000700000000000000" pitchFamily="2" charset="-122"/>
            </a:endParaRPr>
          </a:p>
        </p:txBody>
      </p:sp>
      <p:sp>
        <p:nvSpPr>
          <p:cNvPr id="13" name="AutoShape 13"/>
          <p:cNvSpPr/>
          <p:nvPr/>
        </p:nvSpPr>
        <p:spPr>
          <a:xfrm>
            <a:off x="4343400" y="1651000"/>
            <a:ext cx="3505200" cy="76200"/>
          </a:xfrm>
          <a:prstGeom prst="roundRect">
            <a:avLst>
              <a:gd name="adj" fmla="val 0"/>
            </a:avLst>
          </a:prstGeom>
          <a:solidFill>
            <a:srgbClr val="16A34A">
              <a:alpha val="100000"/>
            </a:srgbClr>
          </a:solidFill>
          <a:ln w="25400" cap="flat" cmpd="sng">
            <a:noFill/>
            <a:prstDash val="solid"/>
            <a:round/>
          </a:ln>
        </p:spPr>
        <p:txBody>
          <a:bodyPr vert="horz" wrap="square" lIns="63500" tIns="63500" rIns="63500" bIns="63500" rtlCol="0" anchor="ctr"/>
          <a:lstStyle/>
          <a:p>
            <a:pPr algn="ctr">
              <a:defRPr/>
            </a:pPr>
            <a:endParaRPr dirty="0">
              <a:latin typeface="BlueakaBeta2GBK" panose="02000700000000000000" pitchFamily="2" charset="-122"/>
              <a:ea typeface="BlueakaBeta2GBK" panose="02000700000000000000" pitchFamily="2" charset="-122"/>
            </a:endParaRPr>
          </a:p>
        </p:txBody>
      </p:sp>
      <p:pic>
        <p:nvPicPr>
          <p:cNvPr id="14" name="Picture 1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597400" y="2032000"/>
            <a:ext cx="406400" cy="406400"/>
          </a:xfrm>
          <a:prstGeom prst="rect">
            <a:avLst/>
          </a:prstGeom>
        </p:spPr>
      </p:pic>
      <p:sp>
        <p:nvSpPr>
          <p:cNvPr id="15" name="AutoShape 15"/>
          <p:cNvSpPr/>
          <p:nvPr/>
        </p:nvSpPr>
        <p:spPr>
          <a:xfrm>
            <a:off x="5232400" y="1968500"/>
            <a:ext cx="2286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4200" b="1" i="0" u="none" strike="noStrike" dirty="0">
                <a:solidFill>
                  <a:srgbClr val="16A34A"/>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13</a:t>
            </a:r>
            <a:r>
              <a:rPr lang="en-US" sz="1600" b="0" i="0" u="none" strike="noStrike" dirty="0">
                <a:solidFill>
                  <a:srgbClr val="6B7280"/>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条</a:t>
            </a:r>
            <a:endParaRPr lang="en-US" sz="1100" dirty="0">
              <a:latin typeface="BlueakaBeta2GBK" panose="02000700000000000000" pitchFamily="2" charset="-122"/>
              <a:ea typeface="BlueakaBeta2GBK" panose="02000700000000000000" pitchFamily="2" charset="-122"/>
            </a:endParaRPr>
          </a:p>
        </p:txBody>
      </p:sp>
      <p:sp>
        <p:nvSpPr>
          <p:cNvPr id="16" name="AutoShape 16"/>
          <p:cNvSpPr/>
          <p:nvPr/>
        </p:nvSpPr>
        <p:spPr>
          <a:xfrm>
            <a:off x="4597400" y="2984500"/>
            <a:ext cx="29972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dirty="0" err="1">
                <a:solidFill>
                  <a:srgbClr val="374151"/>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全域路网数字化</a:t>
            </a:r>
            <a:endParaRPr lang="en-US" sz="1100" dirty="0">
              <a:latin typeface="BlueakaBeta2GBK" panose="02000700000000000000" pitchFamily="2" charset="-122"/>
              <a:ea typeface="BlueakaBeta2GBK" panose="02000700000000000000" pitchFamily="2" charset="-122"/>
            </a:endParaRPr>
          </a:p>
        </p:txBody>
      </p:sp>
      <p:cxnSp>
        <p:nvCxnSpPr>
          <p:cNvPr id="17" name="Connector 17"/>
          <p:cNvCxnSpPr/>
          <p:nvPr/>
        </p:nvCxnSpPr>
        <p:spPr>
          <a:xfrm rot="-14566">
            <a:off x="4597413" y="3549650"/>
            <a:ext cx="2997200" cy="12700"/>
          </a:xfrm>
          <a:prstGeom prst="line">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sp>
        <p:nvSpPr>
          <p:cNvPr id="18" name="AutoShape 18"/>
          <p:cNvSpPr/>
          <p:nvPr/>
        </p:nvSpPr>
        <p:spPr>
          <a:xfrm>
            <a:off x="4597400" y="3746500"/>
            <a:ext cx="29972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dirty="0" err="1">
                <a:solidFill>
                  <a:srgbClr val="6B7280"/>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整合生态步道与盘山公路两大类型，构建起“内连外通”的立体交通网络数据模型，精准还原每一条游览动线的空间特征与走向</a:t>
            </a:r>
            <a:r>
              <a:rPr lang="en-US" sz="1400" b="0" i="0" u="none" strike="noStrike" dirty="0">
                <a:solidFill>
                  <a:srgbClr val="6B7280"/>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a:t>
            </a:r>
            <a:endParaRPr lang="en-US" sz="1100" dirty="0">
              <a:latin typeface="BlueakaBeta2GBK" panose="02000700000000000000" pitchFamily="2" charset="-122"/>
              <a:ea typeface="BlueakaBeta2GBK" panose="02000700000000000000" pitchFamily="2" charset="-122"/>
            </a:endParaRPr>
          </a:p>
        </p:txBody>
      </p:sp>
      <p:sp>
        <p:nvSpPr>
          <p:cNvPr id="19" name="AutoShape 19"/>
          <p:cNvSpPr/>
          <p:nvPr/>
        </p:nvSpPr>
        <p:spPr>
          <a:xfrm>
            <a:off x="8178800" y="1651000"/>
            <a:ext cx="3505200" cy="3556000"/>
          </a:xfrm>
          <a:prstGeom prst="roundRect">
            <a:avLst>
              <a:gd name="adj" fmla="val 0"/>
            </a:avLst>
          </a:prstGeom>
          <a:solidFill>
            <a:srgbClr val="FFFFFF">
              <a:alpha val="100000"/>
            </a:srgbClr>
          </a:solidFill>
          <a:ln w="12700" cap="flat" cmpd="sng">
            <a:solidFill>
              <a:srgbClr val="BBF7D0">
                <a:alpha val="100000"/>
              </a:srgbClr>
            </a:solidFill>
            <a:prstDash val="solid"/>
            <a:round/>
          </a:ln>
        </p:spPr>
        <p:txBody>
          <a:bodyPr vert="horz" wrap="square" lIns="63500" tIns="63500" rIns="63500" bIns="63500" rtlCol="0" anchor="ctr"/>
          <a:lstStyle/>
          <a:p>
            <a:pPr algn="ctr">
              <a:defRPr/>
            </a:pPr>
            <a:endParaRPr dirty="0">
              <a:latin typeface="BlueakaBeta2GBK" panose="02000700000000000000" pitchFamily="2" charset="-122"/>
              <a:ea typeface="BlueakaBeta2GBK" panose="02000700000000000000" pitchFamily="2" charset="-122"/>
            </a:endParaRPr>
          </a:p>
        </p:txBody>
      </p:sp>
      <p:sp>
        <p:nvSpPr>
          <p:cNvPr id="20" name="AutoShape 20"/>
          <p:cNvSpPr/>
          <p:nvPr/>
        </p:nvSpPr>
        <p:spPr>
          <a:xfrm>
            <a:off x="8178800" y="1651000"/>
            <a:ext cx="3505200" cy="76200"/>
          </a:xfrm>
          <a:prstGeom prst="roundRect">
            <a:avLst>
              <a:gd name="adj" fmla="val 0"/>
            </a:avLst>
          </a:prstGeom>
          <a:solidFill>
            <a:srgbClr val="16A34A">
              <a:alpha val="100000"/>
            </a:srgbClr>
          </a:solidFill>
          <a:ln w="25400" cap="flat" cmpd="sng">
            <a:noFill/>
            <a:prstDash val="solid"/>
            <a:round/>
          </a:ln>
        </p:spPr>
        <p:txBody>
          <a:bodyPr vert="horz" wrap="square" lIns="63500" tIns="63500" rIns="63500" bIns="63500" rtlCol="0" anchor="ctr"/>
          <a:lstStyle/>
          <a:p>
            <a:pPr algn="ctr">
              <a:defRPr/>
            </a:pPr>
            <a:endParaRPr dirty="0">
              <a:latin typeface="BlueakaBeta2GBK" panose="02000700000000000000" pitchFamily="2" charset="-122"/>
              <a:ea typeface="BlueakaBeta2GBK" panose="02000700000000000000" pitchFamily="2" charset="-122"/>
            </a:endParaRPr>
          </a:p>
        </p:txBody>
      </p:sp>
      <p:pic>
        <p:nvPicPr>
          <p:cNvPr id="21" name="Picture 2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432800" y="2032000"/>
            <a:ext cx="406400" cy="406400"/>
          </a:xfrm>
          <a:prstGeom prst="rect">
            <a:avLst/>
          </a:prstGeom>
        </p:spPr>
      </p:pic>
      <p:sp>
        <p:nvSpPr>
          <p:cNvPr id="22" name="AutoShape 22"/>
          <p:cNvSpPr/>
          <p:nvPr/>
        </p:nvSpPr>
        <p:spPr>
          <a:xfrm>
            <a:off x="9067800" y="1968500"/>
            <a:ext cx="2286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4200" b="1" i="0" u="none" strike="noStrike" dirty="0">
                <a:solidFill>
                  <a:srgbClr val="16A34A"/>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60×18</a:t>
            </a:r>
            <a:endParaRPr lang="en-US" sz="1100" dirty="0">
              <a:latin typeface="BlueakaBeta2GBK" panose="02000700000000000000" pitchFamily="2" charset="-122"/>
              <a:ea typeface="BlueakaBeta2GBK" panose="02000700000000000000" pitchFamily="2" charset="-122"/>
            </a:endParaRPr>
          </a:p>
        </p:txBody>
      </p:sp>
      <p:sp>
        <p:nvSpPr>
          <p:cNvPr id="23" name="AutoShape 23"/>
          <p:cNvSpPr/>
          <p:nvPr/>
        </p:nvSpPr>
        <p:spPr>
          <a:xfrm>
            <a:off x="8432800" y="2984500"/>
            <a:ext cx="29972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dirty="0" err="1">
                <a:solidFill>
                  <a:srgbClr val="374151"/>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高精度网格渲染</a:t>
            </a:r>
            <a:endParaRPr lang="en-US" sz="1100" dirty="0">
              <a:latin typeface="BlueakaBeta2GBK" panose="02000700000000000000" pitchFamily="2" charset="-122"/>
              <a:ea typeface="BlueakaBeta2GBK" panose="02000700000000000000" pitchFamily="2" charset="-122"/>
            </a:endParaRPr>
          </a:p>
        </p:txBody>
      </p:sp>
      <p:cxnSp>
        <p:nvCxnSpPr>
          <p:cNvPr id="24" name="Connector 24"/>
          <p:cNvCxnSpPr/>
          <p:nvPr/>
        </p:nvCxnSpPr>
        <p:spPr>
          <a:xfrm rot="-14566">
            <a:off x="8432813" y="3549650"/>
            <a:ext cx="2997200" cy="12700"/>
          </a:xfrm>
          <a:prstGeom prst="line">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sp>
        <p:nvSpPr>
          <p:cNvPr id="25" name="AutoShape 25"/>
          <p:cNvSpPr/>
          <p:nvPr/>
        </p:nvSpPr>
        <p:spPr>
          <a:xfrm>
            <a:off x="8432800" y="3746500"/>
            <a:ext cx="29972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dirty="0" err="1">
                <a:solidFill>
                  <a:srgbClr val="6B7280"/>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采用高密度字符网格技术，对景区地形地貌与景观层次进行精细化渲染，以矩阵化的方式呈现逼真的空间细节与视觉效果</a:t>
            </a:r>
            <a:r>
              <a:rPr lang="en-US" sz="1400" b="0" i="0" u="none" strike="noStrike" dirty="0">
                <a:solidFill>
                  <a:srgbClr val="6B7280"/>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a:t>
            </a:r>
            <a:endParaRPr lang="en-US" sz="1100" dirty="0">
              <a:latin typeface="BlueakaBeta2GBK" panose="02000700000000000000" pitchFamily="2" charset="-122"/>
              <a:ea typeface="BlueakaBeta2GBK" panose="02000700000000000000" pitchFamily="2" charset="-122"/>
            </a:endParaRPr>
          </a:p>
        </p:txBody>
      </p:sp>
      <p:sp>
        <p:nvSpPr>
          <p:cNvPr id="26" name="AutoShape 26"/>
          <p:cNvSpPr/>
          <p:nvPr/>
        </p:nvSpPr>
        <p:spPr>
          <a:xfrm>
            <a:off x="508000" y="5461000"/>
            <a:ext cx="11176000" cy="1016000"/>
          </a:xfrm>
          <a:prstGeom prst="roundRect">
            <a:avLst>
              <a:gd name="adj" fmla="val 0"/>
            </a:avLst>
          </a:prstGeom>
          <a:solidFill>
            <a:srgbClr val="DCFCE7">
              <a:alpha val="60000"/>
            </a:srgbClr>
          </a:solidFill>
          <a:ln cap="flat" cmpd="sng">
            <a:solidFill>
              <a:srgbClr val="AFE3C1">
                <a:alpha val="60000"/>
              </a:srgbClr>
            </a:solidFill>
            <a:prstDash val="solid"/>
            <a:round/>
          </a:ln>
        </p:spPr>
        <p:txBody>
          <a:bodyPr vert="horz" wrap="square" lIns="63500" tIns="63500" rIns="63500" bIns="63500" rtlCol="0" anchor="ctr"/>
          <a:lstStyle/>
          <a:p>
            <a:pPr algn="ctr">
              <a:defRPr/>
            </a:pPr>
            <a:endParaRPr dirty="0">
              <a:latin typeface="BlueakaBeta2GBK" panose="02000700000000000000" pitchFamily="2" charset="-122"/>
              <a:ea typeface="BlueakaBeta2GBK" panose="02000700000000000000" pitchFamily="2" charset="-122"/>
            </a:endParaRPr>
          </a:p>
        </p:txBody>
      </p:sp>
      <p:sp>
        <p:nvSpPr>
          <p:cNvPr id="27" name="AutoShape 27"/>
          <p:cNvSpPr/>
          <p:nvPr/>
        </p:nvSpPr>
        <p:spPr>
          <a:xfrm>
            <a:off x="762000" y="56007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dirty="0">
                <a:solidFill>
                  <a:srgbClr val="15803D"/>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成果价值：</a:t>
            </a:r>
            <a:r>
              <a:rPr lang="en-US" sz="1400" b="0" i="0" u="none" strike="noStrike" dirty="0">
                <a:solidFill>
                  <a:srgbClr val="374151"/>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通过构建多维度、高精度的空间数据模型，不仅实现了景区资源的全景式数字化还原，更为智慧景区的客流智能调度、沉浸式导览体验以及应急管理提供了坚实的数据支撑。</a:t>
            </a:r>
            <a:endParaRPr lang="en-US" sz="1100" dirty="0">
              <a:latin typeface="BlueakaBeta2GBK" panose="02000700000000000000" pitchFamily="2" charset="-122"/>
              <a:ea typeface="BlueakaBeta2GBK" panose="02000700000000000000" pitchFamily="2"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rotWithShape="1">
          <a:gsLst>
            <a:gs pos="0">
              <a:srgbClr val="ECFDF5">
                <a:alpha val="100000"/>
              </a:srgbClr>
            </a:gs>
            <a:gs pos="100000">
              <a:srgbClr val="EFF6FF">
                <a:alpha val="100000"/>
              </a:srgbClr>
            </a:gs>
          </a:gsLst>
          <a:lin ang="2700000"/>
        </a:gradFill>
        <a:effectLst/>
      </p:bgPr>
    </p:bg>
    <p:spTree>
      <p:nvGrpSpPr>
        <p:cNvPr id="1" name=""/>
        <p:cNvGrpSpPr/>
        <p:nvPr/>
      </p:nvGrpSpPr>
      <p:grpSpPr>
        <a:xfrm>
          <a:off x="0" y="0"/>
          <a:ext cx="0" cy="0"/>
          <a:chOff x="0" y="0"/>
          <a:chExt cx="0" cy="0"/>
        </a:xfrm>
      </p:grpSpPr>
      <p:sp>
        <p:nvSpPr>
          <p:cNvPr id="2" name="AutoShape 2"/>
          <p:cNvSpPr/>
          <p:nvPr/>
        </p:nvSpPr>
        <p:spPr>
          <a:xfrm>
            <a:off x="9525000" y="-1270000"/>
            <a:ext cx="3810000" cy="3810000"/>
          </a:xfrm>
          <a:prstGeom prst="ellipse">
            <a:avLst/>
          </a:prstGeom>
          <a:solidFill>
            <a:srgbClr val="34D399">
              <a:alpha val="10000"/>
            </a:srgbClr>
          </a:solidFill>
          <a:ln w="25400" cap="flat" cmpd="sng">
            <a:noFill/>
            <a:prstDash val="solid"/>
            <a:round/>
          </a:ln>
        </p:spPr>
        <p:txBody>
          <a:bodyPr vert="horz" wrap="square" lIns="63500" tIns="63500" rIns="63500" bIns="63500" rtlCol="0" anchor="ctr"/>
          <a:lstStyle/>
          <a:p>
            <a:pPr algn="ctr">
              <a:defRPr/>
            </a:pPr>
            <a:endParaRPr dirty="0">
              <a:latin typeface="BlueakaBeta2GBK" panose="02000700000000000000" pitchFamily="2" charset="-122"/>
              <a:ea typeface="BlueakaBeta2GBK" panose="02000700000000000000" pitchFamily="2" charset="-122"/>
            </a:endParaRPr>
          </a:p>
        </p:txBody>
      </p:sp>
      <p:sp>
        <p:nvSpPr>
          <p:cNvPr id="3" name="AutoShape 3"/>
          <p:cNvSpPr/>
          <p:nvPr/>
        </p:nvSpPr>
        <p:spPr>
          <a:xfrm>
            <a:off x="-1016000" y="5080000"/>
            <a:ext cx="3175000" cy="3175000"/>
          </a:xfrm>
          <a:prstGeom prst="ellipse">
            <a:avLst/>
          </a:prstGeom>
          <a:solidFill>
            <a:srgbClr val="60A5FA">
              <a:alpha val="10000"/>
            </a:srgbClr>
          </a:solidFill>
          <a:ln w="25400" cap="flat" cmpd="sng">
            <a:noFill/>
            <a:prstDash val="solid"/>
            <a:round/>
          </a:ln>
        </p:spPr>
        <p:txBody>
          <a:bodyPr vert="horz" wrap="square" lIns="63500" tIns="63500" rIns="63500" bIns="63500" rtlCol="0" anchor="ctr"/>
          <a:lstStyle/>
          <a:p>
            <a:pPr algn="ctr">
              <a:defRPr/>
            </a:pPr>
            <a:endParaRPr dirty="0">
              <a:latin typeface="BlueakaBeta2GBK" panose="02000700000000000000" pitchFamily="2" charset="-122"/>
              <a:ea typeface="BlueakaBeta2GBK" panose="02000700000000000000" pitchFamily="2" charset="-122"/>
            </a:endParaRPr>
          </a:p>
        </p:txBody>
      </p:sp>
      <p:sp>
        <p:nvSpPr>
          <p:cNvPr id="4" name="AutoShape 4"/>
          <p:cNvSpPr/>
          <p:nvPr/>
        </p:nvSpPr>
        <p:spPr>
          <a:xfrm>
            <a:off x="508000" y="508000"/>
            <a:ext cx="11176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dirty="0" err="1">
                <a:solidFill>
                  <a:srgbClr val="15803D"/>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七、成果展示</a:t>
            </a:r>
            <a:r>
              <a:rPr lang="en-US" sz="3200" b="1" i="0" u="none" strike="noStrike" dirty="0">
                <a:solidFill>
                  <a:srgbClr val="15803D"/>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 - </a:t>
            </a:r>
            <a:r>
              <a:rPr lang="en-US" sz="3200" b="1" i="0" u="none" strike="noStrike" dirty="0" err="1">
                <a:solidFill>
                  <a:srgbClr val="15803D"/>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功能实测</a:t>
            </a:r>
            <a:endParaRPr lang="en-US" sz="1100" dirty="0">
              <a:latin typeface="BlueakaBeta2GBK" panose="02000700000000000000" pitchFamily="2" charset="-122"/>
              <a:ea typeface="BlueakaBeta2GBK" panose="02000700000000000000" pitchFamily="2" charset="-122"/>
            </a:endParaRPr>
          </a:p>
        </p:txBody>
      </p:sp>
      <p:sp>
        <p:nvSpPr>
          <p:cNvPr id="5" name="AutoShape 5"/>
          <p:cNvSpPr/>
          <p:nvPr/>
        </p:nvSpPr>
        <p:spPr>
          <a:xfrm>
            <a:off x="508000" y="1397000"/>
            <a:ext cx="11176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dirty="0">
                <a:solidFill>
                  <a:srgbClr val="374151"/>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01 </a:t>
            </a:r>
            <a:r>
              <a:rPr lang="en-US" sz="1800" b="1" i="0" u="none" strike="noStrike" dirty="0" err="1">
                <a:solidFill>
                  <a:srgbClr val="374151"/>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最短路径导航精准度验证</a:t>
            </a:r>
            <a:endParaRPr lang="en-US" sz="1100" dirty="0">
              <a:latin typeface="BlueakaBeta2GBK" panose="02000700000000000000" pitchFamily="2" charset="-122"/>
              <a:ea typeface="BlueakaBeta2GBK" panose="02000700000000000000" pitchFamily="2" charset="-122"/>
            </a:endParaRPr>
          </a:p>
        </p:txBody>
      </p:sp>
      <p:sp>
        <p:nvSpPr>
          <p:cNvPr id="6" name="AutoShape 6"/>
          <p:cNvSpPr/>
          <p:nvPr/>
        </p:nvSpPr>
        <p:spPr>
          <a:xfrm>
            <a:off x="508000" y="1968500"/>
            <a:ext cx="3556000" cy="1841500"/>
          </a:xfrm>
          <a:prstGeom prst="roundRect">
            <a:avLst>
              <a:gd name="adj" fmla="val 0"/>
            </a:avLst>
          </a:prstGeom>
          <a:solidFill>
            <a:srgbClr val="FFFFFF">
              <a:alpha val="70000"/>
            </a:srgbClr>
          </a:solidFill>
          <a:ln w="12700" cap="flat" cmpd="sng">
            <a:solidFill>
              <a:srgbClr val="A7F3D0">
                <a:alpha val="100000"/>
              </a:srgbClr>
            </a:solidFill>
            <a:prstDash val="solid"/>
            <a:round/>
          </a:ln>
        </p:spPr>
        <p:txBody>
          <a:bodyPr vert="horz" wrap="square" lIns="63500" tIns="63500" rIns="63500" bIns="63500" rtlCol="0" anchor="ctr"/>
          <a:lstStyle/>
          <a:p>
            <a:pPr algn="ctr">
              <a:defRPr/>
            </a:pPr>
            <a:endParaRPr dirty="0">
              <a:latin typeface="BlueakaBeta2GBK" panose="02000700000000000000" pitchFamily="2" charset="-122"/>
              <a:ea typeface="BlueakaBeta2GBK" panose="02000700000000000000" pitchFamily="2" charset="-122"/>
            </a:endParaRPr>
          </a:p>
        </p:txBody>
      </p:sp>
      <p:pic>
        <p:nvPicPr>
          <p:cNvPr id="7" name="Picture 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98500" y="2159000"/>
            <a:ext cx="304800" cy="304800"/>
          </a:xfrm>
          <a:prstGeom prst="rect">
            <a:avLst/>
          </a:prstGeom>
        </p:spPr>
      </p:pic>
      <p:sp>
        <p:nvSpPr>
          <p:cNvPr id="8" name="AutoShape 8"/>
          <p:cNvSpPr/>
          <p:nvPr/>
        </p:nvSpPr>
        <p:spPr>
          <a:xfrm>
            <a:off x="1079500" y="2159000"/>
            <a:ext cx="29210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dirty="0" err="1">
                <a:solidFill>
                  <a:srgbClr val="1F2937"/>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游客中心</a:t>
            </a:r>
            <a:r>
              <a:rPr lang="en-US" sz="1600" b="1" i="0" u="none" strike="noStrike" dirty="0">
                <a:solidFill>
                  <a:srgbClr val="1F2937"/>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 → </a:t>
            </a:r>
            <a:r>
              <a:rPr lang="en-US" sz="1600" b="1" i="0" u="none" strike="noStrike" dirty="0" err="1">
                <a:solidFill>
                  <a:srgbClr val="1F2937"/>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云山主峰</a:t>
            </a:r>
            <a:endParaRPr lang="en-US" sz="1100" dirty="0">
              <a:latin typeface="BlueakaBeta2GBK" panose="02000700000000000000" pitchFamily="2" charset="-122"/>
              <a:ea typeface="BlueakaBeta2GBK" panose="02000700000000000000" pitchFamily="2" charset="-122"/>
            </a:endParaRPr>
          </a:p>
        </p:txBody>
      </p:sp>
      <p:sp>
        <p:nvSpPr>
          <p:cNvPr id="9" name="AutoShape 9"/>
          <p:cNvSpPr/>
          <p:nvPr/>
        </p:nvSpPr>
        <p:spPr>
          <a:xfrm>
            <a:off x="698500" y="2603500"/>
            <a:ext cx="3175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300" b="0" i="0" u="none" strike="noStrike" dirty="0">
                <a:solidFill>
                  <a:srgbClr val="6B7280"/>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节点序列：1 → 2 → 3 → 4 → 7 → 8</a:t>
            </a:r>
            <a:br>
              <a:rPr lang="en-US" sz="1300" b="0" i="0" u="none" strike="noStrike" dirty="0">
                <a:solidFill>
                  <a:srgbClr val="6B7280"/>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br>
            <a:r>
              <a:rPr lang="en-US" sz="1300" b="0" i="0" u="none" strike="noStrike" dirty="0" err="1">
                <a:solidFill>
                  <a:srgbClr val="6B7280"/>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核心景观：途经云山叠翠、望海长廊</a:t>
            </a:r>
            <a:endParaRPr lang="en-US" sz="1100" dirty="0">
              <a:latin typeface="BlueakaBeta2GBK" panose="02000700000000000000" pitchFamily="2" charset="-122"/>
              <a:ea typeface="BlueakaBeta2GBK" panose="02000700000000000000" pitchFamily="2" charset="-122"/>
            </a:endParaRPr>
          </a:p>
        </p:txBody>
      </p:sp>
      <p:sp>
        <p:nvSpPr>
          <p:cNvPr id="10" name="AutoShape 10"/>
          <p:cNvSpPr/>
          <p:nvPr/>
        </p:nvSpPr>
        <p:spPr>
          <a:xfrm>
            <a:off x="698500" y="3302000"/>
            <a:ext cx="3175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dirty="0">
                <a:solidFill>
                  <a:srgbClr val="EA580C"/>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总里程：3000米 (3.0km)</a:t>
            </a:r>
            <a:endParaRPr lang="en-US" sz="1100" dirty="0">
              <a:latin typeface="BlueakaBeta2GBK" panose="02000700000000000000" pitchFamily="2" charset="-122"/>
              <a:ea typeface="BlueakaBeta2GBK" panose="02000700000000000000" pitchFamily="2" charset="-122"/>
            </a:endParaRPr>
          </a:p>
        </p:txBody>
      </p:sp>
      <p:sp>
        <p:nvSpPr>
          <p:cNvPr id="11" name="AutoShape 11"/>
          <p:cNvSpPr/>
          <p:nvPr/>
        </p:nvSpPr>
        <p:spPr>
          <a:xfrm>
            <a:off x="4318000" y="1968500"/>
            <a:ext cx="3556000" cy="1841500"/>
          </a:xfrm>
          <a:prstGeom prst="roundRect">
            <a:avLst>
              <a:gd name="adj" fmla="val 0"/>
            </a:avLst>
          </a:prstGeom>
          <a:solidFill>
            <a:srgbClr val="FFFFFF">
              <a:alpha val="70000"/>
            </a:srgbClr>
          </a:solidFill>
          <a:ln w="12700" cap="flat" cmpd="sng">
            <a:solidFill>
              <a:srgbClr val="A7F3D0">
                <a:alpha val="100000"/>
              </a:srgbClr>
            </a:solidFill>
            <a:prstDash val="solid"/>
            <a:round/>
          </a:ln>
        </p:spPr>
        <p:txBody>
          <a:bodyPr vert="horz" wrap="square" lIns="63500" tIns="63500" rIns="63500" bIns="63500" rtlCol="0" anchor="ctr"/>
          <a:lstStyle/>
          <a:p>
            <a:pPr algn="ctr">
              <a:defRPr/>
            </a:pPr>
            <a:endParaRPr dirty="0">
              <a:latin typeface="BlueakaBeta2GBK" panose="02000700000000000000" pitchFamily="2" charset="-122"/>
              <a:ea typeface="BlueakaBeta2GBK" panose="02000700000000000000" pitchFamily="2" charset="-122"/>
            </a:endParaRPr>
          </a:p>
        </p:txBody>
      </p:sp>
      <p:pic>
        <p:nvPicPr>
          <p:cNvPr id="12" name="Picture 1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508500" y="2159000"/>
            <a:ext cx="304800" cy="304800"/>
          </a:xfrm>
          <a:prstGeom prst="rect">
            <a:avLst/>
          </a:prstGeom>
        </p:spPr>
      </p:pic>
      <p:sp>
        <p:nvSpPr>
          <p:cNvPr id="13" name="AutoShape 13"/>
          <p:cNvSpPr/>
          <p:nvPr/>
        </p:nvSpPr>
        <p:spPr>
          <a:xfrm>
            <a:off x="4889500" y="2159000"/>
            <a:ext cx="29210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dirty="0" err="1">
                <a:solidFill>
                  <a:srgbClr val="1F2937"/>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游客中心</a:t>
            </a:r>
            <a:r>
              <a:rPr lang="en-US" sz="1600" b="1" i="0" u="none" strike="noStrike" dirty="0">
                <a:solidFill>
                  <a:srgbClr val="1F2937"/>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 → </a:t>
            </a:r>
            <a:r>
              <a:rPr lang="en-US" sz="1600" b="1" i="0" u="none" strike="noStrike" dirty="0" err="1">
                <a:solidFill>
                  <a:srgbClr val="1F2937"/>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露营地</a:t>
            </a:r>
            <a:endParaRPr lang="en-US" sz="1100" dirty="0">
              <a:latin typeface="BlueakaBeta2GBK" panose="02000700000000000000" pitchFamily="2" charset="-122"/>
              <a:ea typeface="BlueakaBeta2GBK" panose="02000700000000000000" pitchFamily="2" charset="-122"/>
            </a:endParaRPr>
          </a:p>
        </p:txBody>
      </p:sp>
      <p:sp>
        <p:nvSpPr>
          <p:cNvPr id="14" name="AutoShape 14"/>
          <p:cNvSpPr/>
          <p:nvPr/>
        </p:nvSpPr>
        <p:spPr>
          <a:xfrm>
            <a:off x="4508500" y="2603500"/>
            <a:ext cx="3175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300" b="0" i="0" u="none" strike="noStrike" dirty="0">
                <a:solidFill>
                  <a:srgbClr val="6B7280"/>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节点序列：1 → 2 → 3 → 4 → 10</a:t>
            </a:r>
            <a:br>
              <a:rPr lang="en-US" sz="1300" b="0" i="0" u="none" strike="noStrike" dirty="0">
                <a:solidFill>
                  <a:srgbClr val="6B7280"/>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br>
            <a:r>
              <a:rPr lang="en-US" sz="1300" b="0" i="0" u="none" strike="noStrike" dirty="0" err="1">
                <a:solidFill>
                  <a:srgbClr val="6B7280"/>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核心体验：亲近自然、户外野餐露营</a:t>
            </a:r>
            <a:endParaRPr lang="en-US" sz="1100" dirty="0">
              <a:latin typeface="BlueakaBeta2GBK" panose="02000700000000000000" pitchFamily="2" charset="-122"/>
              <a:ea typeface="BlueakaBeta2GBK" panose="02000700000000000000" pitchFamily="2" charset="-122"/>
            </a:endParaRPr>
          </a:p>
        </p:txBody>
      </p:sp>
      <p:sp>
        <p:nvSpPr>
          <p:cNvPr id="15" name="AutoShape 15"/>
          <p:cNvSpPr/>
          <p:nvPr/>
        </p:nvSpPr>
        <p:spPr>
          <a:xfrm>
            <a:off x="4508500" y="3302000"/>
            <a:ext cx="3175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dirty="0">
                <a:solidFill>
                  <a:srgbClr val="EA580C"/>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总里程：2200米 (2.2km)</a:t>
            </a:r>
            <a:endParaRPr lang="en-US" sz="1100" dirty="0">
              <a:latin typeface="BlueakaBeta2GBK" panose="02000700000000000000" pitchFamily="2" charset="-122"/>
              <a:ea typeface="BlueakaBeta2GBK" panose="02000700000000000000" pitchFamily="2" charset="-122"/>
            </a:endParaRPr>
          </a:p>
        </p:txBody>
      </p:sp>
      <p:sp>
        <p:nvSpPr>
          <p:cNvPr id="16" name="AutoShape 16"/>
          <p:cNvSpPr/>
          <p:nvPr/>
        </p:nvSpPr>
        <p:spPr>
          <a:xfrm>
            <a:off x="8128000" y="1968500"/>
            <a:ext cx="3556000" cy="1841500"/>
          </a:xfrm>
          <a:prstGeom prst="roundRect">
            <a:avLst>
              <a:gd name="adj" fmla="val 0"/>
            </a:avLst>
          </a:prstGeom>
          <a:solidFill>
            <a:srgbClr val="FFFFFF">
              <a:alpha val="70000"/>
            </a:srgbClr>
          </a:solidFill>
          <a:ln w="12700" cap="flat" cmpd="sng">
            <a:solidFill>
              <a:srgbClr val="A7F3D0">
                <a:alpha val="100000"/>
              </a:srgbClr>
            </a:solidFill>
            <a:prstDash val="solid"/>
            <a:round/>
          </a:ln>
        </p:spPr>
        <p:txBody>
          <a:bodyPr vert="horz" wrap="square" lIns="63500" tIns="63500" rIns="63500" bIns="63500" rtlCol="0" anchor="ctr"/>
          <a:lstStyle/>
          <a:p>
            <a:pPr algn="ctr">
              <a:defRPr/>
            </a:pPr>
            <a:endParaRPr dirty="0">
              <a:latin typeface="BlueakaBeta2GBK" panose="02000700000000000000" pitchFamily="2" charset="-122"/>
              <a:ea typeface="BlueakaBeta2GBK" panose="02000700000000000000" pitchFamily="2" charset="-122"/>
            </a:endParaRPr>
          </a:p>
        </p:txBody>
      </p:sp>
      <p:pic>
        <p:nvPicPr>
          <p:cNvPr id="17" name="Picture 1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318500" y="2159000"/>
            <a:ext cx="304800" cy="304800"/>
          </a:xfrm>
          <a:prstGeom prst="rect">
            <a:avLst/>
          </a:prstGeom>
        </p:spPr>
      </p:pic>
      <p:sp>
        <p:nvSpPr>
          <p:cNvPr id="18" name="AutoShape 18"/>
          <p:cNvSpPr/>
          <p:nvPr/>
        </p:nvSpPr>
        <p:spPr>
          <a:xfrm>
            <a:off x="8699500" y="2159000"/>
            <a:ext cx="29210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dirty="0" err="1">
                <a:solidFill>
                  <a:srgbClr val="1F2937"/>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古寺</a:t>
            </a:r>
            <a:r>
              <a:rPr lang="en-US" sz="1600" b="1" i="0" u="none" strike="noStrike" dirty="0">
                <a:solidFill>
                  <a:srgbClr val="1F2937"/>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 → </a:t>
            </a:r>
            <a:r>
              <a:rPr lang="en-US" sz="1600" b="1" i="0" u="none" strike="noStrike" dirty="0" err="1">
                <a:solidFill>
                  <a:srgbClr val="1F2937"/>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观景台</a:t>
            </a:r>
            <a:endParaRPr lang="en-US" sz="1100" dirty="0">
              <a:latin typeface="BlueakaBeta2GBK" panose="02000700000000000000" pitchFamily="2" charset="-122"/>
              <a:ea typeface="BlueakaBeta2GBK" panose="02000700000000000000" pitchFamily="2" charset="-122"/>
            </a:endParaRPr>
          </a:p>
        </p:txBody>
      </p:sp>
      <p:sp>
        <p:nvSpPr>
          <p:cNvPr id="19" name="AutoShape 19"/>
          <p:cNvSpPr/>
          <p:nvPr/>
        </p:nvSpPr>
        <p:spPr>
          <a:xfrm>
            <a:off x="8318500" y="2603500"/>
            <a:ext cx="3175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300" b="0" i="0" u="none" strike="noStrike" dirty="0">
                <a:solidFill>
                  <a:srgbClr val="6B7280"/>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节点序列：5 → 6 → 7 → 8 → 9</a:t>
            </a:r>
            <a:br>
              <a:rPr lang="en-US" sz="1300" b="0" i="0" u="none" strike="noStrike" dirty="0">
                <a:solidFill>
                  <a:srgbClr val="6B7280"/>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br>
            <a:r>
              <a:rPr lang="en-US" sz="1300" b="0" i="0" u="none" strike="noStrike" dirty="0" err="1">
                <a:solidFill>
                  <a:srgbClr val="6B7280"/>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核心亮点：俯瞰云海日出、山寺晨钟</a:t>
            </a:r>
            <a:endParaRPr lang="en-US" sz="1100" dirty="0">
              <a:latin typeface="BlueakaBeta2GBK" panose="02000700000000000000" pitchFamily="2" charset="-122"/>
              <a:ea typeface="BlueakaBeta2GBK" panose="02000700000000000000" pitchFamily="2" charset="-122"/>
            </a:endParaRPr>
          </a:p>
        </p:txBody>
      </p:sp>
      <p:sp>
        <p:nvSpPr>
          <p:cNvPr id="20" name="AutoShape 20"/>
          <p:cNvSpPr/>
          <p:nvPr/>
        </p:nvSpPr>
        <p:spPr>
          <a:xfrm>
            <a:off x="8318500" y="3302000"/>
            <a:ext cx="3175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dirty="0">
                <a:solidFill>
                  <a:srgbClr val="EA580C"/>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总里程：2200米 (2.2km)</a:t>
            </a:r>
            <a:endParaRPr lang="en-US" sz="1100" dirty="0">
              <a:latin typeface="BlueakaBeta2GBK" panose="02000700000000000000" pitchFamily="2" charset="-122"/>
              <a:ea typeface="BlueakaBeta2GBK" panose="02000700000000000000" pitchFamily="2" charset="-122"/>
            </a:endParaRPr>
          </a:p>
        </p:txBody>
      </p:sp>
      <p:sp>
        <p:nvSpPr>
          <p:cNvPr id="21" name="AutoShape 21"/>
          <p:cNvSpPr/>
          <p:nvPr/>
        </p:nvSpPr>
        <p:spPr>
          <a:xfrm>
            <a:off x="508000" y="4000500"/>
            <a:ext cx="11176000" cy="584200"/>
          </a:xfrm>
          <a:prstGeom prst="roundRect">
            <a:avLst>
              <a:gd name="adj" fmla="val 0"/>
            </a:avLst>
          </a:prstGeom>
          <a:solidFill>
            <a:srgbClr val="D1FAE5">
              <a:alpha val="40000"/>
            </a:srgbClr>
          </a:solidFill>
          <a:ln w="25400" cap="flat" cmpd="sng">
            <a:noFill/>
            <a:prstDash val="solid"/>
            <a:round/>
          </a:ln>
        </p:spPr>
        <p:txBody>
          <a:bodyPr vert="horz" wrap="square" lIns="63500" tIns="63500" rIns="63500" bIns="63500" rtlCol="0" anchor="ctr"/>
          <a:lstStyle/>
          <a:p>
            <a:pPr algn="ctr">
              <a:defRPr/>
            </a:pPr>
            <a:endParaRPr dirty="0">
              <a:latin typeface="BlueakaBeta2GBK" panose="02000700000000000000" pitchFamily="2" charset="-122"/>
              <a:ea typeface="BlueakaBeta2GBK" panose="02000700000000000000" pitchFamily="2" charset="-122"/>
            </a:endParaRPr>
          </a:p>
        </p:txBody>
      </p:sp>
      <p:pic>
        <p:nvPicPr>
          <p:cNvPr id="22" name="Picture 2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98500" y="4178300"/>
            <a:ext cx="228600" cy="228600"/>
          </a:xfrm>
          <a:prstGeom prst="rect">
            <a:avLst/>
          </a:prstGeom>
        </p:spPr>
      </p:pic>
      <p:sp>
        <p:nvSpPr>
          <p:cNvPr id="23" name="AutoShape 23"/>
          <p:cNvSpPr/>
          <p:nvPr/>
        </p:nvSpPr>
        <p:spPr>
          <a:xfrm>
            <a:off x="1016000" y="4067074"/>
            <a:ext cx="1066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dirty="0">
                <a:solidFill>
                  <a:srgbClr val="065F46"/>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实测结论：</a:t>
            </a:r>
            <a:r>
              <a:rPr lang="en-US" sz="1300" b="0" i="0" u="none" strike="noStrike" dirty="0">
                <a:solidFill>
                  <a:srgbClr val="065F46"/>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所有规划路径均经人工实地步测验证，节点标识与实际地形高度匹配，距离测算误差率＜3%，</a:t>
            </a:r>
            <a:r>
              <a:rPr lang="en-US" sz="1300" b="0" i="0" u="none" strike="noStrike" dirty="0" err="1">
                <a:solidFill>
                  <a:srgbClr val="065F46"/>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完全满足景区导览系统的高精度使用要求</a:t>
            </a:r>
            <a:endParaRPr lang="en-US" sz="1100" dirty="0">
              <a:latin typeface="BlueakaBeta2GBK" panose="02000700000000000000" pitchFamily="2" charset="-122"/>
              <a:ea typeface="BlueakaBeta2GBK" panose="02000700000000000000" pitchFamily="2" charset="-122"/>
            </a:endParaRPr>
          </a:p>
        </p:txBody>
      </p:sp>
      <p:sp>
        <p:nvSpPr>
          <p:cNvPr id="24" name="AutoShape 24"/>
          <p:cNvSpPr/>
          <p:nvPr/>
        </p:nvSpPr>
        <p:spPr>
          <a:xfrm>
            <a:off x="508000" y="4762500"/>
            <a:ext cx="11176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dirty="0">
                <a:solidFill>
                  <a:srgbClr val="374151"/>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02 </a:t>
            </a:r>
            <a:r>
              <a:rPr lang="en-US" sz="1800" b="1" i="0" u="none" strike="noStrike" dirty="0" err="1">
                <a:solidFill>
                  <a:srgbClr val="374151"/>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全景游览经典环线实测结果</a:t>
            </a:r>
            <a:endParaRPr lang="en-US" sz="1100" dirty="0">
              <a:latin typeface="BlueakaBeta2GBK" panose="02000700000000000000" pitchFamily="2" charset="-122"/>
              <a:ea typeface="BlueakaBeta2GBK" panose="02000700000000000000" pitchFamily="2" charset="-122"/>
            </a:endParaRPr>
          </a:p>
        </p:txBody>
      </p:sp>
      <p:sp>
        <p:nvSpPr>
          <p:cNvPr id="25" name="AutoShape 25"/>
          <p:cNvSpPr/>
          <p:nvPr/>
        </p:nvSpPr>
        <p:spPr>
          <a:xfrm>
            <a:off x="508000" y="5270500"/>
            <a:ext cx="11176000" cy="1206500"/>
          </a:xfrm>
          <a:prstGeom prst="roundRect">
            <a:avLst>
              <a:gd name="adj" fmla="val 0"/>
            </a:avLst>
          </a:prstGeom>
          <a:solidFill>
            <a:srgbClr val="FFFFFF">
              <a:alpha val="60000"/>
            </a:srgbClr>
          </a:solidFill>
          <a:ln w="12700" cap="flat" cmpd="sng">
            <a:solidFill>
              <a:srgbClr val="BFDBFE">
                <a:alpha val="100000"/>
              </a:srgbClr>
            </a:solidFill>
            <a:prstDash val="solid"/>
            <a:round/>
          </a:ln>
        </p:spPr>
        <p:txBody>
          <a:bodyPr vert="horz" wrap="square" lIns="63500" tIns="63500" rIns="63500" bIns="63500" rtlCol="0" anchor="ctr"/>
          <a:lstStyle/>
          <a:p>
            <a:pPr algn="ctr">
              <a:defRPr/>
            </a:pPr>
            <a:endParaRPr dirty="0">
              <a:latin typeface="BlueakaBeta2GBK" panose="02000700000000000000" pitchFamily="2" charset="-122"/>
              <a:ea typeface="BlueakaBeta2GBK" panose="02000700000000000000" pitchFamily="2" charset="-122"/>
            </a:endParaRPr>
          </a:p>
        </p:txBody>
      </p:sp>
      <p:sp>
        <p:nvSpPr>
          <p:cNvPr id="26" name="AutoShape 26"/>
          <p:cNvSpPr/>
          <p:nvPr/>
        </p:nvSpPr>
        <p:spPr>
          <a:xfrm>
            <a:off x="698500" y="5397500"/>
            <a:ext cx="5334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1" i="0" u="none" strike="noStrike" dirty="0" err="1">
                <a:solidFill>
                  <a:srgbClr val="1F2937"/>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推荐环线：</a:t>
            </a:r>
            <a:r>
              <a:rPr lang="en-US" sz="1300" b="0" i="0" u="none" strike="noStrike" dirty="0" err="1">
                <a:solidFill>
                  <a:srgbClr val="4B5563"/>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游客中心</a:t>
            </a:r>
            <a:r>
              <a:rPr lang="en-US" sz="1300" b="0" i="0" u="none" strike="noStrike" dirty="0">
                <a:solidFill>
                  <a:srgbClr val="4B5563"/>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 → </a:t>
            </a:r>
            <a:r>
              <a:rPr lang="en-US" sz="1300" b="0" i="0" u="none" strike="noStrike" dirty="0" err="1">
                <a:solidFill>
                  <a:srgbClr val="4B5563"/>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樱花径</a:t>
            </a:r>
            <a:r>
              <a:rPr lang="en-US" sz="1300" b="0" i="0" u="none" strike="noStrike" dirty="0">
                <a:solidFill>
                  <a:srgbClr val="4B5563"/>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 → </a:t>
            </a:r>
            <a:r>
              <a:rPr lang="en-US" sz="1300" b="0" i="0" u="none" strike="noStrike" dirty="0" err="1">
                <a:solidFill>
                  <a:srgbClr val="4B5563"/>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听涛亭</a:t>
            </a:r>
            <a:r>
              <a:rPr lang="en-US" sz="1300" b="0" i="0" u="none" strike="noStrike" dirty="0">
                <a:solidFill>
                  <a:srgbClr val="4B5563"/>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 → </a:t>
            </a:r>
            <a:r>
              <a:rPr lang="en-US" sz="1300" b="0" i="0" u="none" strike="noStrike" dirty="0" err="1">
                <a:solidFill>
                  <a:srgbClr val="4B5563"/>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明镜湖</a:t>
            </a:r>
            <a:r>
              <a:rPr lang="en-US" sz="1300" b="0" i="0" u="none" strike="noStrike" dirty="0">
                <a:solidFill>
                  <a:srgbClr val="4B5563"/>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 → </a:t>
            </a:r>
            <a:r>
              <a:rPr lang="en-US" sz="1300" b="0" i="0" u="none" strike="noStrike" dirty="0" err="1">
                <a:solidFill>
                  <a:srgbClr val="4B5563"/>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露营地</a:t>
            </a:r>
            <a:r>
              <a:rPr lang="en-US" sz="1300" b="0" i="0" u="none" strike="noStrike" dirty="0">
                <a:solidFill>
                  <a:srgbClr val="4B5563"/>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 → </a:t>
            </a:r>
            <a:r>
              <a:rPr lang="en-US" sz="1300" b="0" i="0" u="none" strike="noStrike" dirty="0" err="1">
                <a:solidFill>
                  <a:srgbClr val="4B5563"/>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观景台</a:t>
            </a:r>
            <a:r>
              <a:rPr lang="en-US" sz="1300" b="0" i="0" u="none" strike="noStrike" dirty="0">
                <a:solidFill>
                  <a:srgbClr val="4B5563"/>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 → </a:t>
            </a:r>
            <a:r>
              <a:rPr lang="en-US" sz="1300" b="0" i="0" u="none" strike="noStrike" dirty="0" err="1">
                <a:solidFill>
                  <a:srgbClr val="4B5563"/>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云山主峰</a:t>
            </a:r>
            <a:r>
              <a:rPr lang="en-US" sz="1300" b="0" i="0" u="none" strike="noStrike" dirty="0">
                <a:solidFill>
                  <a:srgbClr val="4B5563"/>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 → </a:t>
            </a:r>
            <a:r>
              <a:rPr lang="en-US" sz="1300" b="0" i="0" u="none" strike="noStrike" dirty="0" err="1">
                <a:solidFill>
                  <a:srgbClr val="4B5563"/>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索道站</a:t>
            </a:r>
            <a:r>
              <a:rPr lang="en-US" sz="1300" b="0" i="0" u="none" strike="noStrike" dirty="0">
                <a:solidFill>
                  <a:srgbClr val="4B5563"/>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 → </a:t>
            </a:r>
            <a:r>
              <a:rPr lang="en-US" sz="1300" b="0" i="0" u="none" strike="noStrike" dirty="0" err="1">
                <a:solidFill>
                  <a:srgbClr val="4B5563"/>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飞瀑</a:t>
            </a:r>
            <a:r>
              <a:rPr lang="en-US" sz="1300" b="0" i="0" u="none" strike="noStrike" dirty="0">
                <a:solidFill>
                  <a:srgbClr val="4B5563"/>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 → </a:t>
            </a:r>
            <a:r>
              <a:rPr lang="en-US" sz="1300" b="0" i="0" u="none" strike="noStrike" dirty="0" err="1">
                <a:solidFill>
                  <a:srgbClr val="4B5563"/>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古寺（形成闭环游览，不走回头路</a:t>
            </a:r>
            <a:r>
              <a:rPr lang="en-US" sz="1300" b="0" i="0" u="none" strike="noStrike" dirty="0">
                <a:solidFill>
                  <a:srgbClr val="4B5563"/>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a:t>
            </a:r>
            <a:endParaRPr lang="en-US" sz="1100" dirty="0">
              <a:latin typeface="BlueakaBeta2GBK" panose="02000700000000000000" pitchFamily="2" charset="-122"/>
              <a:ea typeface="BlueakaBeta2GBK" panose="02000700000000000000" pitchFamily="2" charset="-122"/>
            </a:endParaRPr>
          </a:p>
        </p:txBody>
      </p:sp>
      <p:cxnSp>
        <p:nvCxnSpPr>
          <p:cNvPr id="27" name="Connector 27"/>
          <p:cNvCxnSpPr/>
          <p:nvPr/>
        </p:nvCxnSpPr>
        <p:spPr>
          <a:xfrm rot="5350892">
            <a:off x="5651500" y="5873795"/>
            <a:ext cx="889000" cy="12700"/>
          </a:xfrm>
          <a:prstGeom prst="straightConnector1">
            <a:avLst/>
          </a:prstGeom>
          <a:solidFill>
            <a:srgbClr val="DEE0E3">
              <a:alpha val="100000"/>
            </a:srgbClr>
          </a:solidFill>
          <a:ln w="12700" cap="flat" cmpd="sng">
            <a:solidFill>
              <a:srgbClr val="D1D5DB">
                <a:alpha val="100000"/>
              </a:srgbClr>
            </a:solidFill>
            <a:prstDash val="solid"/>
            <a:round/>
            <a:headEnd type="none" w="med" len="med"/>
            <a:tailEnd type="none" w="med" len="med"/>
          </a:ln>
        </p:spPr>
      </p:cxnSp>
      <p:sp>
        <p:nvSpPr>
          <p:cNvPr id="28" name="AutoShape 28"/>
          <p:cNvSpPr/>
          <p:nvPr/>
        </p:nvSpPr>
        <p:spPr>
          <a:xfrm>
            <a:off x="6350000" y="5397500"/>
            <a:ext cx="2667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dirty="0">
                <a:solidFill>
                  <a:srgbClr val="2563EB"/>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5200米 (5.2km)</a:t>
            </a:r>
            <a:endParaRPr lang="en-US" sz="1100" dirty="0">
              <a:latin typeface="BlueakaBeta2GBK" panose="02000700000000000000" pitchFamily="2" charset="-122"/>
              <a:ea typeface="BlueakaBeta2GBK" panose="02000700000000000000" pitchFamily="2" charset="-122"/>
            </a:endParaRPr>
          </a:p>
          <a:p>
            <a:pPr marL="0" indent="0" algn="l">
              <a:lnSpc>
                <a:spcPct val="100000"/>
              </a:lnSpc>
            </a:pPr>
            <a:r>
              <a:rPr lang="en-US" sz="1200" b="0" i="0" u="none" strike="noStrike" dirty="0" err="1">
                <a:solidFill>
                  <a:srgbClr val="6B7280"/>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全程为平坦硬化步道，沿途风景优美，无陡峭台阶，适合全年龄段游客轻松游览</a:t>
            </a:r>
            <a:r>
              <a:rPr lang="en-US" sz="1200" b="0" i="0" u="none" strike="noStrike" dirty="0">
                <a:solidFill>
                  <a:srgbClr val="6B7280"/>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a:t>
            </a:r>
          </a:p>
        </p:txBody>
      </p:sp>
      <p:sp>
        <p:nvSpPr>
          <p:cNvPr id="29" name="AutoShape 29"/>
          <p:cNvSpPr/>
          <p:nvPr/>
        </p:nvSpPr>
        <p:spPr>
          <a:xfrm>
            <a:off x="9017000" y="5290820"/>
            <a:ext cx="2667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dirty="0">
                <a:solidFill>
                  <a:srgbClr val="EA580C"/>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约 75 </a:t>
            </a:r>
            <a:r>
              <a:rPr lang="en-US" sz="1500" b="1" i="0" u="none" strike="noStrike" dirty="0" err="1">
                <a:solidFill>
                  <a:srgbClr val="EA580C"/>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分钟</a:t>
            </a:r>
            <a:endParaRPr lang="en-US" sz="1100" dirty="0">
              <a:latin typeface="BlueakaBeta2GBK" panose="02000700000000000000" pitchFamily="2" charset="-122"/>
              <a:ea typeface="BlueakaBeta2GBK" panose="02000700000000000000" pitchFamily="2" charset="-122"/>
            </a:endParaRPr>
          </a:p>
          <a:p>
            <a:pPr marL="0" indent="0" algn="l">
              <a:lnSpc>
                <a:spcPct val="100000"/>
              </a:lnSpc>
            </a:pPr>
            <a:r>
              <a:rPr lang="en-US" sz="1200" b="0" i="0" u="none" strike="noStrike" dirty="0" err="1">
                <a:solidFill>
                  <a:srgbClr val="6B7280"/>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包含途中拍照打卡、观景台休憩及飞瀑景点停留时间，节奏舒缓舒适</a:t>
            </a:r>
            <a:r>
              <a:rPr lang="en-US" sz="1200" b="0" i="0" u="none" strike="noStrike" dirty="0">
                <a:solidFill>
                  <a:srgbClr val="6B7280"/>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8FAFC">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9525000" y="-1270000"/>
            <a:ext cx="3810000" cy="3810000"/>
          </a:xfrm>
          <a:prstGeom prst="ellipse">
            <a:avLst/>
          </a:prstGeom>
          <a:solidFill>
            <a:srgbClr val="3B82F6">
              <a:alpha val="5000"/>
            </a:srgbClr>
          </a:solidFill>
          <a:ln w="25400" cap="flat" cmpd="sng">
            <a:noFill/>
            <a:prstDash val="solid"/>
            <a:round/>
          </a:ln>
        </p:spPr>
        <p:txBody>
          <a:bodyPr vert="horz" wrap="square" lIns="63500" tIns="63500" rIns="63500" bIns="63500" rtlCol="0" anchor="ctr"/>
          <a:lstStyle/>
          <a:p>
            <a:pPr algn="ctr">
              <a:defRPr/>
            </a:pPr>
            <a:endParaRPr dirty="0">
              <a:latin typeface="BlueakaBeta2GBK" panose="02000700000000000000" pitchFamily="2" charset="-122"/>
              <a:ea typeface="BlueakaBeta2GBK" panose="02000700000000000000" pitchFamily="2" charset="-122"/>
            </a:endParaRPr>
          </a:p>
        </p:txBody>
      </p:sp>
      <p:sp>
        <p:nvSpPr>
          <p:cNvPr id="3" name="AutoShape 3"/>
          <p:cNvSpPr/>
          <p:nvPr/>
        </p:nvSpPr>
        <p:spPr>
          <a:xfrm>
            <a:off x="-1016000" y="5080000"/>
            <a:ext cx="2540000" cy="2540000"/>
          </a:xfrm>
          <a:prstGeom prst="ellipse">
            <a:avLst/>
          </a:prstGeom>
          <a:solidFill>
            <a:srgbClr val="10B981">
              <a:alpha val="5000"/>
            </a:srgbClr>
          </a:solidFill>
          <a:ln w="25400" cap="flat" cmpd="sng">
            <a:noFill/>
            <a:prstDash val="solid"/>
            <a:round/>
          </a:ln>
        </p:spPr>
        <p:txBody>
          <a:bodyPr vert="horz" wrap="square" lIns="63500" tIns="63500" rIns="63500" bIns="63500" rtlCol="0" anchor="ctr"/>
          <a:lstStyle/>
          <a:p>
            <a:pPr algn="ctr">
              <a:defRPr/>
            </a:pPr>
            <a:endParaRPr dirty="0">
              <a:latin typeface="BlueakaBeta2GBK" panose="02000700000000000000" pitchFamily="2" charset="-122"/>
              <a:ea typeface="BlueakaBeta2GBK" panose="02000700000000000000" pitchFamily="2" charset="-122"/>
            </a:endParaRPr>
          </a:p>
        </p:txBody>
      </p:sp>
      <p:sp>
        <p:nvSpPr>
          <p:cNvPr id="4" name="AutoShape 4"/>
          <p:cNvSpPr/>
          <p:nvPr/>
        </p:nvSpPr>
        <p:spPr>
          <a:xfrm>
            <a:off x="0" y="508000"/>
            <a:ext cx="12192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800" b="1" i="0" u="none" strike="noStrike" dirty="0" err="1">
                <a:solidFill>
                  <a:srgbClr val="111827"/>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八、系统演示环节</a:t>
            </a:r>
            <a:endParaRPr lang="en-US" sz="1100" dirty="0">
              <a:latin typeface="BlueakaBeta2GBK" panose="02000700000000000000" pitchFamily="2" charset="-122"/>
              <a:ea typeface="BlueakaBeta2GBK" panose="02000700000000000000" pitchFamily="2" charset="-122"/>
            </a:endParaRPr>
          </a:p>
        </p:txBody>
      </p:sp>
      <p:sp>
        <p:nvSpPr>
          <p:cNvPr id="5" name="AutoShape 5"/>
          <p:cNvSpPr/>
          <p:nvPr/>
        </p:nvSpPr>
        <p:spPr>
          <a:xfrm>
            <a:off x="508000" y="1778000"/>
            <a:ext cx="2133600" cy="3556000"/>
          </a:xfrm>
          <a:prstGeom prst="roundRect">
            <a:avLst>
              <a:gd name="adj" fmla="val 0"/>
            </a:avLst>
          </a:prstGeom>
          <a:solidFill>
            <a:srgbClr val="FFFFFF">
              <a:alpha val="100000"/>
            </a:srgbClr>
          </a:solidFill>
          <a:ln w="12700" cap="flat" cmpd="sng">
            <a:solidFill>
              <a:srgbClr val="E2E8F0">
                <a:alpha val="100000"/>
              </a:srgbClr>
            </a:solidFill>
            <a:prstDash val="solid"/>
            <a:round/>
          </a:ln>
        </p:spPr>
        <p:txBody>
          <a:bodyPr vert="horz" wrap="square" lIns="63500" tIns="63500" rIns="63500" bIns="63500" rtlCol="0" anchor="ctr"/>
          <a:lstStyle/>
          <a:p>
            <a:pPr algn="ctr">
              <a:defRPr/>
            </a:pPr>
            <a:endParaRPr dirty="0">
              <a:latin typeface="BlueakaBeta2GBK" panose="02000700000000000000" pitchFamily="2" charset="-122"/>
              <a:ea typeface="BlueakaBeta2GBK" panose="02000700000000000000" pitchFamily="2" charset="-122"/>
            </a:endParaRPr>
          </a:p>
        </p:txBody>
      </p:sp>
      <p:sp>
        <p:nvSpPr>
          <p:cNvPr id="6" name="AutoShape 6"/>
          <p:cNvSpPr/>
          <p:nvPr/>
        </p:nvSpPr>
        <p:spPr>
          <a:xfrm>
            <a:off x="508000" y="1778000"/>
            <a:ext cx="2133600" cy="50800"/>
          </a:xfrm>
          <a:prstGeom prst="roundRect">
            <a:avLst>
              <a:gd name="adj" fmla="val 0"/>
            </a:avLst>
          </a:prstGeom>
          <a:solidFill>
            <a:srgbClr val="3B82F6">
              <a:alpha val="100000"/>
            </a:srgbClr>
          </a:solidFill>
          <a:ln w="25400" cap="flat" cmpd="sng">
            <a:noFill/>
            <a:prstDash val="solid"/>
            <a:round/>
          </a:ln>
        </p:spPr>
        <p:txBody>
          <a:bodyPr vert="horz" wrap="square" lIns="63500" tIns="63500" rIns="63500" bIns="63500" rtlCol="0" anchor="ctr"/>
          <a:lstStyle/>
          <a:p>
            <a:pPr algn="ctr">
              <a:defRPr/>
            </a:pPr>
            <a:endParaRPr dirty="0">
              <a:latin typeface="BlueakaBeta2GBK" panose="02000700000000000000" pitchFamily="2" charset="-122"/>
              <a:ea typeface="BlueakaBeta2GBK" panose="02000700000000000000" pitchFamily="2" charset="-122"/>
            </a:endParaRPr>
          </a:p>
        </p:txBody>
      </p:sp>
      <p:sp>
        <p:nvSpPr>
          <p:cNvPr id="7" name="AutoShape 7"/>
          <p:cNvSpPr/>
          <p:nvPr/>
        </p:nvSpPr>
        <p:spPr>
          <a:xfrm>
            <a:off x="635000" y="2032000"/>
            <a:ext cx="18796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dirty="0">
                <a:solidFill>
                  <a:srgbClr val="3B82F6"/>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01</a:t>
            </a:r>
            <a:endParaRPr lang="en-US" sz="1100" dirty="0">
              <a:latin typeface="BlueakaBeta2GBK" panose="02000700000000000000" pitchFamily="2" charset="-122"/>
              <a:ea typeface="BlueakaBeta2GBK" panose="02000700000000000000" pitchFamily="2" charset="-122"/>
            </a:endParaRPr>
          </a:p>
        </p:txBody>
      </p:sp>
      <p:pic>
        <p:nvPicPr>
          <p:cNvPr id="8" name="Picture 8"/>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35000" y="2667000"/>
            <a:ext cx="406400" cy="406400"/>
          </a:xfrm>
          <a:prstGeom prst="rect">
            <a:avLst/>
          </a:prstGeom>
        </p:spPr>
      </p:pic>
      <p:sp>
        <p:nvSpPr>
          <p:cNvPr id="9" name="AutoShape 9"/>
          <p:cNvSpPr/>
          <p:nvPr/>
        </p:nvSpPr>
        <p:spPr>
          <a:xfrm>
            <a:off x="635000" y="3238500"/>
            <a:ext cx="18796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dirty="0" err="1">
                <a:solidFill>
                  <a:srgbClr val="1F2937"/>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地图全景概览</a:t>
            </a:r>
            <a:endParaRPr lang="en-US" sz="1100" dirty="0">
              <a:latin typeface="BlueakaBeta2GBK" panose="02000700000000000000" pitchFamily="2" charset="-122"/>
              <a:ea typeface="BlueakaBeta2GBK" panose="02000700000000000000" pitchFamily="2" charset="-122"/>
            </a:endParaRPr>
          </a:p>
        </p:txBody>
      </p:sp>
      <p:cxnSp>
        <p:nvCxnSpPr>
          <p:cNvPr id="10" name="Connector 10"/>
          <p:cNvCxnSpPr/>
          <p:nvPr/>
        </p:nvCxnSpPr>
        <p:spPr>
          <a:xfrm rot="-23227">
            <a:off x="635021" y="3740150"/>
            <a:ext cx="1879600" cy="12700"/>
          </a:xfrm>
          <a:prstGeom prst="line">
            <a:avLst/>
          </a:prstGeom>
          <a:solidFill>
            <a:srgbClr val="DEE0E3">
              <a:alpha val="100000"/>
            </a:srgbClr>
          </a:solidFill>
          <a:ln w="12700" cap="flat" cmpd="sng">
            <a:solidFill>
              <a:srgbClr val="F1F5F9">
                <a:alpha val="100000"/>
              </a:srgbClr>
            </a:solidFill>
            <a:prstDash val="solid"/>
            <a:round/>
            <a:headEnd type="none" w="med" len="med"/>
            <a:tailEnd type="none" w="med" len="med"/>
          </a:ln>
        </p:spPr>
      </p:cxnSp>
      <p:sp>
        <p:nvSpPr>
          <p:cNvPr id="11" name="AutoShape 11"/>
          <p:cNvSpPr/>
          <p:nvPr/>
        </p:nvSpPr>
        <p:spPr>
          <a:xfrm>
            <a:off x="635000" y="3873500"/>
            <a:ext cx="18796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dirty="0" err="1">
                <a:solidFill>
                  <a:srgbClr val="6B7280"/>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进入全景视图模块，直观展示景区整体地理布局，同步解析地图图例符号与功能分区，帮助用户快速建立空间认知</a:t>
            </a:r>
            <a:r>
              <a:rPr lang="en-US" sz="1300" b="0" i="0" u="none" strike="noStrike" dirty="0">
                <a:solidFill>
                  <a:srgbClr val="6B7280"/>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a:t>
            </a:r>
            <a:endParaRPr lang="en-US" sz="1100" dirty="0">
              <a:latin typeface="BlueakaBeta2GBK" panose="02000700000000000000" pitchFamily="2" charset="-122"/>
              <a:ea typeface="BlueakaBeta2GBK" panose="02000700000000000000" pitchFamily="2" charset="-122"/>
            </a:endParaRPr>
          </a:p>
        </p:txBody>
      </p:sp>
      <p:sp>
        <p:nvSpPr>
          <p:cNvPr id="12" name="AutoShape 12"/>
          <p:cNvSpPr/>
          <p:nvPr/>
        </p:nvSpPr>
        <p:spPr>
          <a:xfrm>
            <a:off x="2794000" y="1778000"/>
            <a:ext cx="2133600" cy="3556000"/>
          </a:xfrm>
          <a:prstGeom prst="roundRect">
            <a:avLst>
              <a:gd name="adj" fmla="val 0"/>
            </a:avLst>
          </a:prstGeom>
          <a:solidFill>
            <a:srgbClr val="FFFFFF">
              <a:alpha val="100000"/>
            </a:srgbClr>
          </a:solidFill>
          <a:ln w="12700" cap="flat" cmpd="sng">
            <a:solidFill>
              <a:srgbClr val="E2E8F0">
                <a:alpha val="100000"/>
              </a:srgbClr>
            </a:solidFill>
            <a:prstDash val="solid"/>
            <a:round/>
          </a:ln>
        </p:spPr>
        <p:txBody>
          <a:bodyPr vert="horz" wrap="square" lIns="63500" tIns="63500" rIns="63500" bIns="63500" rtlCol="0" anchor="ctr"/>
          <a:lstStyle/>
          <a:p>
            <a:pPr algn="ctr">
              <a:defRPr/>
            </a:pPr>
            <a:endParaRPr dirty="0">
              <a:latin typeface="BlueakaBeta2GBK" panose="02000700000000000000" pitchFamily="2" charset="-122"/>
              <a:ea typeface="BlueakaBeta2GBK" panose="02000700000000000000" pitchFamily="2" charset="-122"/>
            </a:endParaRPr>
          </a:p>
        </p:txBody>
      </p:sp>
      <p:sp>
        <p:nvSpPr>
          <p:cNvPr id="13" name="AutoShape 13"/>
          <p:cNvSpPr/>
          <p:nvPr/>
        </p:nvSpPr>
        <p:spPr>
          <a:xfrm>
            <a:off x="2794000" y="1778000"/>
            <a:ext cx="2133600" cy="508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endParaRPr dirty="0">
              <a:latin typeface="BlueakaBeta2GBK" panose="02000700000000000000" pitchFamily="2" charset="-122"/>
              <a:ea typeface="BlueakaBeta2GBK" panose="02000700000000000000" pitchFamily="2" charset="-122"/>
            </a:endParaRPr>
          </a:p>
        </p:txBody>
      </p:sp>
      <p:sp>
        <p:nvSpPr>
          <p:cNvPr id="14" name="AutoShape 14"/>
          <p:cNvSpPr/>
          <p:nvPr/>
        </p:nvSpPr>
        <p:spPr>
          <a:xfrm>
            <a:off x="2921000" y="2032000"/>
            <a:ext cx="18796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dirty="0">
                <a:solidFill>
                  <a:srgbClr val="10B981"/>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02</a:t>
            </a:r>
            <a:endParaRPr lang="en-US" sz="1100" dirty="0">
              <a:latin typeface="BlueakaBeta2GBK" panose="02000700000000000000" pitchFamily="2" charset="-122"/>
              <a:ea typeface="BlueakaBeta2GBK" panose="02000700000000000000" pitchFamily="2" charset="-122"/>
            </a:endParaRPr>
          </a:p>
        </p:txBody>
      </p:sp>
      <p:pic>
        <p:nvPicPr>
          <p:cNvPr id="15" name="Picture 1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921000" y="2667000"/>
            <a:ext cx="406400" cy="406400"/>
          </a:xfrm>
          <a:prstGeom prst="rect">
            <a:avLst/>
          </a:prstGeom>
        </p:spPr>
      </p:pic>
      <p:sp>
        <p:nvSpPr>
          <p:cNvPr id="16" name="AutoShape 16"/>
          <p:cNvSpPr/>
          <p:nvPr/>
        </p:nvSpPr>
        <p:spPr>
          <a:xfrm>
            <a:off x="2921000" y="3238500"/>
            <a:ext cx="18796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dirty="0" err="1">
                <a:solidFill>
                  <a:srgbClr val="1F2937"/>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精准景点检索</a:t>
            </a:r>
            <a:endParaRPr lang="en-US" sz="1100" dirty="0">
              <a:latin typeface="BlueakaBeta2GBK" panose="02000700000000000000" pitchFamily="2" charset="-122"/>
              <a:ea typeface="BlueakaBeta2GBK" panose="02000700000000000000" pitchFamily="2" charset="-122"/>
            </a:endParaRPr>
          </a:p>
        </p:txBody>
      </p:sp>
      <p:cxnSp>
        <p:nvCxnSpPr>
          <p:cNvPr id="17" name="Connector 17"/>
          <p:cNvCxnSpPr/>
          <p:nvPr/>
        </p:nvCxnSpPr>
        <p:spPr>
          <a:xfrm rot="-23227">
            <a:off x="2921021" y="3740150"/>
            <a:ext cx="1879600" cy="12700"/>
          </a:xfrm>
          <a:prstGeom prst="line">
            <a:avLst/>
          </a:prstGeom>
          <a:solidFill>
            <a:srgbClr val="DEE0E3">
              <a:alpha val="100000"/>
            </a:srgbClr>
          </a:solidFill>
          <a:ln w="12700" cap="flat" cmpd="sng">
            <a:solidFill>
              <a:srgbClr val="F1F5F9">
                <a:alpha val="100000"/>
              </a:srgbClr>
            </a:solidFill>
            <a:prstDash val="solid"/>
            <a:round/>
            <a:headEnd type="none" w="med" len="med"/>
            <a:tailEnd type="none" w="med" len="med"/>
          </a:ln>
        </p:spPr>
      </p:cxnSp>
      <p:sp>
        <p:nvSpPr>
          <p:cNvPr id="18" name="AutoShape 18"/>
          <p:cNvSpPr/>
          <p:nvPr/>
        </p:nvSpPr>
        <p:spPr>
          <a:xfrm>
            <a:off x="2921000" y="3873500"/>
            <a:ext cx="18796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dirty="0">
                <a:solidFill>
                  <a:srgbClr val="6B7280"/>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通过输入景点编号（如编号3）快速查询，即刻呈现“听涛亭”的历史背景、开放时间</a:t>
            </a:r>
            <a:r>
              <a:rPr lang="zh-CN" altLang="en-US" sz="1300" dirty="0">
                <a:solidFill>
                  <a:srgbClr val="6B7280"/>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及</a:t>
            </a:r>
            <a:r>
              <a:rPr lang="en-US" sz="1300" b="0" i="0" u="none" strike="noStrike" dirty="0" err="1">
                <a:solidFill>
                  <a:srgbClr val="6B7280"/>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周边设施</a:t>
            </a:r>
            <a:r>
              <a:rPr lang="en-US" sz="1300" b="0" i="0" u="none" strike="noStrike" dirty="0">
                <a:solidFill>
                  <a:srgbClr val="6B7280"/>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a:t>
            </a:r>
            <a:endParaRPr lang="en-US" sz="1100" dirty="0">
              <a:latin typeface="BlueakaBeta2GBK" panose="02000700000000000000" pitchFamily="2" charset="-122"/>
              <a:ea typeface="BlueakaBeta2GBK" panose="02000700000000000000" pitchFamily="2" charset="-122"/>
            </a:endParaRPr>
          </a:p>
        </p:txBody>
      </p:sp>
      <p:sp>
        <p:nvSpPr>
          <p:cNvPr id="19" name="AutoShape 19"/>
          <p:cNvSpPr/>
          <p:nvPr/>
        </p:nvSpPr>
        <p:spPr>
          <a:xfrm>
            <a:off x="5080000" y="1778000"/>
            <a:ext cx="2133600" cy="3556000"/>
          </a:xfrm>
          <a:prstGeom prst="roundRect">
            <a:avLst>
              <a:gd name="adj" fmla="val 0"/>
            </a:avLst>
          </a:prstGeom>
          <a:solidFill>
            <a:srgbClr val="FFFFFF">
              <a:alpha val="100000"/>
            </a:srgbClr>
          </a:solidFill>
          <a:ln w="12700" cap="flat" cmpd="sng">
            <a:solidFill>
              <a:srgbClr val="E2E8F0">
                <a:alpha val="100000"/>
              </a:srgbClr>
            </a:solidFill>
            <a:prstDash val="solid"/>
            <a:round/>
          </a:ln>
        </p:spPr>
        <p:txBody>
          <a:bodyPr vert="horz" wrap="square" lIns="63500" tIns="63500" rIns="63500" bIns="63500" rtlCol="0" anchor="ctr"/>
          <a:lstStyle/>
          <a:p>
            <a:pPr algn="ctr">
              <a:defRPr/>
            </a:pPr>
            <a:endParaRPr dirty="0">
              <a:latin typeface="BlueakaBeta2GBK" panose="02000700000000000000" pitchFamily="2" charset="-122"/>
              <a:ea typeface="BlueakaBeta2GBK" panose="02000700000000000000" pitchFamily="2" charset="-122"/>
            </a:endParaRPr>
          </a:p>
        </p:txBody>
      </p:sp>
      <p:sp>
        <p:nvSpPr>
          <p:cNvPr id="20" name="AutoShape 20"/>
          <p:cNvSpPr/>
          <p:nvPr/>
        </p:nvSpPr>
        <p:spPr>
          <a:xfrm>
            <a:off x="5080000" y="1778000"/>
            <a:ext cx="2133600" cy="50800"/>
          </a:xfrm>
          <a:prstGeom prst="roundRect">
            <a:avLst>
              <a:gd name="adj" fmla="val 0"/>
            </a:avLst>
          </a:prstGeom>
          <a:solidFill>
            <a:srgbClr val="F59E0B">
              <a:alpha val="100000"/>
            </a:srgbClr>
          </a:solidFill>
          <a:ln w="25400" cap="flat" cmpd="sng">
            <a:noFill/>
            <a:prstDash val="solid"/>
            <a:round/>
          </a:ln>
        </p:spPr>
        <p:txBody>
          <a:bodyPr vert="horz" wrap="square" lIns="63500" tIns="63500" rIns="63500" bIns="63500" rtlCol="0" anchor="ctr"/>
          <a:lstStyle/>
          <a:p>
            <a:pPr algn="ctr">
              <a:defRPr/>
            </a:pPr>
            <a:endParaRPr dirty="0">
              <a:latin typeface="BlueakaBeta2GBK" panose="02000700000000000000" pitchFamily="2" charset="-122"/>
              <a:ea typeface="BlueakaBeta2GBK" panose="02000700000000000000" pitchFamily="2" charset="-122"/>
            </a:endParaRPr>
          </a:p>
        </p:txBody>
      </p:sp>
      <p:sp>
        <p:nvSpPr>
          <p:cNvPr id="21" name="AutoShape 21"/>
          <p:cNvSpPr/>
          <p:nvPr/>
        </p:nvSpPr>
        <p:spPr>
          <a:xfrm>
            <a:off x="5207000" y="2032000"/>
            <a:ext cx="18796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dirty="0">
                <a:solidFill>
                  <a:srgbClr val="F59E0B"/>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03</a:t>
            </a:r>
            <a:endParaRPr lang="en-US" sz="1100" dirty="0">
              <a:latin typeface="BlueakaBeta2GBK" panose="02000700000000000000" pitchFamily="2" charset="-122"/>
              <a:ea typeface="BlueakaBeta2GBK" panose="02000700000000000000" pitchFamily="2" charset="-122"/>
            </a:endParaRPr>
          </a:p>
        </p:txBody>
      </p:sp>
      <p:pic>
        <p:nvPicPr>
          <p:cNvPr id="22" name="Picture 2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207000" y="2667000"/>
            <a:ext cx="406400" cy="406400"/>
          </a:xfrm>
          <a:prstGeom prst="rect">
            <a:avLst/>
          </a:prstGeom>
        </p:spPr>
      </p:pic>
      <p:sp>
        <p:nvSpPr>
          <p:cNvPr id="23" name="AutoShape 23"/>
          <p:cNvSpPr/>
          <p:nvPr/>
        </p:nvSpPr>
        <p:spPr>
          <a:xfrm>
            <a:off x="5207000" y="3238500"/>
            <a:ext cx="18796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dirty="0" err="1">
                <a:solidFill>
                  <a:srgbClr val="1F2937"/>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最短路径规划</a:t>
            </a:r>
            <a:endParaRPr lang="en-US" sz="1100" dirty="0">
              <a:latin typeface="BlueakaBeta2GBK" panose="02000700000000000000" pitchFamily="2" charset="-122"/>
              <a:ea typeface="BlueakaBeta2GBK" panose="02000700000000000000" pitchFamily="2" charset="-122"/>
            </a:endParaRPr>
          </a:p>
        </p:txBody>
      </p:sp>
      <p:cxnSp>
        <p:nvCxnSpPr>
          <p:cNvPr id="24" name="Connector 24"/>
          <p:cNvCxnSpPr/>
          <p:nvPr/>
        </p:nvCxnSpPr>
        <p:spPr>
          <a:xfrm rot="-23227">
            <a:off x="5207021" y="3740150"/>
            <a:ext cx="1879600" cy="12700"/>
          </a:xfrm>
          <a:prstGeom prst="line">
            <a:avLst/>
          </a:prstGeom>
          <a:solidFill>
            <a:srgbClr val="DEE0E3">
              <a:alpha val="100000"/>
            </a:srgbClr>
          </a:solidFill>
          <a:ln w="12700" cap="flat" cmpd="sng">
            <a:solidFill>
              <a:srgbClr val="F1F5F9">
                <a:alpha val="100000"/>
              </a:srgbClr>
            </a:solidFill>
            <a:prstDash val="solid"/>
            <a:round/>
            <a:headEnd type="none" w="med" len="med"/>
            <a:tailEnd type="none" w="med" len="med"/>
          </a:ln>
        </p:spPr>
      </p:cxnSp>
      <p:sp>
        <p:nvSpPr>
          <p:cNvPr id="25" name="AutoShape 25"/>
          <p:cNvSpPr/>
          <p:nvPr/>
        </p:nvSpPr>
        <p:spPr>
          <a:xfrm>
            <a:off x="5207000" y="3873500"/>
            <a:ext cx="18796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dirty="0">
                <a:solidFill>
                  <a:srgbClr val="6B7280"/>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输入起点1与终点8，算法自动计算并高亮显示全长3000米的最优行进路线，实时标注关键节点与方向指引。</a:t>
            </a:r>
            <a:endParaRPr lang="en-US" sz="1100" dirty="0">
              <a:latin typeface="BlueakaBeta2GBK" panose="02000700000000000000" pitchFamily="2" charset="-122"/>
              <a:ea typeface="BlueakaBeta2GBK" panose="02000700000000000000" pitchFamily="2" charset="-122"/>
            </a:endParaRPr>
          </a:p>
        </p:txBody>
      </p:sp>
      <p:sp>
        <p:nvSpPr>
          <p:cNvPr id="26" name="AutoShape 26"/>
          <p:cNvSpPr/>
          <p:nvPr/>
        </p:nvSpPr>
        <p:spPr>
          <a:xfrm>
            <a:off x="7366000" y="1778000"/>
            <a:ext cx="2133600" cy="3556000"/>
          </a:xfrm>
          <a:prstGeom prst="roundRect">
            <a:avLst>
              <a:gd name="adj" fmla="val 0"/>
            </a:avLst>
          </a:prstGeom>
          <a:solidFill>
            <a:srgbClr val="FFFFFF">
              <a:alpha val="100000"/>
            </a:srgbClr>
          </a:solidFill>
          <a:ln w="12700" cap="flat" cmpd="sng">
            <a:solidFill>
              <a:srgbClr val="E2E8F0">
                <a:alpha val="100000"/>
              </a:srgbClr>
            </a:solidFill>
            <a:prstDash val="solid"/>
            <a:round/>
          </a:ln>
        </p:spPr>
        <p:txBody>
          <a:bodyPr vert="horz" wrap="square" lIns="63500" tIns="63500" rIns="63500" bIns="63500" rtlCol="0" anchor="ctr"/>
          <a:lstStyle/>
          <a:p>
            <a:pPr algn="ctr">
              <a:defRPr/>
            </a:pPr>
            <a:endParaRPr dirty="0">
              <a:latin typeface="BlueakaBeta2GBK" panose="02000700000000000000" pitchFamily="2" charset="-122"/>
              <a:ea typeface="BlueakaBeta2GBK" panose="02000700000000000000" pitchFamily="2" charset="-122"/>
            </a:endParaRPr>
          </a:p>
        </p:txBody>
      </p:sp>
      <p:sp>
        <p:nvSpPr>
          <p:cNvPr id="27" name="AutoShape 27"/>
          <p:cNvSpPr/>
          <p:nvPr/>
        </p:nvSpPr>
        <p:spPr>
          <a:xfrm>
            <a:off x="7366000" y="1778000"/>
            <a:ext cx="2133600" cy="50800"/>
          </a:xfrm>
          <a:prstGeom prst="roundRect">
            <a:avLst>
              <a:gd name="adj" fmla="val 0"/>
            </a:avLst>
          </a:prstGeom>
          <a:solidFill>
            <a:srgbClr val="8B5CF6">
              <a:alpha val="100000"/>
            </a:srgbClr>
          </a:solidFill>
          <a:ln w="25400" cap="flat" cmpd="sng">
            <a:noFill/>
            <a:prstDash val="solid"/>
            <a:round/>
          </a:ln>
        </p:spPr>
        <p:txBody>
          <a:bodyPr vert="horz" wrap="square" lIns="63500" tIns="63500" rIns="63500" bIns="63500" rtlCol="0" anchor="ctr"/>
          <a:lstStyle/>
          <a:p>
            <a:pPr algn="ctr">
              <a:defRPr/>
            </a:pPr>
            <a:endParaRPr dirty="0">
              <a:latin typeface="BlueakaBeta2GBK" panose="02000700000000000000" pitchFamily="2" charset="-122"/>
              <a:ea typeface="BlueakaBeta2GBK" panose="02000700000000000000" pitchFamily="2" charset="-122"/>
            </a:endParaRPr>
          </a:p>
        </p:txBody>
      </p:sp>
      <p:sp>
        <p:nvSpPr>
          <p:cNvPr id="28" name="AutoShape 28"/>
          <p:cNvSpPr/>
          <p:nvPr/>
        </p:nvSpPr>
        <p:spPr>
          <a:xfrm>
            <a:off x="7493000" y="2032000"/>
            <a:ext cx="18796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dirty="0">
                <a:solidFill>
                  <a:srgbClr val="8B5CF6"/>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04</a:t>
            </a:r>
            <a:endParaRPr lang="en-US" sz="1100" dirty="0">
              <a:latin typeface="BlueakaBeta2GBK" panose="02000700000000000000" pitchFamily="2" charset="-122"/>
              <a:ea typeface="BlueakaBeta2GBK" panose="02000700000000000000" pitchFamily="2" charset="-122"/>
            </a:endParaRPr>
          </a:p>
        </p:txBody>
      </p:sp>
      <p:pic>
        <p:nvPicPr>
          <p:cNvPr id="29" name="Picture 2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493000" y="2667000"/>
            <a:ext cx="406400" cy="406400"/>
          </a:xfrm>
          <a:prstGeom prst="rect">
            <a:avLst/>
          </a:prstGeom>
        </p:spPr>
      </p:pic>
      <p:sp>
        <p:nvSpPr>
          <p:cNvPr id="30" name="AutoShape 30"/>
          <p:cNvSpPr/>
          <p:nvPr/>
        </p:nvSpPr>
        <p:spPr>
          <a:xfrm>
            <a:off x="7493000" y="3238500"/>
            <a:ext cx="18796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dirty="0" err="1">
                <a:solidFill>
                  <a:srgbClr val="1F2937"/>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智能游览动线</a:t>
            </a:r>
            <a:endParaRPr lang="en-US" sz="1100" dirty="0">
              <a:latin typeface="BlueakaBeta2GBK" panose="02000700000000000000" pitchFamily="2" charset="-122"/>
              <a:ea typeface="BlueakaBeta2GBK" panose="02000700000000000000" pitchFamily="2" charset="-122"/>
            </a:endParaRPr>
          </a:p>
        </p:txBody>
      </p:sp>
      <p:cxnSp>
        <p:nvCxnSpPr>
          <p:cNvPr id="31" name="Connector 31"/>
          <p:cNvCxnSpPr/>
          <p:nvPr/>
        </p:nvCxnSpPr>
        <p:spPr>
          <a:xfrm rot="-23227">
            <a:off x="7493021" y="3740150"/>
            <a:ext cx="1879600" cy="12700"/>
          </a:xfrm>
          <a:prstGeom prst="line">
            <a:avLst/>
          </a:prstGeom>
          <a:solidFill>
            <a:srgbClr val="DEE0E3">
              <a:alpha val="100000"/>
            </a:srgbClr>
          </a:solidFill>
          <a:ln w="12700" cap="flat" cmpd="sng">
            <a:solidFill>
              <a:srgbClr val="F1F5F9">
                <a:alpha val="100000"/>
              </a:srgbClr>
            </a:solidFill>
            <a:prstDash val="solid"/>
            <a:round/>
            <a:headEnd type="none" w="med" len="med"/>
            <a:tailEnd type="none" w="med" len="med"/>
          </a:ln>
        </p:spPr>
      </p:cxnSp>
      <p:sp>
        <p:nvSpPr>
          <p:cNvPr id="32" name="AutoShape 32"/>
          <p:cNvSpPr/>
          <p:nvPr/>
        </p:nvSpPr>
        <p:spPr>
          <a:xfrm>
            <a:off x="7493000" y="3873500"/>
            <a:ext cx="18796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dirty="0">
                <a:solidFill>
                  <a:srgbClr val="6B7280"/>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基于全域景点分布，一键生成全长5200米的沉浸式游览推荐路线，科学串联核心景观，兼顾体验感与时间效率。</a:t>
            </a:r>
            <a:endParaRPr lang="en-US" sz="1100" dirty="0">
              <a:latin typeface="BlueakaBeta2GBK" panose="02000700000000000000" pitchFamily="2" charset="-122"/>
              <a:ea typeface="BlueakaBeta2GBK" panose="02000700000000000000" pitchFamily="2" charset="-122"/>
            </a:endParaRPr>
          </a:p>
        </p:txBody>
      </p:sp>
      <p:sp>
        <p:nvSpPr>
          <p:cNvPr id="33" name="AutoShape 33"/>
          <p:cNvSpPr/>
          <p:nvPr/>
        </p:nvSpPr>
        <p:spPr>
          <a:xfrm>
            <a:off x="9652000" y="1778000"/>
            <a:ext cx="2133600" cy="3556000"/>
          </a:xfrm>
          <a:prstGeom prst="roundRect">
            <a:avLst>
              <a:gd name="adj" fmla="val 0"/>
            </a:avLst>
          </a:prstGeom>
          <a:solidFill>
            <a:srgbClr val="FFFFFF">
              <a:alpha val="100000"/>
            </a:srgbClr>
          </a:solidFill>
          <a:ln w="12700" cap="flat" cmpd="sng">
            <a:solidFill>
              <a:srgbClr val="E2E8F0">
                <a:alpha val="100000"/>
              </a:srgbClr>
            </a:solidFill>
            <a:prstDash val="solid"/>
            <a:round/>
          </a:ln>
        </p:spPr>
        <p:txBody>
          <a:bodyPr vert="horz" wrap="square" lIns="63500" tIns="63500" rIns="63500" bIns="63500" rtlCol="0" anchor="ctr"/>
          <a:lstStyle/>
          <a:p>
            <a:pPr algn="ctr">
              <a:defRPr/>
            </a:pPr>
            <a:endParaRPr dirty="0">
              <a:latin typeface="BlueakaBeta2GBK" panose="02000700000000000000" pitchFamily="2" charset="-122"/>
              <a:ea typeface="BlueakaBeta2GBK" panose="02000700000000000000" pitchFamily="2" charset="-122"/>
            </a:endParaRPr>
          </a:p>
        </p:txBody>
      </p:sp>
      <p:sp>
        <p:nvSpPr>
          <p:cNvPr id="34" name="AutoShape 34"/>
          <p:cNvSpPr/>
          <p:nvPr/>
        </p:nvSpPr>
        <p:spPr>
          <a:xfrm>
            <a:off x="9652000" y="1778000"/>
            <a:ext cx="2133600" cy="50800"/>
          </a:xfrm>
          <a:prstGeom prst="roundRect">
            <a:avLst>
              <a:gd name="adj" fmla="val 0"/>
            </a:avLst>
          </a:prstGeom>
          <a:solidFill>
            <a:srgbClr val="EF4444">
              <a:alpha val="100000"/>
            </a:srgbClr>
          </a:solidFill>
          <a:ln w="25400" cap="flat" cmpd="sng">
            <a:noFill/>
            <a:prstDash val="solid"/>
            <a:round/>
          </a:ln>
        </p:spPr>
        <p:txBody>
          <a:bodyPr vert="horz" wrap="square" lIns="63500" tIns="63500" rIns="63500" bIns="63500" rtlCol="0" anchor="ctr"/>
          <a:lstStyle/>
          <a:p>
            <a:pPr algn="ctr">
              <a:defRPr/>
            </a:pPr>
            <a:endParaRPr dirty="0">
              <a:latin typeface="BlueakaBeta2GBK" panose="02000700000000000000" pitchFamily="2" charset="-122"/>
              <a:ea typeface="BlueakaBeta2GBK" panose="02000700000000000000" pitchFamily="2" charset="-122"/>
            </a:endParaRPr>
          </a:p>
        </p:txBody>
      </p:sp>
      <p:sp>
        <p:nvSpPr>
          <p:cNvPr id="35" name="AutoShape 35"/>
          <p:cNvSpPr/>
          <p:nvPr/>
        </p:nvSpPr>
        <p:spPr>
          <a:xfrm>
            <a:off x="9779000" y="2032000"/>
            <a:ext cx="18796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dirty="0">
                <a:solidFill>
                  <a:srgbClr val="EF4444"/>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05</a:t>
            </a:r>
            <a:endParaRPr lang="en-US" sz="1100" dirty="0">
              <a:latin typeface="BlueakaBeta2GBK" panose="02000700000000000000" pitchFamily="2" charset="-122"/>
              <a:ea typeface="BlueakaBeta2GBK" panose="02000700000000000000" pitchFamily="2" charset="-122"/>
            </a:endParaRPr>
          </a:p>
        </p:txBody>
      </p:sp>
      <p:pic>
        <p:nvPicPr>
          <p:cNvPr id="36" name="Picture 3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779000" y="2667000"/>
            <a:ext cx="406400" cy="406400"/>
          </a:xfrm>
          <a:prstGeom prst="rect">
            <a:avLst/>
          </a:prstGeom>
        </p:spPr>
      </p:pic>
      <p:sp>
        <p:nvSpPr>
          <p:cNvPr id="37" name="AutoShape 37"/>
          <p:cNvSpPr/>
          <p:nvPr/>
        </p:nvSpPr>
        <p:spPr>
          <a:xfrm>
            <a:off x="9779000" y="3238500"/>
            <a:ext cx="18796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dirty="0" err="1">
                <a:solidFill>
                  <a:srgbClr val="1F2937"/>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动态数据热更</a:t>
            </a:r>
            <a:endParaRPr lang="en-US" sz="1100" dirty="0">
              <a:latin typeface="BlueakaBeta2GBK" panose="02000700000000000000" pitchFamily="2" charset="-122"/>
              <a:ea typeface="BlueakaBeta2GBK" panose="02000700000000000000" pitchFamily="2" charset="-122"/>
            </a:endParaRPr>
          </a:p>
        </p:txBody>
      </p:sp>
      <p:cxnSp>
        <p:nvCxnSpPr>
          <p:cNvPr id="38" name="Connector 38"/>
          <p:cNvCxnSpPr/>
          <p:nvPr/>
        </p:nvCxnSpPr>
        <p:spPr>
          <a:xfrm rot="-23227">
            <a:off x="9779021" y="3740150"/>
            <a:ext cx="1879600" cy="12700"/>
          </a:xfrm>
          <a:prstGeom prst="line">
            <a:avLst/>
          </a:prstGeom>
          <a:solidFill>
            <a:srgbClr val="DEE0E3">
              <a:alpha val="100000"/>
            </a:srgbClr>
          </a:solidFill>
          <a:ln w="12700" cap="flat" cmpd="sng">
            <a:solidFill>
              <a:srgbClr val="F1F5F9">
                <a:alpha val="100000"/>
              </a:srgbClr>
            </a:solidFill>
            <a:prstDash val="solid"/>
            <a:round/>
            <a:headEnd type="none" w="med" len="med"/>
            <a:tailEnd type="none" w="med" len="med"/>
          </a:ln>
        </p:spPr>
      </p:cxnSp>
      <p:sp>
        <p:nvSpPr>
          <p:cNvPr id="39" name="AutoShape 39"/>
          <p:cNvSpPr/>
          <p:nvPr/>
        </p:nvSpPr>
        <p:spPr>
          <a:xfrm>
            <a:off x="9779000" y="3873500"/>
            <a:ext cx="18796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dirty="0" err="1">
                <a:solidFill>
                  <a:srgbClr val="6B7280"/>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展示系统无需重启即可完成数据的动态加载与更新，实时同步最新的景点信息与公告，保障景区信息的时效性</a:t>
            </a:r>
            <a:r>
              <a:rPr lang="en-US" sz="1300" b="0" i="0" u="none" strike="noStrike" dirty="0">
                <a:solidFill>
                  <a:srgbClr val="6B7280"/>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a:t>
            </a:r>
            <a:endParaRPr lang="en-US" sz="1100" dirty="0">
              <a:latin typeface="BlueakaBeta2GBK" panose="02000700000000000000" pitchFamily="2" charset="-122"/>
              <a:ea typeface="BlueakaBeta2GBK" panose="02000700000000000000" pitchFamily="2" charset="-122"/>
            </a:endParaRPr>
          </a:p>
        </p:txBody>
      </p:sp>
      <p:sp>
        <p:nvSpPr>
          <p:cNvPr id="40" name="AutoShape 40"/>
          <p:cNvSpPr/>
          <p:nvPr/>
        </p:nvSpPr>
        <p:spPr>
          <a:xfrm>
            <a:off x="508000" y="5689600"/>
            <a:ext cx="11277600" cy="901700"/>
          </a:xfrm>
          <a:prstGeom prst="roundRect">
            <a:avLst>
              <a:gd name="adj" fmla="val 0"/>
            </a:avLst>
          </a:prstGeom>
          <a:solidFill>
            <a:srgbClr val="3B82F6">
              <a:alpha val="6000"/>
            </a:srgbClr>
          </a:solidFill>
          <a:ln w="25400" cap="flat" cmpd="sng">
            <a:noFill/>
            <a:prstDash val="solid"/>
            <a:round/>
          </a:ln>
        </p:spPr>
        <p:txBody>
          <a:bodyPr vert="horz" wrap="square" lIns="63500" tIns="63500" rIns="63500" bIns="63500" rtlCol="0" anchor="ctr"/>
          <a:lstStyle/>
          <a:p>
            <a:pPr algn="ctr">
              <a:defRPr/>
            </a:pPr>
            <a:endParaRPr dirty="0">
              <a:latin typeface="BlueakaBeta2GBK" panose="02000700000000000000" pitchFamily="2" charset="-122"/>
              <a:ea typeface="BlueakaBeta2GBK" panose="02000700000000000000" pitchFamily="2" charset="-122"/>
            </a:endParaRPr>
          </a:p>
        </p:txBody>
      </p:sp>
      <p:sp>
        <p:nvSpPr>
          <p:cNvPr id="41" name="AutoShape 41"/>
          <p:cNvSpPr/>
          <p:nvPr/>
        </p:nvSpPr>
        <p:spPr>
          <a:xfrm>
            <a:off x="635000" y="5842000"/>
            <a:ext cx="11023600" cy="609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dirty="0">
                <a:solidFill>
                  <a:srgbClr val="1E3A8A"/>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演示总结：</a:t>
            </a:r>
            <a:r>
              <a:rPr lang="en-US" sz="1400" b="0" i="0" u="none" strike="noStrike" dirty="0">
                <a:solidFill>
                  <a:srgbClr val="4B5563"/>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系统操作流程极简直观，功能响应高效，覆盖了从基础地图浏览、精准查询到智能规划、后台维护的全链路需求，充分体现了景区数字化导览系统的实用性与便捷性。</a:t>
            </a:r>
            <a:endParaRPr lang="en-US" sz="1100" dirty="0">
              <a:latin typeface="BlueakaBeta2GBK" panose="02000700000000000000" pitchFamily="2" charset="-122"/>
              <a:ea typeface="BlueakaBeta2GBK" panose="02000700000000000000" pitchFamily="2"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8F9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9525000" y="-1270000"/>
            <a:ext cx="3810000" cy="3810000"/>
          </a:xfrm>
          <a:prstGeom prst="ellipse">
            <a:avLst/>
          </a:prstGeom>
          <a:solidFill>
            <a:srgbClr val="3B82F6">
              <a:alpha val="5000"/>
            </a:srgbClr>
          </a:solidFill>
          <a:ln w="25400" cap="flat" cmpd="sng">
            <a:noFill/>
            <a:prstDash val="solid"/>
            <a:round/>
          </a:ln>
        </p:spPr>
        <p:txBody>
          <a:bodyPr vert="horz" wrap="square" lIns="63500" tIns="63500" rIns="63500" bIns="63500" rtlCol="0" anchor="ctr"/>
          <a:lstStyle/>
          <a:p>
            <a:pPr algn="ctr">
              <a:defRPr/>
            </a:pPr>
            <a:endParaRPr dirty="0">
              <a:latin typeface="BlueakaBeta2GBK" panose="02000700000000000000" pitchFamily="2" charset="-122"/>
              <a:ea typeface="BlueakaBeta2GBK" panose="02000700000000000000" pitchFamily="2" charset="-122"/>
            </a:endParaRPr>
          </a:p>
        </p:txBody>
      </p:sp>
      <p:sp>
        <p:nvSpPr>
          <p:cNvPr id="3" name="AutoShape 3"/>
          <p:cNvSpPr/>
          <p:nvPr/>
        </p:nvSpPr>
        <p:spPr>
          <a:xfrm>
            <a:off x="-1016000" y="5080000"/>
            <a:ext cx="2540000" cy="2540000"/>
          </a:xfrm>
          <a:prstGeom prst="ellipse">
            <a:avLst/>
          </a:prstGeom>
          <a:solidFill>
            <a:srgbClr val="10B981">
              <a:alpha val="5000"/>
            </a:srgbClr>
          </a:solidFill>
          <a:ln w="25400" cap="flat" cmpd="sng">
            <a:noFill/>
            <a:prstDash val="solid"/>
            <a:round/>
          </a:ln>
        </p:spPr>
        <p:txBody>
          <a:bodyPr vert="horz" wrap="square" lIns="63500" tIns="63500" rIns="63500" bIns="63500" rtlCol="0" anchor="ctr"/>
          <a:lstStyle/>
          <a:p>
            <a:pPr algn="ctr">
              <a:defRPr/>
            </a:pPr>
            <a:endParaRPr dirty="0">
              <a:latin typeface="BlueakaBeta2GBK" panose="02000700000000000000" pitchFamily="2" charset="-122"/>
              <a:ea typeface="BlueakaBeta2GBK" panose="02000700000000000000" pitchFamily="2" charset="-122"/>
            </a:endParaRPr>
          </a:p>
        </p:txBody>
      </p:sp>
      <p:sp>
        <p:nvSpPr>
          <p:cNvPr id="4" name="AutoShape 4"/>
          <p:cNvSpPr/>
          <p:nvPr/>
        </p:nvSpPr>
        <p:spPr>
          <a:xfrm>
            <a:off x="0" y="635000"/>
            <a:ext cx="12192000" cy="1016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3200" b="1" i="0" u="none" strike="noStrike" dirty="0" err="1">
                <a:solidFill>
                  <a:srgbClr val="1E3A8A"/>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九、总结</a:t>
            </a:r>
            <a:endParaRPr lang="en-US" sz="1100" dirty="0">
              <a:latin typeface="BlueakaBeta2GBK" panose="02000700000000000000" pitchFamily="2" charset="-122"/>
              <a:ea typeface="BlueakaBeta2GBK" panose="02000700000000000000" pitchFamily="2" charset="-122"/>
            </a:endParaRPr>
          </a:p>
        </p:txBody>
      </p:sp>
      <p:sp>
        <p:nvSpPr>
          <p:cNvPr id="5" name="AutoShape 5"/>
          <p:cNvSpPr/>
          <p:nvPr/>
        </p:nvSpPr>
        <p:spPr>
          <a:xfrm>
            <a:off x="508000" y="1905000"/>
            <a:ext cx="3556000" cy="3175000"/>
          </a:xfrm>
          <a:prstGeom prst="roundRect">
            <a:avLst>
              <a:gd name="adj" fmla="val 0"/>
            </a:avLst>
          </a:prstGeom>
          <a:solidFill>
            <a:srgbClr val="3B82F6">
              <a:alpha val="8000"/>
            </a:srgbClr>
          </a:solidFill>
          <a:ln w="12700" cap="flat" cmpd="sng">
            <a:solidFill>
              <a:srgbClr val="3B82F6">
                <a:alpha val="20000"/>
              </a:srgbClr>
            </a:solidFill>
            <a:prstDash val="solid"/>
            <a:round/>
          </a:ln>
        </p:spPr>
        <p:txBody>
          <a:bodyPr vert="horz" wrap="square" lIns="63500" tIns="63500" rIns="63500" bIns="63500" rtlCol="0" anchor="ctr"/>
          <a:lstStyle/>
          <a:p>
            <a:pPr algn="ctr">
              <a:defRPr/>
            </a:pPr>
            <a:endParaRPr dirty="0">
              <a:latin typeface="BlueakaBeta2GBK" panose="02000700000000000000" pitchFamily="2" charset="-122"/>
              <a:ea typeface="BlueakaBeta2GBK" panose="02000700000000000000" pitchFamily="2" charset="-122"/>
            </a:endParaRPr>
          </a:p>
        </p:txBody>
      </p:sp>
      <p:pic>
        <p:nvPicPr>
          <p:cNvPr id="6" name="Picture 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62000" y="2159000"/>
            <a:ext cx="406400" cy="406400"/>
          </a:xfrm>
          <a:prstGeom prst="rect">
            <a:avLst/>
          </a:prstGeom>
        </p:spPr>
      </p:pic>
      <p:sp>
        <p:nvSpPr>
          <p:cNvPr id="7" name="AutoShape 7"/>
          <p:cNvSpPr/>
          <p:nvPr/>
        </p:nvSpPr>
        <p:spPr>
          <a:xfrm>
            <a:off x="1270000" y="2159000"/>
            <a:ext cx="2667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dirty="0">
                <a:solidFill>
                  <a:srgbClr val="1E3A8A"/>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01 </a:t>
            </a:r>
            <a:r>
              <a:rPr lang="en-US" sz="1800" b="1" i="0" u="none" strike="noStrike" dirty="0" err="1">
                <a:solidFill>
                  <a:srgbClr val="1E3A8A"/>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核心实现回顾</a:t>
            </a:r>
            <a:endParaRPr lang="en-US" sz="1100" dirty="0">
              <a:latin typeface="BlueakaBeta2GBK" panose="02000700000000000000" pitchFamily="2" charset="-122"/>
              <a:ea typeface="BlueakaBeta2GBK" panose="02000700000000000000" pitchFamily="2" charset="-122"/>
            </a:endParaRPr>
          </a:p>
        </p:txBody>
      </p:sp>
      <p:cxnSp>
        <p:nvCxnSpPr>
          <p:cNvPr id="8" name="Connector 8"/>
          <p:cNvCxnSpPr/>
          <p:nvPr/>
        </p:nvCxnSpPr>
        <p:spPr>
          <a:xfrm rot="-14323">
            <a:off x="762013" y="2724150"/>
            <a:ext cx="3048000" cy="12700"/>
          </a:xfrm>
          <a:prstGeom prst="straightConnector1">
            <a:avLst/>
          </a:prstGeom>
          <a:solidFill>
            <a:srgbClr val="DEE0E3">
              <a:alpha val="100000"/>
            </a:srgbClr>
          </a:solidFill>
          <a:ln w="12700" cap="flat" cmpd="sng">
            <a:solidFill>
              <a:srgbClr val="3B82F6">
                <a:alpha val="20000"/>
              </a:srgbClr>
            </a:solidFill>
            <a:prstDash val="solid"/>
            <a:round/>
            <a:headEnd type="none" w="med" len="med"/>
            <a:tailEnd type="none" w="med" len="med"/>
          </a:ln>
        </p:spPr>
      </p:cxnSp>
      <p:sp>
        <p:nvSpPr>
          <p:cNvPr id="9" name="AutoShape 9"/>
          <p:cNvSpPr/>
          <p:nvPr/>
        </p:nvSpPr>
        <p:spPr>
          <a:xfrm>
            <a:off x="762000" y="2921000"/>
            <a:ext cx="3048000" cy="2032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dirty="0">
                <a:solidFill>
                  <a:srgbClr val="374151"/>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以</a:t>
            </a:r>
            <a:r>
              <a:rPr lang="en-US" sz="1400" b="1" i="0" u="none" strike="noStrike" dirty="0">
                <a:solidFill>
                  <a:srgbClr val="374151"/>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景区导航寻路</a:t>
            </a:r>
            <a:r>
              <a:rPr lang="en-US" sz="1400" b="0" i="0" u="none" strike="noStrike" dirty="0">
                <a:solidFill>
                  <a:srgbClr val="374151"/>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为核心，基于</a:t>
            </a:r>
            <a:r>
              <a:rPr lang="en-US" sz="1400" b="1" i="0" u="none" strike="noStrike" dirty="0">
                <a:solidFill>
                  <a:srgbClr val="374151"/>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C语言</a:t>
            </a:r>
            <a:r>
              <a:rPr lang="en-US" sz="1400" b="0" i="0" u="none" strike="noStrike" dirty="0">
                <a:solidFill>
                  <a:srgbClr val="374151"/>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构建系统底层。通过</a:t>
            </a:r>
            <a:r>
              <a:rPr lang="en-US" sz="1400" b="1" i="0" u="none" strike="noStrike" dirty="0">
                <a:solidFill>
                  <a:srgbClr val="374151"/>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Dijkstra最短路径算法</a:t>
            </a:r>
            <a:r>
              <a:rPr lang="en-US" sz="1400" b="0" i="0" u="none" strike="noStrike" dirty="0">
                <a:solidFill>
                  <a:srgbClr val="374151"/>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解决节点间最优规划，结合</a:t>
            </a:r>
            <a:r>
              <a:rPr lang="en-US" sz="1400" b="1" i="0" u="none" strike="noStrike" dirty="0">
                <a:solidFill>
                  <a:srgbClr val="374151"/>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最近邻启发式算法</a:t>
            </a:r>
            <a:r>
              <a:rPr lang="en-US" sz="1400" b="0" i="0" u="none" strike="noStrike" dirty="0">
                <a:solidFill>
                  <a:srgbClr val="374151"/>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实现高效游览路线推荐，精准匹配游客寻路与游览需求。</a:t>
            </a:r>
            <a:endParaRPr lang="en-US" sz="1100" dirty="0">
              <a:latin typeface="BlueakaBeta2GBK" panose="02000700000000000000" pitchFamily="2" charset="-122"/>
              <a:ea typeface="BlueakaBeta2GBK" panose="02000700000000000000" pitchFamily="2" charset="-122"/>
            </a:endParaRPr>
          </a:p>
        </p:txBody>
      </p:sp>
      <p:sp>
        <p:nvSpPr>
          <p:cNvPr id="10" name="AutoShape 10"/>
          <p:cNvSpPr/>
          <p:nvPr/>
        </p:nvSpPr>
        <p:spPr>
          <a:xfrm>
            <a:off x="4318000" y="1905000"/>
            <a:ext cx="3556000" cy="3175000"/>
          </a:xfrm>
          <a:prstGeom prst="roundRect">
            <a:avLst>
              <a:gd name="adj" fmla="val 0"/>
            </a:avLst>
          </a:prstGeom>
          <a:solidFill>
            <a:srgbClr val="10B981">
              <a:alpha val="8000"/>
            </a:srgbClr>
          </a:solidFill>
          <a:ln w="12700" cap="flat" cmpd="sng">
            <a:solidFill>
              <a:srgbClr val="10B981">
                <a:alpha val="20000"/>
              </a:srgbClr>
            </a:solidFill>
            <a:prstDash val="solid"/>
            <a:round/>
          </a:ln>
        </p:spPr>
        <p:txBody>
          <a:bodyPr vert="horz" wrap="square" lIns="63500" tIns="63500" rIns="63500" bIns="63500" rtlCol="0" anchor="ctr"/>
          <a:lstStyle/>
          <a:p>
            <a:pPr algn="ctr">
              <a:defRPr/>
            </a:pPr>
            <a:endParaRPr dirty="0">
              <a:latin typeface="BlueakaBeta2GBK" panose="02000700000000000000" pitchFamily="2" charset="-122"/>
              <a:ea typeface="BlueakaBeta2GBK" panose="02000700000000000000" pitchFamily="2" charset="-122"/>
            </a:endParaRPr>
          </a:p>
        </p:txBody>
      </p:sp>
      <p:pic>
        <p:nvPicPr>
          <p:cNvPr id="11" name="Picture 1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572000" y="2159000"/>
            <a:ext cx="406400" cy="406400"/>
          </a:xfrm>
          <a:prstGeom prst="rect">
            <a:avLst/>
          </a:prstGeom>
        </p:spPr>
      </p:pic>
      <p:sp>
        <p:nvSpPr>
          <p:cNvPr id="12" name="AutoShape 12"/>
          <p:cNvSpPr/>
          <p:nvPr/>
        </p:nvSpPr>
        <p:spPr>
          <a:xfrm>
            <a:off x="5080000" y="2159000"/>
            <a:ext cx="2667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dirty="0">
                <a:solidFill>
                  <a:srgbClr val="065F46"/>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02 </a:t>
            </a:r>
            <a:r>
              <a:rPr lang="en-US" sz="1800" b="1" i="0" u="none" strike="noStrike" dirty="0" err="1">
                <a:solidFill>
                  <a:srgbClr val="065F46"/>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系统核心优势</a:t>
            </a:r>
            <a:endParaRPr lang="en-US" sz="1100" dirty="0">
              <a:latin typeface="BlueakaBeta2GBK" panose="02000700000000000000" pitchFamily="2" charset="-122"/>
              <a:ea typeface="BlueakaBeta2GBK" panose="02000700000000000000" pitchFamily="2" charset="-122"/>
            </a:endParaRPr>
          </a:p>
        </p:txBody>
      </p:sp>
      <p:cxnSp>
        <p:nvCxnSpPr>
          <p:cNvPr id="13" name="Connector 13"/>
          <p:cNvCxnSpPr/>
          <p:nvPr/>
        </p:nvCxnSpPr>
        <p:spPr>
          <a:xfrm rot="-14323">
            <a:off x="4572013" y="2724150"/>
            <a:ext cx="3048000" cy="12700"/>
          </a:xfrm>
          <a:prstGeom prst="straightConnector1">
            <a:avLst/>
          </a:prstGeom>
          <a:solidFill>
            <a:srgbClr val="DEE0E3">
              <a:alpha val="100000"/>
            </a:srgbClr>
          </a:solidFill>
          <a:ln w="12700" cap="flat" cmpd="sng">
            <a:solidFill>
              <a:srgbClr val="10B981">
                <a:alpha val="20000"/>
              </a:srgbClr>
            </a:solidFill>
            <a:prstDash val="solid"/>
            <a:round/>
            <a:headEnd type="none" w="med" len="med"/>
            <a:tailEnd type="none" w="med" len="med"/>
          </a:ln>
        </p:spPr>
      </p:cxnSp>
      <p:sp>
        <p:nvSpPr>
          <p:cNvPr id="14" name="AutoShape 14"/>
          <p:cNvSpPr/>
          <p:nvPr/>
        </p:nvSpPr>
        <p:spPr>
          <a:xfrm>
            <a:off x="4572000" y="2921000"/>
            <a:ext cx="3048000" cy="2032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dirty="0">
                <a:solidFill>
                  <a:srgbClr val="374151"/>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架构上实现</a:t>
            </a:r>
            <a:r>
              <a:rPr lang="en-US" sz="1400" b="1" i="0" u="none" strike="noStrike" dirty="0">
                <a:solidFill>
                  <a:srgbClr val="374151"/>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高内聚低耦合的模块化设计</a:t>
            </a:r>
            <a:r>
              <a:rPr lang="en-US" sz="1400" b="0" i="0" u="none" strike="noStrike" dirty="0">
                <a:solidFill>
                  <a:srgbClr val="374151"/>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，数据结构选型高效适配业务场景；算法逻辑严谨，地图可视化效果直观易懂。兼具良好的</a:t>
            </a:r>
            <a:r>
              <a:rPr lang="en-US" sz="1400" b="1" i="0" u="none" strike="noStrike" dirty="0">
                <a:solidFill>
                  <a:srgbClr val="374151"/>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实用性</a:t>
            </a:r>
            <a:r>
              <a:rPr lang="en-US" sz="1400" b="0" i="0" u="none" strike="noStrike" dirty="0">
                <a:solidFill>
                  <a:srgbClr val="374151"/>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与</a:t>
            </a:r>
            <a:r>
              <a:rPr lang="en-US" sz="1400" b="1" i="0" u="none" strike="noStrike" dirty="0">
                <a:solidFill>
                  <a:srgbClr val="374151"/>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可扩展性</a:t>
            </a:r>
            <a:r>
              <a:rPr lang="en-US" sz="1400" b="0" i="0" u="none" strike="noStrike" dirty="0">
                <a:solidFill>
                  <a:srgbClr val="374151"/>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，可灵活适配不同规模的景区导览需求。</a:t>
            </a:r>
            <a:endParaRPr lang="en-US" sz="1100" dirty="0">
              <a:latin typeface="BlueakaBeta2GBK" panose="02000700000000000000" pitchFamily="2" charset="-122"/>
              <a:ea typeface="BlueakaBeta2GBK" panose="02000700000000000000" pitchFamily="2" charset="-122"/>
            </a:endParaRPr>
          </a:p>
        </p:txBody>
      </p:sp>
      <p:sp>
        <p:nvSpPr>
          <p:cNvPr id="15" name="AutoShape 15"/>
          <p:cNvSpPr/>
          <p:nvPr/>
        </p:nvSpPr>
        <p:spPr>
          <a:xfrm>
            <a:off x="8128000" y="1905000"/>
            <a:ext cx="3556000" cy="3175000"/>
          </a:xfrm>
          <a:prstGeom prst="roundRect">
            <a:avLst>
              <a:gd name="adj" fmla="val 0"/>
            </a:avLst>
          </a:prstGeom>
          <a:solidFill>
            <a:srgbClr val="F59E0B">
              <a:alpha val="8000"/>
            </a:srgbClr>
          </a:solidFill>
          <a:ln w="12700" cap="flat" cmpd="sng">
            <a:solidFill>
              <a:srgbClr val="F59E0B">
                <a:alpha val="20000"/>
              </a:srgbClr>
            </a:solidFill>
            <a:prstDash val="solid"/>
            <a:round/>
          </a:ln>
        </p:spPr>
        <p:txBody>
          <a:bodyPr vert="horz" wrap="square" lIns="63500" tIns="63500" rIns="63500" bIns="63500" rtlCol="0" anchor="ctr"/>
          <a:lstStyle/>
          <a:p>
            <a:pPr algn="ctr">
              <a:defRPr/>
            </a:pPr>
            <a:endParaRPr dirty="0">
              <a:latin typeface="BlueakaBeta2GBK" panose="02000700000000000000" pitchFamily="2" charset="-122"/>
              <a:ea typeface="BlueakaBeta2GBK" panose="02000700000000000000" pitchFamily="2" charset="-122"/>
            </a:endParaRPr>
          </a:p>
        </p:txBody>
      </p:sp>
      <p:pic>
        <p:nvPicPr>
          <p:cNvPr id="16" name="Picture 1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382000" y="2159000"/>
            <a:ext cx="406400" cy="406400"/>
          </a:xfrm>
          <a:prstGeom prst="rect">
            <a:avLst/>
          </a:prstGeom>
        </p:spPr>
      </p:pic>
      <p:sp>
        <p:nvSpPr>
          <p:cNvPr id="17" name="AutoShape 17"/>
          <p:cNvSpPr/>
          <p:nvPr/>
        </p:nvSpPr>
        <p:spPr>
          <a:xfrm>
            <a:off x="8890000" y="2159000"/>
            <a:ext cx="2667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dirty="0">
                <a:solidFill>
                  <a:srgbClr val="B45309"/>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03 </a:t>
            </a:r>
            <a:r>
              <a:rPr lang="en-US" sz="1800" b="1" i="0" u="none" strike="noStrike" dirty="0" err="1">
                <a:solidFill>
                  <a:srgbClr val="B45309"/>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未来拓展方向</a:t>
            </a:r>
            <a:endParaRPr lang="en-US" sz="1100" dirty="0">
              <a:latin typeface="BlueakaBeta2GBK" panose="02000700000000000000" pitchFamily="2" charset="-122"/>
              <a:ea typeface="BlueakaBeta2GBK" panose="02000700000000000000" pitchFamily="2" charset="-122"/>
            </a:endParaRPr>
          </a:p>
        </p:txBody>
      </p:sp>
      <p:cxnSp>
        <p:nvCxnSpPr>
          <p:cNvPr id="18" name="Connector 18"/>
          <p:cNvCxnSpPr/>
          <p:nvPr/>
        </p:nvCxnSpPr>
        <p:spPr>
          <a:xfrm rot="-14323">
            <a:off x="8382013" y="2724150"/>
            <a:ext cx="3048000" cy="12700"/>
          </a:xfrm>
          <a:prstGeom prst="straightConnector1">
            <a:avLst/>
          </a:prstGeom>
          <a:solidFill>
            <a:srgbClr val="DEE0E3">
              <a:alpha val="100000"/>
            </a:srgbClr>
          </a:solidFill>
          <a:ln w="12700" cap="flat" cmpd="sng">
            <a:solidFill>
              <a:srgbClr val="F59E0B">
                <a:alpha val="20000"/>
              </a:srgbClr>
            </a:solidFill>
            <a:prstDash val="solid"/>
            <a:round/>
            <a:headEnd type="none" w="med" len="med"/>
            <a:tailEnd type="none" w="med" len="med"/>
          </a:ln>
        </p:spPr>
      </p:cxnSp>
      <p:sp>
        <p:nvSpPr>
          <p:cNvPr id="19" name="AutoShape 19"/>
          <p:cNvSpPr/>
          <p:nvPr/>
        </p:nvSpPr>
        <p:spPr>
          <a:xfrm>
            <a:off x="8382000" y="2921000"/>
            <a:ext cx="3048000" cy="2032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dirty="0" err="1">
                <a:solidFill>
                  <a:srgbClr val="374151"/>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升级为可视化</a:t>
            </a:r>
            <a:r>
              <a:rPr lang="en-US" sz="1400" b="1" i="0" u="none" strike="noStrike" dirty="0" err="1">
                <a:solidFill>
                  <a:srgbClr val="374151"/>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图形交互界面</a:t>
            </a:r>
            <a:r>
              <a:rPr lang="en-US" sz="1400" b="1" i="0" u="none" strike="noStrike" dirty="0">
                <a:solidFill>
                  <a:srgbClr val="374151"/>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(GUI)</a:t>
            </a:r>
            <a:r>
              <a:rPr lang="en-US" sz="1400" b="0" i="0" u="none" strike="noStrike" dirty="0">
                <a:solidFill>
                  <a:srgbClr val="374151"/>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，优化操作体验；集成GPS模块实现</a:t>
            </a:r>
            <a:r>
              <a:rPr lang="en-US" sz="1400" b="1" i="0" u="none" strike="noStrike" dirty="0">
                <a:solidFill>
                  <a:srgbClr val="374151"/>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实时定位与动态导航</a:t>
            </a:r>
            <a:r>
              <a:rPr lang="en-US" sz="1400" b="0" i="0" u="none" strike="noStrike" dirty="0">
                <a:solidFill>
                  <a:srgbClr val="374151"/>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；支持</a:t>
            </a:r>
            <a:r>
              <a:rPr lang="en-US" sz="1400" b="1" i="0" u="none" strike="noStrike" dirty="0">
                <a:solidFill>
                  <a:srgbClr val="374151"/>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多用户协同路径规划</a:t>
            </a:r>
            <a:r>
              <a:rPr lang="en-US" sz="1400" b="0" i="0" u="none" strike="noStrike" dirty="0">
                <a:solidFill>
                  <a:srgbClr val="374151"/>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，并结合大数据分析提供个性化智能推荐，打造更全面的智慧景区导览系统。</a:t>
            </a:r>
            <a:endParaRPr lang="en-US" sz="1100" dirty="0">
              <a:latin typeface="BlueakaBeta2GBK" panose="02000700000000000000" pitchFamily="2" charset="-122"/>
              <a:ea typeface="BlueakaBeta2GBK" panose="02000700000000000000" pitchFamily="2" charset="-122"/>
            </a:endParaRPr>
          </a:p>
        </p:txBody>
      </p:sp>
      <p:sp>
        <p:nvSpPr>
          <p:cNvPr id="20" name="AutoShape 20"/>
          <p:cNvSpPr/>
          <p:nvPr/>
        </p:nvSpPr>
        <p:spPr>
          <a:xfrm>
            <a:off x="508000" y="5461000"/>
            <a:ext cx="11176000" cy="920115"/>
          </a:xfrm>
          <a:prstGeom prst="roundRect">
            <a:avLst>
              <a:gd name="adj" fmla="val 0"/>
            </a:avLst>
          </a:prstGeom>
          <a:solidFill>
            <a:srgbClr val="1E3A8A">
              <a:alpha val="6000"/>
            </a:srgbClr>
          </a:solidFill>
          <a:ln w="25400" cap="flat" cmpd="sng">
            <a:noFill/>
            <a:prstDash val="solid"/>
            <a:round/>
          </a:ln>
        </p:spPr>
        <p:txBody>
          <a:bodyPr vert="horz" wrap="square" lIns="63500" tIns="63500" rIns="63500" bIns="63500" rtlCol="0" anchor="ctr"/>
          <a:lstStyle/>
          <a:p>
            <a:pPr algn="ctr">
              <a:defRPr/>
            </a:pPr>
            <a:endParaRPr dirty="0">
              <a:latin typeface="BlueakaBeta2GBK" panose="02000700000000000000" pitchFamily="2" charset="-122"/>
              <a:ea typeface="BlueakaBeta2GBK" panose="02000700000000000000" pitchFamily="2" charset="-122"/>
            </a:endParaRPr>
          </a:p>
        </p:txBody>
      </p:sp>
      <p:sp>
        <p:nvSpPr>
          <p:cNvPr id="21" name="AutoShape 21"/>
          <p:cNvSpPr/>
          <p:nvPr/>
        </p:nvSpPr>
        <p:spPr>
          <a:xfrm>
            <a:off x="762000" y="5613400"/>
            <a:ext cx="10668000" cy="635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500" b="1" i="0" u="none" strike="noStrike" dirty="0">
                <a:solidFill>
                  <a:srgbClr val="1F2937"/>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总结：本系统通过算法优化与合理架构，为景区智慧导览提供了高效的解决方案，未来将持续在交互体验与智能化服务上迭代升级，赋能景区数字化建设。</a:t>
            </a:r>
            <a:endParaRPr lang="en-US" sz="1100" dirty="0">
              <a:latin typeface="BlueakaBeta2GBK" panose="02000700000000000000" pitchFamily="2" charset="-122"/>
              <a:ea typeface="BlueakaBeta2GBK" panose="02000700000000000000" pitchFamily="2"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gradFill rotWithShape="1">
          <a:gsLst>
            <a:gs pos="0">
              <a:srgbClr val="0B3A29">
                <a:alpha val="100000"/>
              </a:srgbClr>
            </a:gs>
            <a:gs pos="100000">
              <a:srgbClr val="165A41">
                <a:alpha val="100000"/>
              </a:srgbClr>
            </a:gs>
          </a:gsLst>
          <a:lin ang="2700000"/>
        </a:gradFill>
        <a:effectLst/>
      </p:bgPr>
    </p:bg>
    <p:spTree>
      <p:nvGrpSpPr>
        <p:cNvPr id="1" name=""/>
        <p:cNvGrpSpPr/>
        <p:nvPr/>
      </p:nvGrpSpPr>
      <p:grpSpPr>
        <a:xfrm>
          <a:off x="0" y="0"/>
          <a:ext cx="0" cy="0"/>
          <a:chOff x="0" y="0"/>
          <a:chExt cx="0" cy="0"/>
        </a:xfrm>
      </p:grpSpPr>
      <p:sp>
        <p:nvSpPr>
          <p:cNvPr id="2" name="AutoShape 2"/>
          <p:cNvSpPr/>
          <p:nvPr/>
        </p:nvSpPr>
        <p:spPr>
          <a:xfrm>
            <a:off x="-1016000" y="-1016000"/>
            <a:ext cx="3175000" cy="3175000"/>
          </a:xfrm>
          <a:prstGeom prst="ellipse">
            <a:avLst/>
          </a:prstGeom>
          <a:solidFill>
            <a:srgbClr val="FFFFFF">
              <a:alpha val="6000"/>
            </a:srgbClr>
          </a:solidFill>
          <a:ln cap="flat" cmpd="sng">
            <a:solidFill>
              <a:srgbClr val="E6CFCF">
                <a:alpha val="6000"/>
              </a:srgbClr>
            </a:solidFill>
            <a:prstDash val="solid"/>
            <a:round/>
          </a:ln>
        </p:spPr>
        <p:txBody>
          <a:bodyPr vert="horz" wrap="square" lIns="63500" tIns="63500" rIns="63500" bIns="63500" rtlCol="0" anchor="ctr"/>
          <a:lstStyle/>
          <a:p>
            <a:pPr algn="ctr">
              <a:defRPr/>
            </a:pPr>
            <a:endParaRPr dirty="0">
              <a:latin typeface="BlueakaBeta2GBK" panose="02000700000000000000" pitchFamily="2" charset="-122"/>
              <a:ea typeface="BlueakaBeta2GBK" panose="02000700000000000000" pitchFamily="2" charset="-122"/>
            </a:endParaRPr>
          </a:p>
        </p:txBody>
      </p:sp>
      <p:sp>
        <p:nvSpPr>
          <p:cNvPr id="3" name="AutoShape 3"/>
          <p:cNvSpPr/>
          <p:nvPr/>
        </p:nvSpPr>
        <p:spPr>
          <a:xfrm>
            <a:off x="9525000" y="4445000"/>
            <a:ext cx="4445000" cy="4445000"/>
          </a:xfrm>
          <a:prstGeom prst="ellipse">
            <a:avLst/>
          </a:prstGeom>
          <a:solidFill>
            <a:srgbClr val="FFFFFF">
              <a:alpha val="4000"/>
            </a:srgbClr>
          </a:solidFill>
          <a:ln cap="flat" cmpd="sng">
            <a:solidFill>
              <a:srgbClr val="E6CFCF">
                <a:alpha val="4000"/>
              </a:srgbClr>
            </a:solidFill>
            <a:prstDash val="solid"/>
            <a:round/>
          </a:ln>
        </p:spPr>
        <p:txBody>
          <a:bodyPr vert="horz" wrap="square" lIns="63500" tIns="63500" rIns="63500" bIns="63500" rtlCol="0" anchor="ctr"/>
          <a:lstStyle/>
          <a:p>
            <a:pPr algn="ctr">
              <a:defRPr/>
            </a:pPr>
            <a:endParaRPr dirty="0">
              <a:latin typeface="BlueakaBeta2GBK" panose="02000700000000000000" pitchFamily="2" charset="-122"/>
              <a:ea typeface="BlueakaBeta2GBK" panose="02000700000000000000" pitchFamily="2" charset="-122"/>
            </a:endParaRPr>
          </a:p>
        </p:txBody>
      </p:sp>
      <p:sp>
        <p:nvSpPr>
          <p:cNvPr id="4" name="AutoShape 4"/>
          <p:cNvSpPr/>
          <p:nvPr/>
        </p:nvSpPr>
        <p:spPr>
          <a:xfrm>
            <a:off x="0" y="1651000"/>
            <a:ext cx="12192000" cy="1270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4800" b="1" i="0" u="none" strike="noStrike" dirty="0" err="1">
                <a:solidFill>
                  <a:srgbClr val="FFFFFF"/>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感谢各位老师聆听</a:t>
            </a:r>
            <a:r>
              <a:rPr lang="en-US" sz="4800" b="1" i="0" u="none" strike="noStrike" dirty="0">
                <a:solidFill>
                  <a:srgbClr val="FFFFFF"/>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a:t>
            </a:r>
            <a:endParaRPr lang="en-US" sz="1100" dirty="0">
              <a:latin typeface="BlueakaBeta2GBK" panose="02000700000000000000" pitchFamily="2" charset="-122"/>
              <a:ea typeface="BlueakaBeta2GBK" panose="02000700000000000000" pitchFamily="2" charset="-122"/>
            </a:endParaRPr>
          </a:p>
        </p:txBody>
      </p:sp>
      <p:sp>
        <p:nvSpPr>
          <p:cNvPr id="5" name="AutoShape 5"/>
          <p:cNvSpPr/>
          <p:nvPr/>
        </p:nvSpPr>
        <p:spPr>
          <a:xfrm>
            <a:off x="4699000" y="3175000"/>
            <a:ext cx="2794000" cy="25400"/>
          </a:xfrm>
          <a:prstGeom prst="roundRect">
            <a:avLst>
              <a:gd name="adj" fmla="val 0"/>
            </a:avLst>
          </a:prstGeom>
          <a:solidFill>
            <a:srgbClr val="86EFAC">
              <a:alpha val="30000"/>
            </a:srgbClr>
          </a:solidFill>
          <a:ln w="25400" cap="flat" cmpd="sng">
            <a:noFill/>
            <a:prstDash val="solid"/>
            <a:round/>
          </a:ln>
        </p:spPr>
        <p:txBody>
          <a:bodyPr vert="horz" wrap="square" lIns="63500" tIns="63500" rIns="63500" bIns="63500" rtlCol="0" anchor="ctr"/>
          <a:lstStyle/>
          <a:p>
            <a:pPr algn="ctr">
              <a:defRPr/>
            </a:pPr>
            <a:endParaRPr dirty="0">
              <a:latin typeface="BlueakaBeta2GBK" panose="02000700000000000000" pitchFamily="2" charset="-122"/>
              <a:ea typeface="BlueakaBeta2GBK" panose="02000700000000000000" pitchFamily="2" charset="-122"/>
            </a:endParaRPr>
          </a:p>
        </p:txBody>
      </p:sp>
      <p:sp>
        <p:nvSpPr>
          <p:cNvPr id="6" name="AutoShape 6"/>
          <p:cNvSpPr/>
          <p:nvPr/>
        </p:nvSpPr>
        <p:spPr>
          <a:xfrm>
            <a:off x="0" y="3556000"/>
            <a:ext cx="12192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400" b="0" i="0" u="none" strike="noStrike" spc="400" dirty="0" err="1">
                <a:solidFill>
                  <a:srgbClr val="86EFAC"/>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恳请批评指正</a:t>
            </a:r>
            <a:endParaRPr lang="en-US" sz="1100" dirty="0">
              <a:latin typeface="BlueakaBeta2GBK" panose="02000700000000000000" pitchFamily="2" charset="-122"/>
              <a:ea typeface="BlueakaBeta2GBK" panose="02000700000000000000" pitchFamily="2" charset="-122"/>
            </a:endParaRPr>
          </a:p>
        </p:txBody>
      </p:sp>
      <p:sp>
        <p:nvSpPr>
          <p:cNvPr id="7" name="AutoShape 7"/>
          <p:cNvSpPr/>
          <p:nvPr/>
        </p:nvSpPr>
        <p:spPr>
          <a:xfrm>
            <a:off x="2032000" y="4762500"/>
            <a:ext cx="3048000" cy="889000"/>
          </a:xfrm>
          <a:prstGeom prst="ellipse">
            <a:avLst/>
          </a:prstGeom>
          <a:solidFill>
            <a:srgbClr val="FFFFFF">
              <a:alpha val="8000"/>
            </a:srgbClr>
          </a:solidFill>
          <a:ln cap="flat" cmpd="sng">
            <a:solidFill>
              <a:srgbClr val="E6CFCF">
                <a:alpha val="8000"/>
              </a:srgbClr>
            </a:solidFill>
            <a:prstDash val="solid"/>
            <a:round/>
          </a:ln>
        </p:spPr>
        <p:txBody>
          <a:bodyPr vert="horz" wrap="square" lIns="63500" tIns="63500" rIns="63500" bIns="63500" rtlCol="0" anchor="ctr"/>
          <a:lstStyle/>
          <a:p>
            <a:pPr algn="ctr">
              <a:defRPr/>
            </a:pPr>
            <a:endParaRPr dirty="0">
              <a:latin typeface="BlueakaBeta2GBK" panose="02000700000000000000" pitchFamily="2" charset="-122"/>
              <a:ea typeface="BlueakaBeta2GBK" panose="02000700000000000000" pitchFamily="2" charset="-122"/>
            </a:endParaRPr>
          </a:p>
        </p:txBody>
      </p:sp>
      <p:sp>
        <p:nvSpPr>
          <p:cNvPr id="8" name="AutoShape 8"/>
          <p:cNvSpPr/>
          <p:nvPr/>
        </p:nvSpPr>
        <p:spPr>
          <a:xfrm>
            <a:off x="4826000" y="4699000"/>
            <a:ext cx="2794000" cy="1079500"/>
          </a:xfrm>
          <a:prstGeom prst="ellipse">
            <a:avLst/>
          </a:prstGeom>
          <a:solidFill>
            <a:srgbClr val="FFFFFF">
              <a:alpha val="12000"/>
            </a:srgbClr>
          </a:solidFill>
          <a:ln cap="flat" cmpd="sng">
            <a:solidFill>
              <a:srgbClr val="E6CFCF">
                <a:alpha val="12000"/>
              </a:srgbClr>
            </a:solidFill>
            <a:prstDash val="solid"/>
            <a:round/>
          </a:ln>
        </p:spPr>
        <p:txBody>
          <a:bodyPr vert="horz" wrap="square" lIns="63500" tIns="63500" rIns="63500" bIns="63500" rtlCol="0" anchor="ctr"/>
          <a:lstStyle/>
          <a:p>
            <a:pPr algn="ctr">
              <a:defRPr/>
            </a:pPr>
            <a:endParaRPr dirty="0">
              <a:latin typeface="BlueakaBeta2GBK" panose="02000700000000000000" pitchFamily="2" charset="-122"/>
              <a:ea typeface="BlueakaBeta2GBK" panose="02000700000000000000" pitchFamily="2" charset="-122"/>
            </a:endParaRPr>
          </a:p>
        </p:txBody>
      </p:sp>
      <p:sp>
        <p:nvSpPr>
          <p:cNvPr id="9" name="AutoShape 9"/>
          <p:cNvSpPr/>
          <p:nvPr/>
        </p:nvSpPr>
        <p:spPr>
          <a:xfrm>
            <a:off x="7620000" y="4826000"/>
            <a:ext cx="2540000" cy="952500"/>
          </a:xfrm>
          <a:prstGeom prst="ellipse">
            <a:avLst/>
          </a:prstGeom>
          <a:solidFill>
            <a:srgbClr val="FFFFFF">
              <a:alpha val="18000"/>
            </a:srgbClr>
          </a:solidFill>
          <a:ln cap="flat" cmpd="sng">
            <a:solidFill>
              <a:srgbClr val="E6CFCF">
                <a:alpha val="18000"/>
              </a:srgbClr>
            </a:solidFill>
            <a:prstDash val="solid"/>
            <a:round/>
          </a:ln>
        </p:spPr>
        <p:txBody>
          <a:bodyPr vert="horz" wrap="square" lIns="63500" tIns="63500" rIns="63500" bIns="63500" rtlCol="0" anchor="ctr"/>
          <a:lstStyle/>
          <a:p>
            <a:pPr algn="ctr">
              <a:defRPr/>
            </a:pPr>
            <a:endParaRPr dirty="0">
              <a:latin typeface="BlueakaBeta2GBK" panose="02000700000000000000" pitchFamily="2" charset="-122"/>
              <a:ea typeface="BlueakaBeta2GBK" panose="02000700000000000000" pitchFamily="2" charset="-122"/>
            </a:endParaRPr>
          </a:p>
        </p:txBody>
      </p:sp>
      <p:sp>
        <p:nvSpPr>
          <p:cNvPr id="10" name="AutoShape 10"/>
          <p:cNvSpPr/>
          <p:nvPr/>
        </p:nvSpPr>
        <p:spPr>
          <a:xfrm>
            <a:off x="635" y="5842000"/>
            <a:ext cx="12191365" cy="762000"/>
          </a:xfrm>
          <a:prstGeom prst="rect">
            <a:avLst/>
          </a:prstGeom>
          <a:noFill/>
          <a:ln w="12700" cap="flat" cmpd="sng">
            <a:noFill/>
            <a:prstDash val="solid"/>
            <a:round/>
          </a:ln>
        </p:spPr>
        <p:txBody>
          <a:bodyPr vert="horz" wrap="square" lIns="0" tIns="0" rIns="0" bIns="0" rtlCol="0" anchor="ctr" anchorCtr="0"/>
          <a:lstStyle/>
          <a:p>
            <a:pPr marL="0" indent="0" algn="ctr">
              <a:lnSpc>
                <a:spcPct val="117000"/>
              </a:lnSpc>
              <a:defRPr/>
            </a:pPr>
            <a:r>
              <a:rPr lang="en-US" sz="1600" b="0" i="0" u="none" strike="noStrike" dirty="0" err="1">
                <a:solidFill>
                  <a:srgbClr val="D1FAE5">
                    <a:alpha val="70196"/>
                  </a:srgbClr>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答辩人</a:t>
            </a:r>
            <a:r>
              <a:rPr lang="en-US" sz="1600" b="0" i="0" u="none" strike="noStrike" dirty="0">
                <a:solidFill>
                  <a:srgbClr val="D1FAE5">
                    <a:alpha val="70196"/>
                  </a:srgbClr>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a:t>
            </a:r>
            <a:r>
              <a:rPr lang="zh-CN" altLang="en-US" sz="1600" b="0" i="0" u="none" strike="noStrike" dirty="0">
                <a:solidFill>
                  <a:srgbClr val="D1FAE5">
                    <a:alpha val="70196"/>
                  </a:srgbClr>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天童爱丽丝</a:t>
            </a:r>
            <a:r>
              <a:rPr lang="en-US" sz="1600" b="0" i="0" u="none" strike="noStrike" dirty="0">
                <a:solidFill>
                  <a:srgbClr val="D1FAE5">
                    <a:alpha val="70196"/>
                  </a:srgbClr>
                </a:solidFill>
                <a:latin typeface="BlueakaBeta2GBK" panose="02000700000000000000" pitchFamily="2" charset="-122"/>
                <a:ea typeface="BlueakaBeta2GBK" panose="02000700000000000000" pitchFamily="2" charset="-122"/>
                <a:cs typeface="Noto Sans SC" panose="020B0200000000000000" charset="-122"/>
                <a:sym typeface="Noto Sans SC" panose="020B0200000000000000" charset="-122"/>
              </a:rPr>
              <a:t>  ｜ 2026年7月</a:t>
            </a:r>
            <a:endParaRPr lang="en-US" sz="1100" dirty="0">
              <a:latin typeface="BlueakaBeta2GBK" panose="02000700000000000000" pitchFamily="2" charset="-122"/>
              <a:ea typeface="BlueakaBeta2GBK" panose="02000700000000000000" pitchFamily="2" charset="-122"/>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DIAGRAM_VIRTUALLY_FRAME" val="{&quot;height&quot;:110,&quot;left&quot;:60,&quot;top&quot;:380,&quot;width&quot;:838}"/>
</p:tagLst>
</file>

<file path=ppt/tags/tag2.xml><?xml version="1.0" encoding="utf-8"?>
<p:tagLst xmlns:a="http://schemas.openxmlformats.org/drawingml/2006/main" xmlns:r="http://schemas.openxmlformats.org/officeDocument/2006/relationships" xmlns:p="http://schemas.openxmlformats.org/presentationml/2006/main">
  <p:tag name="KSO_WM_DIAGRAM_VIRTUALLY_FRAME" val="{&quot;height&quot;:110,&quot;left&quot;:60,&quot;top&quot;:380,&quot;width&quot;:838}"/>
</p:tagLst>
</file>

<file path=ppt/tags/tag3.xml><?xml version="1.0" encoding="utf-8"?>
<p:tagLst xmlns:a="http://schemas.openxmlformats.org/drawingml/2006/main" xmlns:r="http://schemas.openxmlformats.org/officeDocument/2006/relationships" xmlns:p="http://schemas.openxmlformats.org/presentationml/2006/main">
  <p:tag name="KSO_WM_DIAGRAM_VIRTUALLY_FRAME" val="{&quot;height&quot;:110,&quot;left&quot;:60,&quot;top&quot;:380,&quot;width&quot;:838}"/>
</p:tagLst>
</file>

<file path=ppt/tags/tag4.xml><?xml version="1.0" encoding="utf-8"?>
<p:tagLst xmlns:a="http://schemas.openxmlformats.org/drawingml/2006/main" xmlns:r="http://schemas.openxmlformats.org/officeDocument/2006/relationships" xmlns:p="http://schemas.openxmlformats.org/presentationml/2006/main">
  <p:tag name="KSO_WM_DIAGRAM_VIRTUALLY_FRAME" val="{&quot;height&quot;:110,&quot;left&quot;:60,&quot;top&quot;:380,&quot;width&quot;:838}"/>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110,&quot;left&quot;:60,&quot;top&quot;:380,&quot;width&quot;:838}"/>
</p:tagLst>
</file>

<file path=ppt/tags/tag6.xml><?xml version="1.0" encoding="utf-8"?>
<p:tagLst xmlns:a="http://schemas.openxmlformats.org/drawingml/2006/main" xmlns:r="http://schemas.openxmlformats.org/officeDocument/2006/relationships" xmlns:p="http://schemas.openxmlformats.org/presentationml/2006/main">
  <p:tag name="KSO_WM_DIAGRAM_VIRTUALLY_FRAME" val="{&quot;height&quot;:110,&quot;left&quot;:60,&quot;top&quot;:380,&quot;width&quot;:838}"/>
</p:tagLst>
</file>

<file path=ppt/tags/tag7.xml><?xml version="1.0" encoding="utf-8"?>
<p:tagLst xmlns:a="http://schemas.openxmlformats.org/drawingml/2006/main" xmlns:r="http://schemas.openxmlformats.org/officeDocument/2006/relationships" xmlns:p="http://schemas.openxmlformats.org/presentationml/2006/main">
  <p:tag name="KSO_WM_DIAGRAM_VIRTUALLY_FRAME" val="{&quot;height&quot;:110,&quot;left&quot;:60,&quot;top&quot;:380,&quot;width&quot;:838}"/>
</p:tagLst>
</file>

<file path=ppt/tags/tag8.xml><?xml version="1.0" encoding="utf-8"?>
<p:tagLst xmlns:a="http://schemas.openxmlformats.org/drawingml/2006/main" xmlns:r="http://schemas.openxmlformats.org/officeDocument/2006/relationships" xmlns:p="http://schemas.openxmlformats.org/presentationml/2006/main">
  <p:tag name="KSO_WM_DIAGRAM_VIRTUALLY_FRAME" val="{&quot;height&quot;:110,&quot;left&quot;:60,&quot;top&quot;:380,&quot;width&quot;:838}"/>
</p:tagLst>
</file>

<file path=ppt/tags/tag9.xml><?xml version="1.0" encoding="utf-8"?>
<p:tagLst xmlns:a="http://schemas.openxmlformats.org/drawingml/2006/main" xmlns:r="http://schemas.openxmlformats.org/officeDocument/2006/relationships" xmlns:p="http://schemas.openxmlformats.org/presentationml/2006/main">
  <p:tag name="KSO_WM_DIAGRAM_VIRTUALLY_FRAME" val="{&quot;height&quot;:345,&quot;left&quot;:40,&quot;top&quot;:100,&quot;width&quot;:865}"/>
</p:tagLst>
</file>

<file path=ppt/tags/tag10.xml><?xml version="1.0" encoding="utf-8"?>
<p:tagLst xmlns:a="http://schemas.openxmlformats.org/drawingml/2006/main" xmlns:r="http://schemas.openxmlformats.org/officeDocument/2006/relationships" xmlns:p="http://schemas.openxmlformats.org/presentationml/2006/main">
  <p:tag name="KSO_WM_DIAGRAM_VIRTUALLY_FRAME" val="{&quot;height&quot;:345,&quot;left&quot;:40,&quot;top&quot;:100,&quot;width&quot;:865}"/>
</p:tagLst>
</file>

<file path=ppt/tags/tag11.xml><?xml version="1.0" encoding="utf-8"?>
<p:tagLst xmlns:a="http://schemas.openxmlformats.org/drawingml/2006/main" xmlns:r="http://schemas.openxmlformats.org/officeDocument/2006/relationships" xmlns:p="http://schemas.openxmlformats.org/presentationml/2006/main">
  <p:tag name="KSO_WM_DIAGRAM_VIRTUALLY_FRAME" val="{&quot;height&quot;:345,&quot;left&quot;:40,&quot;top&quot;:100,&quot;width&quot;:865}"/>
</p:tagLst>
</file>

<file path=ppt/tags/tag12.xml><?xml version="1.0" encoding="utf-8"?>
<p:tagLst xmlns:a="http://schemas.openxmlformats.org/drawingml/2006/main" xmlns:r="http://schemas.openxmlformats.org/officeDocument/2006/relationships" xmlns:p="http://schemas.openxmlformats.org/presentationml/2006/main">
  <p:tag name="KSO_WM_DIAGRAM_VIRTUALLY_FRAME" val="{&quot;height&quot;:345,&quot;left&quot;:40,&quot;top&quot;:100,&quot;width&quot;:865}"/>
</p:tagLst>
</file>

<file path=ppt/tags/tag13.xml><?xml version="1.0" encoding="utf-8"?>
<p:tagLst xmlns:a="http://schemas.openxmlformats.org/drawingml/2006/main" xmlns:r="http://schemas.openxmlformats.org/officeDocument/2006/relationships" xmlns:p="http://schemas.openxmlformats.org/presentationml/2006/main">
  <p:tag name="KSO_WM_DIAGRAM_VIRTUALLY_FRAME" val="{&quot;height&quot;:345,&quot;left&quot;:40,&quot;top&quot;:100,&quot;width&quot;:865}"/>
</p:tagLst>
</file>

<file path=ppt/tags/tag14.xml><?xml version="1.0" encoding="utf-8"?>
<p:tagLst xmlns:a="http://schemas.openxmlformats.org/drawingml/2006/main" xmlns:r="http://schemas.openxmlformats.org/officeDocument/2006/relationships" xmlns:p="http://schemas.openxmlformats.org/presentationml/2006/main">
  <p:tag name="KSO_WM_DIAGRAM_VIRTUALLY_FRAME" val="{&quot;height&quot;:345,&quot;left&quot;:40,&quot;top&quot;:100,&quot;width&quot;:865}"/>
</p:tagLst>
</file>

<file path=ppt/tags/tag15.xml><?xml version="1.0" encoding="utf-8"?>
<p:tagLst xmlns:a="http://schemas.openxmlformats.org/drawingml/2006/main" xmlns:r="http://schemas.openxmlformats.org/officeDocument/2006/relationships" xmlns:p="http://schemas.openxmlformats.org/presentationml/2006/main">
  <p:tag name="KSO_WM_DIAGRAM_VIRTUALLY_FRAME" val="{&quot;height&quot;:345,&quot;left&quot;:40,&quot;top&quot;:100,&quot;width&quot;:865}"/>
</p:tagLst>
</file>

<file path=ppt/tags/tag16.xml><?xml version="1.0" encoding="utf-8"?>
<p:tagLst xmlns:a="http://schemas.openxmlformats.org/drawingml/2006/main" xmlns:r="http://schemas.openxmlformats.org/officeDocument/2006/relationships" xmlns:p="http://schemas.openxmlformats.org/presentationml/2006/main">
  <p:tag name="KSO_WM_DIAGRAM_VIRTUALLY_FRAME" val="{&quot;height&quot;:345,&quot;left&quot;:40,&quot;top&quot;:100,&quot;width&quot;:865}"/>
</p:tagLst>
</file>

<file path=ppt/tags/tag17.xml><?xml version="1.0" encoding="utf-8"?>
<p:tagLst xmlns:a="http://schemas.openxmlformats.org/drawingml/2006/main" xmlns:r="http://schemas.openxmlformats.org/officeDocument/2006/relationships" xmlns:p="http://schemas.openxmlformats.org/presentationml/2006/main">
  <p:tag name="KSO_WM_DIAGRAM_VIRTUALLY_FRAME" val="{&quot;height&quot;:345,&quot;left&quot;:40,&quot;top&quot;:100,&quot;width&quot;:865}"/>
</p:tagLst>
</file>

<file path=ppt/tags/tag18.xml><?xml version="1.0" encoding="utf-8"?>
<p:tagLst xmlns:a="http://schemas.openxmlformats.org/drawingml/2006/main" xmlns:r="http://schemas.openxmlformats.org/officeDocument/2006/relationships" xmlns:p="http://schemas.openxmlformats.org/presentationml/2006/main">
  <p:tag name="KSO_WM_DIAGRAM_VIRTUALLY_FRAME" val="{&quot;height&quot;:345,&quot;left&quot;:40,&quot;top&quot;:100,&quot;width&quot;:865}"/>
</p:tagLst>
</file>

<file path=ppt/tags/tag19.xml><?xml version="1.0" encoding="utf-8"?>
<p:tagLst xmlns:a="http://schemas.openxmlformats.org/drawingml/2006/main" xmlns:r="http://schemas.openxmlformats.org/officeDocument/2006/relationships" xmlns:p="http://schemas.openxmlformats.org/presentationml/2006/main">
  <p:tag name="KSO_WM_DIAGRAM_VIRTUALLY_FRAME" val="{&quot;height&quot;:345,&quot;left&quot;:40,&quot;top&quot;:100,&quot;width&quot;:865}"/>
</p:tagLst>
</file>

<file path=ppt/tags/tag20.xml><?xml version="1.0" encoding="utf-8"?>
<p:tagLst xmlns:a="http://schemas.openxmlformats.org/drawingml/2006/main" xmlns:r="http://schemas.openxmlformats.org/officeDocument/2006/relationships" xmlns:p="http://schemas.openxmlformats.org/presentationml/2006/main">
  <p:tag name="KSO_WM_DIAGRAM_VIRTUALLY_FRAME" val="{&quot;height&quot;:345,&quot;left&quot;:40,&quot;top&quot;:100,&quot;width&quot;:865}"/>
</p:tagLst>
</file>

<file path=ppt/tags/tag21.xml><?xml version="1.0" encoding="utf-8"?>
<p:tagLst xmlns:a="http://schemas.openxmlformats.org/drawingml/2006/main" xmlns:r="http://schemas.openxmlformats.org/officeDocument/2006/relationships" xmlns:p="http://schemas.openxmlformats.org/presentationml/2006/main">
  <p:tag name="KSO_WM_DIAGRAM_VIRTUALLY_FRAME" val="{&quot;height&quot;:345,&quot;left&quot;:40,&quot;top&quot;:100,&quot;width&quot;:865}"/>
</p:tagLst>
</file>

<file path=ppt/tags/tag22.xml><?xml version="1.0" encoding="utf-8"?>
<p:tagLst xmlns:a="http://schemas.openxmlformats.org/drawingml/2006/main" xmlns:r="http://schemas.openxmlformats.org/officeDocument/2006/relationships" xmlns:p="http://schemas.openxmlformats.org/presentationml/2006/main">
  <p:tag name="KSO_WM_DIAGRAM_VIRTUALLY_FRAME" val="{&quot;height&quot;:345,&quot;left&quot;:40,&quot;top&quot;:100,&quot;width&quot;:865}"/>
</p:tagLst>
</file>

<file path=ppt/tags/tag23.xml><?xml version="1.0" encoding="utf-8"?>
<p:tagLst xmlns:a="http://schemas.openxmlformats.org/drawingml/2006/main" xmlns:r="http://schemas.openxmlformats.org/officeDocument/2006/relationships" xmlns:p="http://schemas.openxmlformats.org/presentationml/2006/main">
  <p:tag name="KSO_WM_DIAGRAM_VIRTUALLY_FRAME" val="{&quot;height&quot;:345,&quot;left&quot;:40,&quot;top&quot;:100,&quot;width&quot;:865}"/>
</p:tagLst>
</file>

<file path=ppt/tags/tag24.xml><?xml version="1.0" encoding="utf-8"?>
<p:tagLst xmlns:a="http://schemas.openxmlformats.org/drawingml/2006/main" xmlns:r="http://schemas.openxmlformats.org/officeDocument/2006/relationships" xmlns:p="http://schemas.openxmlformats.org/presentationml/2006/main">
  <p:tag name="KSO_WM_DIAGRAM_VIRTUALLY_FRAME" val="{&quot;height&quot;:309.60007874015747,&quot;left&quot;:40,&quot;top&quot;:179.99992125984252,&quot;width&quot;:880}"/>
</p:tagLst>
</file>

<file path=ppt/tags/tag25.xml><?xml version="1.0" encoding="utf-8"?>
<p:tagLst xmlns:a="http://schemas.openxmlformats.org/drawingml/2006/main" xmlns:r="http://schemas.openxmlformats.org/officeDocument/2006/relationships" xmlns:p="http://schemas.openxmlformats.org/presentationml/2006/main">
  <p:tag name="KSO_WM_DIAGRAM_VIRTUALLY_FRAME" val="{&quot;height&quot;:309.60007874015747,&quot;left&quot;:40,&quot;top&quot;:179.99992125984252,&quot;width&quot;:880}"/>
</p:tagLst>
</file>

<file path=ppt/tags/tag26.xml><?xml version="1.0" encoding="utf-8"?>
<p:tagLst xmlns:a="http://schemas.openxmlformats.org/drawingml/2006/main" xmlns:r="http://schemas.openxmlformats.org/officeDocument/2006/relationships" xmlns:p="http://schemas.openxmlformats.org/presentationml/2006/main">
  <p:tag name="KSO_WM_DIAGRAM_VIRTUALLY_FRAME" val="{&quot;height&quot;:309.60007874015747,&quot;left&quot;:40,&quot;top&quot;:179.99992125984252,&quot;width&quot;:880}"/>
</p:tagLst>
</file>

<file path=ppt/tags/tag27.xml><?xml version="1.0" encoding="utf-8"?>
<p:tagLst xmlns:a="http://schemas.openxmlformats.org/drawingml/2006/main" xmlns:r="http://schemas.openxmlformats.org/officeDocument/2006/relationships" xmlns:p="http://schemas.openxmlformats.org/presentationml/2006/main">
  <p:tag name="KSO_WM_DIAGRAM_VIRTUALLY_FRAME" val="{&quot;height&quot;:309.60007874015747,&quot;left&quot;:40,&quot;top&quot;:179.99992125984252,&quot;width&quot;:880}"/>
</p:tagLst>
</file>

<file path=ppt/tags/tag28.xml><?xml version="1.0" encoding="utf-8"?>
<p:tagLst xmlns:a="http://schemas.openxmlformats.org/drawingml/2006/main" xmlns:r="http://schemas.openxmlformats.org/officeDocument/2006/relationships" xmlns:p="http://schemas.openxmlformats.org/presentationml/2006/main">
  <p:tag name="KSO_WM_DIAGRAM_VIRTUALLY_FRAME" val="{&quot;height&quot;:309.60007874015747,&quot;left&quot;:40,&quot;top&quot;:179.99992125984252,&quot;width&quot;:880}"/>
</p:tagLst>
</file>

<file path=ppt/tags/tag29.xml><?xml version="1.0" encoding="utf-8"?>
<p:tagLst xmlns:a="http://schemas.openxmlformats.org/drawingml/2006/main" xmlns:r="http://schemas.openxmlformats.org/officeDocument/2006/relationships" xmlns:p="http://schemas.openxmlformats.org/presentationml/2006/main">
  <p:tag name="KSO_WM_DIAGRAM_VIRTUALLY_FRAME" val="{&quot;height&quot;:309.60007874015747,&quot;left&quot;:40,&quot;top&quot;:179.99992125984252,&quot;width&quot;:880}"/>
</p:tagLst>
</file>

<file path=ppt/tags/tag30.xml><?xml version="1.0" encoding="utf-8"?>
<p:tagLst xmlns:a="http://schemas.openxmlformats.org/drawingml/2006/main" xmlns:r="http://schemas.openxmlformats.org/officeDocument/2006/relationships" xmlns:p="http://schemas.openxmlformats.org/presentationml/2006/main">
  <p:tag name="KSO_WM_DIAGRAM_VIRTUALLY_FRAME" val="{&quot;height&quot;:309.60007874015747,&quot;left&quot;:40,&quot;top&quot;:179.99992125984252,&quot;width&quot;:880}"/>
</p:tagLst>
</file>

<file path=ppt/tags/tag31.xml><?xml version="1.0" encoding="utf-8"?>
<p:tagLst xmlns:a="http://schemas.openxmlformats.org/drawingml/2006/main" xmlns:r="http://schemas.openxmlformats.org/officeDocument/2006/relationships" xmlns:p="http://schemas.openxmlformats.org/presentationml/2006/main">
  <p:tag name="KSO_WM_DIAGRAM_VIRTUALLY_FRAME" val="{&quot;height&quot;:309.60007874015747,&quot;left&quot;:40,&quot;top&quot;:179.99992125984252,&quot;width&quot;:880}"/>
</p:tagLst>
</file>

<file path=ppt/tags/tag32.xml><?xml version="1.0" encoding="utf-8"?>
<p:tagLst xmlns:a="http://schemas.openxmlformats.org/drawingml/2006/main" xmlns:r="http://schemas.openxmlformats.org/officeDocument/2006/relationships" xmlns:p="http://schemas.openxmlformats.org/presentationml/2006/main">
  <p:tag name="KSO_WM_DIAGRAM_VIRTUALLY_FRAME" val="{&quot;height&quot;:309.60007874015747,&quot;left&quot;:40,&quot;top&quot;:179.99992125984252,&quot;width&quot;:880}"/>
</p:tagLst>
</file>

<file path=ppt/tags/tag33.xml><?xml version="1.0" encoding="utf-8"?>
<p:tagLst xmlns:a="http://schemas.openxmlformats.org/drawingml/2006/main" xmlns:r="http://schemas.openxmlformats.org/officeDocument/2006/relationships" xmlns:p="http://schemas.openxmlformats.org/presentationml/2006/main">
  <p:tag name="KSO_WM_DIAGRAM_VIRTUALLY_FRAME" val="{&quot;height&quot;:309.60007874015747,&quot;left&quot;:40,&quot;top&quot;:179.99992125984252,&quot;width&quot;:880}"/>
</p:tagLst>
</file>

<file path=ppt/tags/tag34.xml><?xml version="1.0" encoding="utf-8"?>
<p:tagLst xmlns:a="http://schemas.openxmlformats.org/drawingml/2006/main" xmlns:r="http://schemas.openxmlformats.org/officeDocument/2006/relationships" xmlns:p="http://schemas.openxmlformats.org/presentationml/2006/main">
  <p:tag name="KSO_WM_DIAGRAM_VIRTUALLY_FRAME" val="{&quot;height&quot;:309.60007874015747,&quot;left&quot;:40,&quot;top&quot;:179.99992125984252,&quot;width&quot;:880}"/>
</p:tagLst>
</file>

<file path=ppt/tags/tag35.xml><?xml version="1.0" encoding="utf-8"?>
<p:tagLst xmlns:a="http://schemas.openxmlformats.org/drawingml/2006/main" xmlns:r="http://schemas.openxmlformats.org/officeDocument/2006/relationships" xmlns:p="http://schemas.openxmlformats.org/presentationml/2006/main">
  <p:tag name="KSO_WM_DIAGRAM_VIRTUALLY_FRAME" val="{&quot;height&quot;:309.60007874015747,&quot;left&quot;:40,&quot;top&quot;:179.99992125984252,&quot;width&quot;:880}"/>
</p:tagLst>
</file>

<file path=ppt/tags/tag36.xml><?xml version="1.0" encoding="utf-8"?>
<p:tagLst xmlns:a="http://schemas.openxmlformats.org/drawingml/2006/main" xmlns:r="http://schemas.openxmlformats.org/officeDocument/2006/relationships" xmlns:p="http://schemas.openxmlformats.org/presentationml/2006/main">
  <p:tag name="KSO_WM_DIAGRAM_VIRTUALLY_FRAME" val="{&quot;height&quot;:309.60007874015747,&quot;left&quot;:40,&quot;top&quot;:179.99992125984252,&quot;width&quot;:880}"/>
</p:tagLst>
</file>

<file path=ppt/tags/tag37.xml><?xml version="1.0" encoding="utf-8"?>
<p:tagLst xmlns:a="http://schemas.openxmlformats.org/drawingml/2006/main" xmlns:r="http://schemas.openxmlformats.org/officeDocument/2006/relationships" xmlns:p="http://schemas.openxmlformats.org/presentationml/2006/main">
  <p:tag name="KSO_WM_DIAGRAM_VIRTUALLY_FRAME" val="{&quot;height&quot;:309.60007874015747,&quot;left&quot;:40,&quot;top&quot;:179.99992125984252,&quot;width&quot;:880}"/>
</p:tagLst>
</file>

<file path=ppt/tags/tag38.xml><?xml version="1.0" encoding="utf-8"?>
<p:tagLst xmlns:a="http://schemas.openxmlformats.org/drawingml/2006/main" xmlns:r="http://schemas.openxmlformats.org/officeDocument/2006/relationships" xmlns:p="http://schemas.openxmlformats.org/presentationml/2006/main">
  <p:tag name="KSO_WM_DIAGRAM_VIRTUALLY_FRAME" val="{&quot;height&quot;:309.60007874015747,&quot;left&quot;:40,&quot;top&quot;:179.99992125984252,&quot;width&quot;:880}"/>
</p:tagLst>
</file>

<file path=ppt/tags/tag39.xml><?xml version="1.0" encoding="utf-8"?>
<p:tagLst xmlns:a="http://schemas.openxmlformats.org/drawingml/2006/main" xmlns:r="http://schemas.openxmlformats.org/officeDocument/2006/relationships" xmlns:p="http://schemas.openxmlformats.org/presentationml/2006/main">
  <p:tag name="KSO_WM_DIAGRAM_VIRTUALLY_FRAME" val="{&quot;height&quot;:309.60007874015747,&quot;left&quot;:40,&quot;top&quot;:179.99992125984252,&quot;width&quot;:880}"/>
</p:tagLst>
</file>

<file path=ppt/tags/tag40.xml><?xml version="1.0" encoding="utf-8"?>
<p:tagLst xmlns:a="http://schemas.openxmlformats.org/drawingml/2006/main" xmlns:r="http://schemas.openxmlformats.org/officeDocument/2006/relationships" xmlns:p="http://schemas.openxmlformats.org/presentationml/2006/main">
  <p:tag name="KSO_WM_DIAGRAM_VIRTUALLY_FRAME" val="{&quot;height&quot;:309.60007874015747,&quot;left&quot;:40,&quot;top&quot;:179.99992125984252,&quot;width&quot;:880}"/>
</p:tagLst>
</file>

<file path=ppt/tags/tag41.xml><?xml version="1.0" encoding="utf-8"?>
<p:tagLst xmlns:a="http://schemas.openxmlformats.org/drawingml/2006/main" xmlns:r="http://schemas.openxmlformats.org/officeDocument/2006/relationships" xmlns:p="http://schemas.openxmlformats.org/presentationml/2006/main">
  <p:tag name="KSO_WM_DIAGRAM_VIRTUALLY_FRAME" val="{&quot;height&quot;:309.60007874015747,&quot;left&quot;:40,&quot;top&quot;:179.99992125984252,&quot;width&quot;:880}"/>
</p:tagLst>
</file>

<file path=ppt/tags/tag42.xml><?xml version="1.0" encoding="utf-8"?>
<p:tagLst xmlns:a="http://schemas.openxmlformats.org/drawingml/2006/main" xmlns:r="http://schemas.openxmlformats.org/officeDocument/2006/relationships" xmlns:p="http://schemas.openxmlformats.org/presentationml/2006/main">
  <p:tag name="KSO_WM_DIAGRAM_VIRTUALLY_FRAME" val="{&quot;height&quot;:309.60007874015747,&quot;left&quot;:40,&quot;top&quot;:179.99992125984252,&quot;width&quot;:880}"/>
</p:tagLst>
</file>

<file path=ppt/tags/tag43.xml><?xml version="1.0" encoding="utf-8"?>
<p:tagLst xmlns:a="http://schemas.openxmlformats.org/drawingml/2006/main" xmlns:r="http://schemas.openxmlformats.org/officeDocument/2006/relationships" xmlns:p="http://schemas.openxmlformats.org/presentationml/2006/main">
  <p:tag name="KSO_WM_DIAGRAM_VIRTUALLY_FRAME" val="{&quot;height&quot;:309.60007874015747,&quot;left&quot;:40,&quot;top&quot;:179.99992125984252,&quot;width&quot;:880}"/>
</p:tagLst>
</file>

<file path=ppt/tags/tag44.xml><?xml version="1.0" encoding="utf-8"?>
<p:tagLst xmlns:a="http://schemas.openxmlformats.org/drawingml/2006/main" xmlns:r="http://schemas.openxmlformats.org/officeDocument/2006/relationships" xmlns:p="http://schemas.openxmlformats.org/presentationml/2006/main">
  <p:tag name="KSO_WM_DIAGRAM_VIRTUALLY_FRAME" val="{&quot;height&quot;:309.60007874015747,&quot;left&quot;:40,&quot;top&quot;:179.99992125984252,&quot;width&quot;:880}"/>
</p:tagLst>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2580</Words>
  <Application>Microsoft Office PowerPoint</Application>
  <PresentationFormat>宽屏</PresentationFormat>
  <Paragraphs>400</Paragraphs>
  <Slides>16</Slides>
  <Notes>16</Notes>
  <HiddenSlides>0</HiddenSlides>
  <MMClips>0</MMClips>
  <ScaleCrop>false</ScaleCrop>
  <HeadingPairs>
    <vt:vector size="6" baseType="variant">
      <vt:variant>
        <vt:lpstr>已用的字体</vt:lpstr>
      </vt:variant>
      <vt:variant>
        <vt:i4>2</vt:i4>
      </vt:variant>
      <vt:variant>
        <vt:lpstr>主题</vt:lpstr>
      </vt:variant>
      <vt:variant>
        <vt:i4>2</vt:i4>
      </vt:variant>
      <vt:variant>
        <vt:lpstr>幻灯片标题</vt:lpstr>
      </vt:variant>
      <vt:variant>
        <vt:i4>16</vt:i4>
      </vt:variant>
    </vt:vector>
  </HeadingPairs>
  <TitlesOfParts>
    <vt:vector size="20" baseType="lpstr">
      <vt:lpstr>BlueakaBeta2GBK</vt:lpstr>
      <vt:lpstr>Arial</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俊锟 陈</cp:lastModifiedBy>
  <cp:revision>19</cp:revision>
  <dcterms:created xsi:type="dcterms:W3CDTF">2026-07-14T12:13:00Z</dcterms:created>
  <dcterms:modified xsi:type="dcterms:W3CDTF">2026-07-23T15:08:28Z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{"Label":"1","ContentProducer":"001191110102MACQD9K64010000","ProduceID":"7662351118480493834","ReservedCode1":"","ContentPropagator":"","PropagateID":"","ReservedCode2":""}</vt:lpwstr>
  </property>
  <property fmtid="{D5CDD505-2E9C-101B-9397-08002B2CF9AE}" pid="3" name="KSOProductBuildVer">
    <vt:lpwstr>2052-12.1.0.26895</vt:lpwstr>
  </property>
  <property fmtid="{D5CDD505-2E9C-101B-9397-08002B2CF9AE}" pid="4" name="ICV">
    <vt:lpwstr>6F597A6E2AC341BA8D9147471245DAF9_12</vt:lpwstr>
  </property>
</Properties>
</file>